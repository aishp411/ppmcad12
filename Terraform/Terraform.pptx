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1"/>
  </p:sldMasterIdLst>
  <p:notesMasterIdLst>
    <p:notesMasterId r:id="rId52"/>
  </p:notesMasterIdLst>
  <p:sldIdLst>
    <p:sldId id="256" r:id="rId2"/>
    <p:sldId id="257" r:id="rId3"/>
    <p:sldId id="258" r:id="rId4"/>
    <p:sldId id="259" r:id="rId5"/>
    <p:sldId id="260" r:id="rId6"/>
    <p:sldId id="261" r:id="rId7"/>
    <p:sldId id="264" r:id="rId8"/>
    <p:sldId id="265" r:id="rId9"/>
    <p:sldId id="269" r:id="rId10"/>
    <p:sldId id="270" r:id="rId11"/>
    <p:sldId id="271" r:id="rId12"/>
    <p:sldId id="272" r:id="rId13"/>
    <p:sldId id="273" r:id="rId14"/>
    <p:sldId id="274" r:id="rId15"/>
    <p:sldId id="275" r:id="rId16"/>
    <p:sldId id="276" r:id="rId17"/>
    <p:sldId id="277" r:id="rId18"/>
    <p:sldId id="278" r:id="rId19"/>
    <p:sldId id="279" r:id="rId20"/>
    <p:sldId id="280" r:id="rId21"/>
    <p:sldId id="283" r:id="rId22"/>
    <p:sldId id="284" r:id="rId23"/>
    <p:sldId id="285" r:id="rId24"/>
    <p:sldId id="286" r:id="rId25"/>
    <p:sldId id="287" r:id="rId26"/>
    <p:sldId id="288" r:id="rId27"/>
    <p:sldId id="289" r:id="rId28"/>
    <p:sldId id="290" r:id="rId29"/>
    <p:sldId id="291" r:id="rId30"/>
    <p:sldId id="292" r:id="rId31"/>
    <p:sldId id="293" r:id="rId32"/>
    <p:sldId id="294" r:id="rId33"/>
    <p:sldId id="295" r:id="rId34"/>
    <p:sldId id="296" r:id="rId35"/>
    <p:sldId id="297" r:id="rId36"/>
    <p:sldId id="298" r:id="rId37"/>
    <p:sldId id="299" r:id="rId38"/>
    <p:sldId id="300" r:id="rId39"/>
    <p:sldId id="301" r:id="rId40"/>
    <p:sldId id="302" r:id="rId41"/>
    <p:sldId id="303" r:id="rId42"/>
    <p:sldId id="304" r:id="rId43"/>
    <p:sldId id="305" r:id="rId44"/>
    <p:sldId id="306" r:id="rId45"/>
    <p:sldId id="307" r:id="rId46"/>
    <p:sldId id="308" r:id="rId47"/>
    <p:sldId id="309" r:id="rId48"/>
    <p:sldId id="310" r:id="rId49"/>
    <p:sldId id="311" r:id="rId50"/>
    <p:sldId id="312" r:id="rId51"/>
  </p:sldIdLst>
  <p:sldSz cx="9144000" cy="5143500" type="screen16x9"/>
  <p:notesSz cx="6858000" cy="9144000"/>
  <p:embeddedFontLst>
    <p:embeddedFont>
      <p:font typeface="Old Standard TT" panose="020B0604020202020204" charset="0"/>
      <p:regular r:id="rId53"/>
      <p:bold r:id="rId54"/>
      <p:italic r:id="rId55"/>
    </p:embeddedFont>
    <p:embeddedFont>
      <p:font typeface="Roboto Mono" panose="00000009000000000000" pitchFamily="49" charset="0"/>
      <p:regular r:id="rId56"/>
      <p:bold r:id="rId57"/>
      <p:italic r:id="rId58"/>
      <p:boldItalic r:id="rId59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465245DA-EBFA-4C08-B392-98B1344559A6}">
  <a:tblStyle styleId="{465245DA-EBFA-4C08-B392-98B1344559A6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  <a:tblStyle styleId="{42D601B9-6C2A-4BF0-A439-E1376628A299}" styleName="Table_1">
    <a:wholeTbl>
      <a:tcTxStyle>
        <a:font>
          <a:latin typeface="Arial"/>
          <a:ea typeface="Arial"/>
          <a:cs typeface="Arial"/>
        </a:font>
        <a:srgbClr val="000000"/>
      </a:tcTxStyle>
      <a:tcStyle>
        <a:tcBdr/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8182" autoAdjust="0"/>
    <p:restoredTop sz="94660"/>
  </p:normalViewPr>
  <p:slideViewPr>
    <p:cSldViewPr snapToGrid="0">
      <p:cViewPr varScale="1">
        <p:scale>
          <a:sx n="78" d="100"/>
          <a:sy n="78" d="100"/>
        </p:scale>
        <p:origin x="840" y="52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font" Target="fonts/font3.fntdata"/><Relationship Id="rId63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font" Target="fonts/font1.fntdata"/><Relationship Id="rId58" Type="http://schemas.openxmlformats.org/officeDocument/2006/relationships/font" Target="fonts/font6.fntdata"/><Relationship Id="rId5" Type="http://schemas.openxmlformats.org/officeDocument/2006/relationships/slide" Target="slides/slide4.xml"/><Relationship Id="rId61" Type="http://schemas.openxmlformats.org/officeDocument/2006/relationships/viewProps" Target="viewProps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font" Target="fonts/font4.fntdata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font" Target="fonts/font7.fntdata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font" Target="fonts/font2.fntdata"/><Relationship Id="rId62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font" Target="fonts/font5.fntdata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notesMaster" Target="notesMasters/notesMaster1.xml"/><Relationship Id="rId6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gc6f90357f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7" name="Google Shape;57;gc6f90357f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gc6f90357f_0_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188" y="685800"/>
            <a:ext cx="6096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3" name="Google Shape;63;gc6f90357f_0_1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g317dcb01c43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188" y="685800"/>
            <a:ext cx="6096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9" name="Google Shape;69;g317dcb01c43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gc6f90357f_0_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188" y="685800"/>
            <a:ext cx="6096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5" name="Google Shape;75;gc6f90357f_0_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gc6f90357f_0_1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0" name="Google Shape;80;gc6f90357f_0_1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g317dcb01c43_0_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6" name="Google Shape;86;g317dcb01c43_0_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g317dcb01c43_0_3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188" y="685800"/>
            <a:ext cx="6096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4" name="Google Shape;104;g317dcb01c43_0_3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g317dcb01c43_0_4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9" name="Google Shape;109;g317dcb01c43_0_4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g317dcb01c43_0_16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7" name="Google Shape;137;g317dcb01c43_0_16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g317dcb01c43_0_16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188" y="685800"/>
            <a:ext cx="6096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3" name="Google Shape;143;g317dcb01c43_0_16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g317dcb01c43_0_17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9" name="Google Shape;149;g317dcb01c43_0_17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g317dcb01c43_0_18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5" name="Google Shape;155;g317dcb01c43_0_18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g317dcb01c43_0_19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188" y="685800"/>
            <a:ext cx="6096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1" name="Google Shape;161;g317dcb01c43_0_19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g317dcb01c43_0_20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188" y="685800"/>
            <a:ext cx="6096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7" name="Google Shape;167;g317dcb01c43_0_20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g317dcb01c43_0_2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3" name="Google Shape;173;g317dcb01c43_0_2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g317dcb01c43_0_2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188" y="685800"/>
            <a:ext cx="6096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9" name="Google Shape;179;g317dcb01c43_0_21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g317dcb01c43_0_22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188" y="685800"/>
            <a:ext cx="6096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5" name="Google Shape;185;g317dcb01c43_0_22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g317dcb01c43_0_23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1" name="Google Shape;191;g317dcb01c43_0_23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g317dcb01c43_0_25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7" name="Google Shape;197;g317dcb01c43_0_25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g317dcb01c43_0_26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188" y="685800"/>
            <a:ext cx="6096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3" name="Google Shape;203;g317dcb01c43_0_26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Google Shape;222;g315e5b996d2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188" y="685800"/>
            <a:ext cx="6096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3" name="Google Shape;223;g315e5b996d2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" name="Google Shape;229;g31851766b0d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188" y="685800"/>
            <a:ext cx="6096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0" name="Google Shape;230;g31851766b0d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" name="Google Shape;235;g31851766b0d_0_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188" y="685800"/>
            <a:ext cx="6096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6" name="Google Shape;236;g31851766b0d_0_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" name="Google Shape;241;g31851766b0d_0_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188" y="685800"/>
            <a:ext cx="6096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2" name="Google Shape;242;g31851766b0d_0_1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" name="Google Shape;247;g317dcb01c43_0_19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188" y="685800"/>
            <a:ext cx="6096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8" name="Google Shape;248;g317dcb01c43_0_19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3" name="Google Shape;253;g31851766b0d_0_2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188" y="685800"/>
            <a:ext cx="6096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4" name="Google Shape;254;g31851766b0d_0_2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9" name="Google Shape;259;g31851766b0d_0_3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188" y="685800"/>
            <a:ext cx="6096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0" name="Google Shape;260;g31851766b0d_0_3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5" name="Google Shape;265;g31851766b0d_0_5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188" y="685800"/>
            <a:ext cx="6096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6" name="Google Shape;266;g31851766b0d_0_5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1" name="Google Shape;271;g31851766b0d_0_5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188" y="685800"/>
            <a:ext cx="6096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2" name="Google Shape;272;g31851766b0d_0_5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7" name="Google Shape;277;g31851766b0d_0_6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188" y="685800"/>
            <a:ext cx="6096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8" name="Google Shape;278;g31851766b0d_0_6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3" name="Google Shape;283;g31851766b0d_0_4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4" name="Google Shape;284;g31851766b0d_0_4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9" name="Google Shape;289;g31851766b0d_0_9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188" y="685800"/>
            <a:ext cx="6096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0" name="Google Shape;290;g31851766b0d_0_9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5" name="Google Shape;295;g31851766b0d_0_9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188" y="685800"/>
            <a:ext cx="6096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6" name="Google Shape;296;g31851766b0d_0_9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1" name="Google Shape;301;g31851766b0d_0_10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2" name="Google Shape;302;g31851766b0d_0_10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" name="Google Shape;307;g31851766b0d_0_7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188" y="685800"/>
            <a:ext cx="6096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8" name="Google Shape;308;g31851766b0d_0_7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3" name="Google Shape;313;g31851766b0d_0_1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188" y="685800"/>
            <a:ext cx="6096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4" name="Google Shape;314;g31851766b0d_0_11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9" name="Google Shape;319;g31851766b0d_0_12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188" y="685800"/>
            <a:ext cx="6096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0" name="Google Shape;320;g31851766b0d_0_12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5" name="Google Shape;325;g31851766b0d_0_8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188" y="685800"/>
            <a:ext cx="6096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6" name="Google Shape;326;g31851766b0d_0_8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1" name="Google Shape;331;g31851766b0d_0_13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188" y="685800"/>
            <a:ext cx="6096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2" name="Google Shape;332;g31851766b0d_0_13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" name="Google Shape;337;g31851766b0d_0_15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188" y="685800"/>
            <a:ext cx="6096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8" name="Google Shape;338;g31851766b0d_0_15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3" name="Google Shape;343;g31851766b0d_0_14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44" name="Google Shape;344;g31851766b0d_0_14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9" name="Google Shape;349;g31851766b0d_0_18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50" name="Google Shape;350;g31851766b0d_0_18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5" name="Google Shape;355;g31851766b0d_0_14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56" name="Google Shape;356;g31851766b0d_0_14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1" name="Google Shape;361;g31851766b0d_0_8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188" y="685800"/>
            <a:ext cx="6096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62" name="Google Shape;362;g31851766b0d_0_8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7" name="Google Shape;367;g31851766b0d_0_15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188" y="685800"/>
            <a:ext cx="6096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68" name="Google Shape;368;g31851766b0d_0_15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3" name="Google Shape;373;g31851766b0d_0_16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188" y="685800"/>
            <a:ext cx="6096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74" name="Google Shape;374;g31851766b0d_0_16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9" name="Google Shape;379;g31851766b0d_0_17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188" y="685800"/>
            <a:ext cx="6096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80" name="Google Shape;380;g31851766b0d_0_17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5" name="Google Shape;385;g31851766b0d_0_18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188" y="685800"/>
            <a:ext cx="6096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86" name="Google Shape;386;g31851766b0d_0_18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84">
          <a:extLst>
            <a:ext uri="{FF2B5EF4-FFF2-40B4-BE49-F238E27FC236}">
              <a16:creationId xmlns:a16="http://schemas.microsoft.com/office/drawing/2014/main" id="{5728A1D0-2C67-E188-1BF6-94061DB7FF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5" name="Google Shape;385;g31851766b0d_0_180:notes">
            <a:extLst>
              <a:ext uri="{FF2B5EF4-FFF2-40B4-BE49-F238E27FC236}">
                <a16:creationId xmlns:a16="http://schemas.microsoft.com/office/drawing/2014/main" id="{012199E8-4DA9-0B4C-BD5B-09F6021CA744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86" name="Google Shape;386;g31851766b0d_0_180:notes">
            <a:extLst>
              <a:ext uri="{FF2B5EF4-FFF2-40B4-BE49-F238E27FC236}">
                <a16:creationId xmlns:a16="http://schemas.microsoft.com/office/drawing/2014/main" id="{92C876F9-DCB9-ABF4-1B18-5D75ED57025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880506939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84">
          <a:extLst>
            <a:ext uri="{FF2B5EF4-FFF2-40B4-BE49-F238E27FC236}">
              <a16:creationId xmlns:a16="http://schemas.microsoft.com/office/drawing/2014/main" id="{D1DD906A-00A2-A23B-AAC6-581A4516292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5" name="Google Shape;385;g31851766b0d_0_180:notes">
            <a:extLst>
              <a:ext uri="{FF2B5EF4-FFF2-40B4-BE49-F238E27FC236}">
                <a16:creationId xmlns:a16="http://schemas.microsoft.com/office/drawing/2014/main" id="{6F518879-A4F2-F3A4-9C2B-607D10677C3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86" name="Google Shape;386;g31851766b0d_0_180:notes">
            <a:extLst>
              <a:ext uri="{FF2B5EF4-FFF2-40B4-BE49-F238E27FC236}">
                <a16:creationId xmlns:a16="http://schemas.microsoft.com/office/drawing/2014/main" id="{0EF71074-1D37-329B-E694-D5D3B326EFB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7155090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bg>
      <p:bgPr>
        <a:solidFill>
          <a:schemeClr val="dk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>
            <a:off x="0" y="100"/>
            <a:ext cx="9144000" cy="1711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cxnSp>
        <p:nvCxnSpPr>
          <p:cNvPr id="11" name="Google Shape;11;p2"/>
          <p:cNvCxnSpPr/>
          <p:nvPr/>
        </p:nvCxnSpPr>
        <p:spPr>
          <a:xfrm>
            <a:off x="641934" y="3597500"/>
            <a:ext cx="390300" cy="0"/>
          </a:xfrm>
          <a:prstGeom prst="straightConnector1">
            <a:avLst/>
          </a:prstGeom>
          <a:noFill/>
          <a:ln w="28575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2" name="Google Shape;12;p2"/>
          <p:cNvSpPr txBox="1">
            <a:spLocks noGrp="1"/>
          </p:cNvSpPr>
          <p:nvPr>
            <p:ph type="ctrTitle"/>
          </p:nvPr>
        </p:nvSpPr>
        <p:spPr>
          <a:xfrm>
            <a:off x="512700" y="1893300"/>
            <a:ext cx="8118600" cy="1522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200"/>
              <a:buNone/>
              <a:defRPr sz="4200">
                <a:solidFill>
                  <a:schemeClr val="accen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200"/>
              <a:buNone/>
              <a:defRPr sz="4200">
                <a:solidFill>
                  <a:schemeClr val="accen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200"/>
              <a:buNone/>
              <a:defRPr sz="4200">
                <a:solidFill>
                  <a:schemeClr val="accen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200"/>
              <a:buNone/>
              <a:defRPr sz="4200">
                <a:solidFill>
                  <a:schemeClr val="accen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200"/>
              <a:buNone/>
              <a:defRPr sz="4200">
                <a:solidFill>
                  <a:schemeClr val="accen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200"/>
              <a:buNone/>
              <a:defRPr sz="4200">
                <a:solidFill>
                  <a:schemeClr val="accen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200"/>
              <a:buNone/>
              <a:defRPr sz="4200">
                <a:solidFill>
                  <a:schemeClr val="accen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200"/>
              <a:buNone/>
              <a:defRPr sz="4200">
                <a:solidFill>
                  <a:schemeClr val="accen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200"/>
              <a:buNone/>
              <a:defRPr sz="4200">
                <a:solidFill>
                  <a:schemeClr val="accent1"/>
                </a:solidFill>
              </a:defRPr>
            </a:lvl9pPr>
          </a:lstStyle>
          <a:p>
            <a:endParaRPr/>
          </a:p>
        </p:txBody>
      </p:sp>
      <p:sp>
        <p:nvSpPr>
          <p:cNvPr id="13" name="Google Shape;13;p2"/>
          <p:cNvSpPr txBox="1">
            <a:spLocks noGrp="1"/>
          </p:cNvSpPr>
          <p:nvPr>
            <p:ph type="subTitle" idx="1"/>
          </p:nvPr>
        </p:nvSpPr>
        <p:spPr>
          <a:xfrm>
            <a:off x="512700" y="3840639"/>
            <a:ext cx="8118600" cy="787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 sz="2400">
                <a:solidFill>
                  <a:schemeClr val="accent2"/>
                </a:solidFill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 sz="2400">
                <a:solidFill>
                  <a:schemeClr val="accent2"/>
                </a:solidFill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 sz="2400">
                <a:solidFill>
                  <a:schemeClr val="accent2"/>
                </a:solidFill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 sz="2400">
                <a:solidFill>
                  <a:schemeClr val="accent2"/>
                </a:solidFill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 sz="2400">
                <a:solidFill>
                  <a:schemeClr val="accent2"/>
                </a:solidFill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 sz="2400">
                <a:solidFill>
                  <a:schemeClr val="accent2"/>
                </a:solidFill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 sz="2400">
                <a:solidFill>
                  <a:schemeClr val="accent2"/>
                </a:solidFill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 sz="2400">
                <a:solidFill>
                  <a:schemeClr val="accent2"/>
                </a:solidFill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 sz="2400">
                <a:solidFill>
                  <a:schemeClr val="accent2"/>
                </a:solidFill>
              </a:defRPr>
            </a:lvl9pPr>
          </a:lstStyle>
          <a:p>
            <a:endParaRPr/>
          </a:p>
        </p:txBody>
      </p:sp>
      <p:sp>
        <p:nvSpPr>
          <p:cNvPr id="14" name="Google Shape;14;p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>
                <a:solidFill>
                  <a:schemeClr val="accent1"/>
                </a:solidFill>
              </a:defRPr>
            </a:lvl1pPr>
            <a:lvl2pPr lvl="1">
              <a:buNone/>
              <a:defRPr>
                <a:solidFill>
                  <a:schemeClr val="accent1"/>
                </a:solidFill>
              </a:defRPr>
            </a:lvl2pPr>
            <a:lvl3pPr lvl="2">
              <a:buNone/>
              <a:defRPr>
                <a:solidFill>
                  <a:schemeClr val="accent1"/>
                </a:solidFill>
              </a:defRPr>
            </a:lvl3pPr>
            <a:lvl4pPr lvl="3">
              <a:buNone/>
              <a:defRPr>
                <a:solidFill>
                  <a:schemeClr val="accent1"/>
                </a:solidFill>
              </a:defRPr>
            </a:lvl4pPr>
            <a:lvl5pPr lvl="4">
              <a:buNone/>
              <a:defRPr>
                <a:solidFill>
                  <a:schemeClr val="accent1"/>
                </a:solidFill>
              </a:defRPr>
            </a:lvl5pPr>
            <a:lvl6pPr lvl="5">
              <a:buNone/>
              <a:defRPr>
                <a:solidFill>
                  <a:schemeClr val="accent1"/>
                </a:solidFill>
              </a:defRPr>
            </a:lvl6pPr>
            <a:lvl7pPr lvl="6">
              <a:buNone/>
              <a:defRPr>
                <a:solidFill>
                  <a:schemeClr val="accent1"/>
                </a:solidFill>
              </a:defRPr>
            </a:lvl7pPr>
            <a:lvl8pPr lvl="7">
              <a:buNone/>
              <a:defRPr>
                <a:solidFill>
                  <a:schemeClr val="accent1"/>
                </a:solidFill>
              </a:defRPr>
            </a:lvl8pPr>
            <a:lvl9pPr lvl="8">
              <a:buNone/>
              <a:defRPr>
                <a:solidFill>
                  <a:schemeClr val="accent1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bg>
      <p:bgPr>
        <a:solidFill>
          <a:schemeClr val="dk1"/>
        </a:solidFill>
        <a:effectLst/>
      </p:bgPr>
    </p:bg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6" name="Google Shape;16;p3"/>
          <p:cNvCxnSpPr/>
          <p:nvPr/>
        </p:nvCxnSpPr>
        <p:spPr>
          <a:xfrm>
            <a:off x="641934" y="3597500"/>
            <a:ext cx="390300" cy="0"/>
          </a:xfrm>
          <a:prstGeom prst="straightConnector1">
            <a:avLst/>
          </a:prstGeom>
          <a:noFill/>
          <a:ln w="28575" cap="flat" cmpd="sng">
            <a:solidFill>
              <a:schemeClr val="lt2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7" name="Google Shape;17;p3"/>
          <p:cNvSpPr txBox="1">
            <a:spLocks noGrp="1"/>
          </p:cNvSpPr>
          <p:nvPr>
            <p:ph type="title"/>
          </p:nvPr>
        </p:nvSpPr>
        <p:spPr>
          <a:xfrm>
            <a:off x="512700" y="1893300"/>
            <a:ext cx="8118600" cy="1522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6000"/>
              <a:buNone/>
              <a:defRPr sz="6000">
                <a:solidFill>
                  <a:schemeClr val="accen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6000"/>
              <a:buNone/>
              <a:defRPr sz="6000">
                <a:solidFill>
                  <a:schemeClr val="accen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6000"/>
              <a:buNone/>
              <a:defRPr sz="6000">
                <a:solidFill>
                  <a:schemeClr val="accen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6000"/>
              <a:buNone/>
              <a:defRPr sz="6000">
                <a:solidFill>
                  <a:schemeClr val="accen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6000"/>
              <a:buNone/>
              <a:defRPr sz="6000">
                <a:solidFill>
                  <a:schemeClr val="accen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6000"/>
              <a:buNone/>
              <a:defRPr sz="6000">
                <a:solidFill>
                  <a:schemeClr val="accen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6000"/>
              <a:buNone/>
              <a:defRPr sz="6000">
                <a:solidFill>
                  <a:schemeClr val="accen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6000"/>
              <a:buNone/>
              <a:defRPr sz="6000">
                <a:solidFill>
                  <a:schemeClr val="accen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6000"/>
              <a:buNone/>
              <a:defRPr sz="6000">
                <a:solidFill>
                  <a:schemeClr val="accent1"/>
                </a:solidFill>
              </a:defRPr>
            </a:lvl9pPr>
          </a:lstStyle>
          <a:p>
            <a:endParaRPr/>
          </a:p>
        </p:txBody>
      </p:sp>
      <p:sp>
        <p:nvSpPr>
          <p:cNvPr id="18" name="Google Shape;18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>
                <a:solidFill>
                  <a:schemeClr val="accent1"/>
                </a:solidFill>
              </a:defRPr>
            </a:lvl1pPr>
            <a:lvl2pPr lvl="1">
              <a:buNone/>
              <a:defRPr>
                <a:solidFill>
                  <a:schemeClr val="accent1"/>
                </a:solidFill>
              </a:defRPr>
            </a:lvl2pPr>
            <a:lvl3pPr lvl="2">
              <a:buNone/>
              <a:defRPr>
                <a:solidFill>
                  <a:schemeClr val="accent1"/>
                </a:solidFill>
              </a:defRPr>
            </a:lvl3pPr>
            <a:lvl4pPr lvl="3">
              <a:buNone/>
              <a:defRPr>
                <a:solidFill>
                  <a:schemeClr val="accent1"/>
                </a:solidFill>
              </a:defRPr>
            </a:lvl4pPr>
            <a:lvl5pPr lvl="4">
              <a:buNone/>
              <a:defRPr>
                <a:solidFill>
                  <a:schemeClr val="accent1"/>
                </a:solidFill>
              </a:defRPr>
            </a:lvl5pPr>
            <a:lvl6pPr lvl="5">
              <a:buNone/>
              <a:defRPr>
                <a:solidFill>
                  <a:schemeClr val="accent1"/>
                </a:solidFill>
              </a:defRPr>
            </a:lvl6pPr>
            <a:lvl7pPr lvl="6">
              <a:buNone/>
              <a:defRPr>
                <a:solidFill>
                  <a:schemeClr val="accent1"/>
                </a:solidFill>
              </a:defRPr>
            </a:lvl7pPr>
            <a:lvl8pPr lvl="7">
              <a:buNone/>
              <a:defRPr>
                <a:solidFill>
                  <a:schemeClr val="accent1"/>
                </a:solidFill>
              </a:defRPr>
            </a:lvl8pPr>
            <a:lvl9pPr lvl="8">
              <a:buNone/>
              <a:defRPr>
                <a:solidFill>
                  <a:schemeClr val="accent1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4"/>
          <p:cNvSpPr/>
          <p:nvPr/>
        </p:nvSpPr>
        <p:spPr>
          <a:xfrm>
            <a:off x="0" y="5045700"/>
            <a:ext cx="9144000" cy="9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" name="Google Shape;21;p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613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4"/>
          <p:cNvSpPr txBox="1">
            <a:spLocks noGrp="1"/>
          </p:cNvSpPr>
          <p:nvPr>
            <p:ph type="body" idx="1"/>
          </p:nvPr>
        </p:nvSpPr>
        <p:spPr>
          <a:xfrm>
            <a:off x="311700" y="1171600"/>
            <a:ext cx="8520600" cy="3397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23" name="Google Shape;23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613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5"/>
          <p:cNvSpPr txBox="1">
            <a:spLocks noGrp="1"/>
          </p:cNvSpPr>
          <p:nvPr>
            <p:ph type="body" idx="1"/>
          </p:nvPr>
        </p:nvSpPr>
        <p:spPr>
          <a:xfrm>
            <a:off x="311700" y="1171675"/>
            <a:ext cx="3999900" cy="3397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7" name="Google Shape;27;p5"/>
          <p:cNvSpPr txBox="1">
            <a:spLocks noGrp="1"/>
          </p:cNvSpPr>
          <p:nvPr>
            <p:ph type="body" idx="2"/>
          </p:nvPr>
        </p:nvSpPr>
        <p:spPr>
          <a:xfrm>
            <a:off x="4832400" y="1171675"/>
            <a:ext cx="3999900" cy="3397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8" name="Google Shape;28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613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7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4" name="Google Shape;34;p7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5" name="Google Shape;35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bg>
      <p:bgPr>
        <a:solidFill>
          <a:schemeClr val="lt2"/>
        </a:solidFill>
        <a:effectLst/>
      </p:bgPr>
    </p:bg>
    <p:spTree>
      <p:nvGrpSpPr>
        <p:cNvPr id="1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8"/>
          <p:cNvSpPr txBox="1">
            <a:spLocks noGrp="1"/>
          </p:cNvSpPr>
          <p:nvPr>
            <p:ph type="title"/>
          </p:nvPr>
        </p:nvSpPr>
        <p:spPr>
          <a:xfrm>
            <a:off x="490250" y="526350"/>
            <a:ext cx="56040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5400"/>
              <a:buNone/>
              <a:defRPr sz="5400">
                <a:solidFill>
                  <a:schemeClr val="accen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5400"/>
              <a:buNone/>
              <a:defRPr sz="5400">
                <a:solidFill>
                  <a:schemeClr val="accen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5400"/>
              <a:buNone/>
              <a:defRPr sz="5400">
                <a:solidFill>
                  <a:schemeClr val="accen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5400"/>
              <a:buNone/>
              <a:defRPr sz="5400">
                <a:solidFill>
                  <a:schemeClr val="accen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5400"/>
              <a:buNone/>
              <a:defRPr sz="5400">
                <a:solidFill>
                  <a:schemeClr val="accen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5400"/>
              <a:buNone/>
              <a:defRPr sz="5400">
                <a:solidFill>
                  <a:schemeClr val="accen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5400"/>
              <a:buNone/>
              <a:defRPr sz="5400">
                <a:solidFill>
                  <a:schemeClr val="accen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5400"/>
              <a:buNone/>
              <a:defRPr sz="5400">
                <a:solidFill>
                  <a:schemeClr val="accen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5400"/>
              <a:buNone/>
              <a:defRPr sz="5400">
                <a:solidFill>
                  <a:schemeClr val="accent1"/>
                </a:solidFill>
              </a:defRPr>
            </a:lvl9pPr>
          </a:lstStyle>
          <a:p>
            <a:endParaRPr/>
          </a:p>
        </p:txBody>
      </p:sp>
      <p:sp>
        <p:nvSpPr>
          <p:cNvPr id="38" name="Google Shape;38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>
                <a:solidFill>
                  <a:schemeClr val="accent1"/>
                </a:solidFill>
              </a:defRPr>
            </a:lvl1pPr>
            <a:lvl2pPr lvl="1">
              <a:buNone/>
              <a:defRPr>
                <a:solidFill>
                  <a:schemeClr val="accent1"/>
                </a:solidFill>
              </a:defRPr>
            </a:lvl2pPr>
            <a:lvl3pPr lvl="2">
              <a:buNone/>
              <a:defRPr>
                <a:solidFill>
                  <a:schemeClr val="accent1"/>
                </a:solidFill>
              </a:defRPr>
            </a:lvl3pPr>
            <a:lvl4pPr lvl="3">
              <a:buNone/>
              <a:defRPr>
                <a:solidFill>
                  <a:schemeClr val="accent1"/>
                </a:solidFill>
              </a:defRPr>
            </a:lvl4pPr>
            <a:lvl5pPr lvl="4">
              <a:buNone/>
              <a:defRPr>
                <a:solidFill>
                  <a:schemeClr val="accent1"/>
                </a:solidFill>
              </a:defRPr>
            </a:lvl5pPr>
            <a:lvl6pPr lvl="5">
              <a:buNone/>
              <a:defRPr>
                <a:solidFill>
                  <a:schemeClr val="accent1"/>
                </a:solidFill>
              </a:defRPr>
            </a:lvl6pPr>
            <a:lvl7pPr lvl="6">
              <a:buNone/>
              <a:defRPr>
                <a:solidFill>
                  <a:schemeClr val="accent1"/>
                </a:solidFill>
              </a:defRPr>
            </a:lvl7pPr>
            <a:lvl8pPr lvl="7">
              <a:buNone/>
              <a:defRPr>
                <a:solidFill>
                  <a:schemeClr val="accent1"/>
                </a:solidFill>
              </a:defRPr>
            </a:lvl8pPr>
            <a:lvl9pPr lvl="8">
              <a:buNone/>
              <a:defRPr>
                <a:solidFill>
                  <a:schemeClr val="accent1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9"/>
          <p:cNvSpPr/>
          <p:nvPr/>
        </p:nvSpPr>
        <p:spPr>
          <a:xfrm>
            <a:off x="4572000" y="-25"/>
            <a:ext cx="4572000" cy="5143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cxnSp>
        <p:nvCxnSpPr>
          <p:cNvPr id="41" name="Google Shape;41;p9"/>
          <p:cNvCxnSpPr/>
          <p:nvPr/>
        </p:nvCxnSpPr>
        <p:spPr>
          <a:xfrm>
            <a:off x="5029675" y="4495500"/>
            <a:ext cx="686400" cy="0"/>
          </a:xfrm>
          <a:prstGeom prst="straightConnector1">
            <a:avLst/>
          </a:prstGeom>
          <a:noFill/>
          <a:ln w="19050" cap="flat" cmpd="sng">
            <a:solidFill>
              <a:schemeClr val="lt2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42" name="Google Shape;42;p9"/>
          <p:cNvSpPr txBox="1">
            <a:spLocks noGrp="1"/>
          </p:cNvSpPr>
          <p:nvPr>
            <p:ph type="title"/>
          </p:nvPr>
        </p:nvSpPr>
        <p:spPr>
          <a:xfrm>
            <a:off x="265500" y="1382350"/>
            <a:ext cx="4045200" cy="1333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 sz="4200">
                <a:solidFill>
                  <a:schemeClr val="lt2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 sz="4200">
                <a:solidFill>
                  <a:schemeClr val="lt2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 sz="4200">
                <a:solidFill>
                  <a:schemeClr val="lt2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 sz="4200">
                <a:solidFill>
                  <a:schemeClr val="lt2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 sz="4200">
                <a:solidFill>
                  <a:schemeClr val="lt2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 sz="4200">
                <a:solidFill>
                  <a:schemeClr val="lt2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 sz="4200">
                <a:solidFill>
                  <a:schemeClr val="lt2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 sz="4200">
                <a:solidFill>
                  <a:schemeClr val="lt2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 sz="4200">
                <a:solidFill>
                  <a:schemeClr val="lt2"/>
                </a:solidFill>
              </a:defRPr>
            </a:lvl9pPr>
          </a:lstStyle>
          <a:p>
            <a:endParaRPr/>
          </a:p>
        </p:txBody>
      </p:sp>
      <p:sp>
        <p:nvSpPr>
          <p:cNvPr id="43" name="Google Shape;43;p9"/>
          <p:cNvSpPr txBox="1">
            <a:spLocks noGrp="1"/>
          </p:cNvSpPr>
          <p:nvPr>
            <p:ph type="subTitle" idx="1"/>
          </p:nvPr>
        </p:nvSpPr>
        <p:spPr>
          <a:xfrm>
            <a:off x="265500" y="2769001"/>
            <a:ext cx="4045200" cy="1345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44" name="Google Shape;44;p9"/>
          <p:cNvSpPr txBox="1">
            <a:spLocks noGrp="1"/>
          </p:cNvSpPr>
          <p:nvPr>
            <p:ph type="body" idx="2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Char char="●"/>
              <a:defRPr>
                <a:solidFill>
                  <a:schemeClr val="accent1"/>
                </a:solidFill>
              </a:defRPr>
            </a:lvl1pPr>
            <a:lvl2pPr marL="914400" lvl="1" indent="-317500">
              <a:spcBef>
                <a:spcPts val="160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○"/>
              <a:defRPr>
                <a:solidFill>
                  <a:schemeClr val="accent1"/>
                </a:solidFill>
              </a:defRPr>
            </a:lvl2pPr>
            <a:lvl3pPr marL="1371600" lvl="2" indent="-317500">
              <a:spcBef>
                <a:spcPts val="160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■"/>
              <a:defRPr>
                <a:solidFill>
                  <a:schemeClr val="accent1"/>
                </a:solidFill>
              </a:defRPr>
            </a:lvl3pPr>
            <a:lvl4pPr marL="1828800" lvl="3" indent="-317500">
              <a:spcBef>
                <a:spcPts val="160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●"/>
              <a:defRPr>
                <a:solidFill>
                  <a:schemeClr val="accent1"/>
                </a:solidFill>
              </a:defRPr>
            </a:lvl4pPr>
            <a:lvl5pPr marL="2286000" lvl="4" indent="-317500">
              <a:spcBef>
                <a:spcPts val="160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○"/>
              <a:defRPr>
                <a:solidFill>
                  <a:schemeClr val="accent1"/>
                </a:solidFill>
              </a:defRPr>
            </a:lvl5pPr>
            <a:lvl6pPr marL="2743200" lvl="5" indent="-317500">
              <a:spcBef>
                <a:spcPts val="160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■"/>
              <a:defRPr>
                <a:solidFill>
                  <a:schemeClr val="accent1"/>
                </a:solidFill>
              </a:defRPr>
            </a:lvl6pPr>
            <a:lvl7pPr marL="3200400" lvl="6" indent="-317500">
              <a:spcBef>
                <a:spcPts val="160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●"/>
              <a:defRPr>
                <a:solidFill>
                  <a:schemeClr val="accent1"/>
                </a:solidFill>
              </a:defRPr>
            </a:lvl7pPr>
            <a:lvl8pPr marL="3657600" lvl="7" indent="-317500">
              <a:spcBef>
                <a:spcPts val="160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○"/>
              <a:defRPr>
                <a:solidFill>
                  <a:schemeClr val="accent1"/>
                </a:solidFill>
              </a:defRPr>
            </a:lvl8pPr>
            <a:lvl9pPr marL="4114800" lvl="8" indent="-317500">
              <a:spcBef>
                <a:spcPts val="1600"/>
              </a:spcBef>
              <a:spcAft>
                <a:spcPts val="1600"/>
              </a:spcAft>
              <a:buClr>
                <a:schemeClr val="accent1"/>
              </a:buClr>
              <a:buSzPts val="1400"/>
              <a:buChar char="■"/>
              <a:defRPr>
                <a:solidFill>
                  <a:schemeClr val="accent1"/>
                </a:solidFill>
              </a:defRPr>
            </a:lvl9pPr>
          </a:lstStyle>
          <a:p>
            <a:endParaRPr/>
          </a:p>
        </p:txBody>
      </p:sp>
      <p:sp>
        <p:nvSpPr>
          <p:cNvPr id="45" name="Google Shape;45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>
                <a:solidFill>
                  <a:schemeClr val="accent1"/>
                </a:solidFill>
              </a:defRPr>
            </a:lvl1pPr>
            <a:lvl2pPr lvl="1">
              <a:buNone/>
              <a:defRPr>
                <a:solidFill>
                  <a:schemeClr val="accent1"/>
                </a:solidFill>
              </a:defRPr>
            </a:lvl2pPr>
            <a:lvl3pPr lvl="2">
              <a:buNone/>
              <a:defRPr>
                <a:solidFill>
                  <a:schemeClr val="accent1"/>
                </a:solidFill>
              </a:defRPr>
            </a:lvl3pPr>
            <a:lvl4pPr lvl="3">
              <a:buNone/>
              <a:defRPr>
                <a:solidFill>
                  <a:schemeClr val="accent1"/>
                </a:solidFill>
              </a:defRPr>
            </a:lvl4pPr>
            <a:lvl5pPr lvl="4">
              <a:buNone/>
              <a:defRPr>
                <a:solidFill>
                  <a:schemeClr val="accent1"/>
                </a:solidFill>
              </a:defRPr>
            </a:lvl5pPr>
            <a:lvl6pPr lvl="5">
              <a:buNone/>
              <a:defRPr>
                <a:solidFill>
                  <a:schemeClr val="accent1"/>
                </a:solidFill>
              </a:defRPr>
            </a:lvl6pPr>
            <a:lvl7pPr lvl="6">
              <a:buNone/>
              <a:defRPr>
                <a:solidFill>
                  <a:schemeClr val="accent1"/>
                </a:solidFill>
              </a:defRPr>
            </a:lvl7pPr>
            <a:lvl8pPr lvl="7">
              <a:buNone/>
              <a:defRPr>
                <a:solidFill>
                  <a:schemeClr val="accent1"/>
                </a:solidFill>
              </a:defRPr>
            </a:lvl8pPr>
            <a:lvl9pPr lvl="8">
              <a:buNone/>
              <a:defRPr>
                <a:solidFill>
                  <a:schemeClr val="accent1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10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8" name="Google Shape;48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1"/>
          <p:cNvSpPr txBox="1">
            <a:spLocks noGrp="1"/>
          </p:cNvSpPr>
          <p:nvPr>
            <p:ph type="title" hasCustomPrompt="1"/>
          </p:nvPr>
        </p:nvSpPr>
        <p:spPr>
          <a:xfrm>
            <a:off x="311700" y="1039650"/>
            <a:ext cx="8520600" cy="2106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0"/>
              <a:buNone/>
              <a:defRPr sz="14000" b="1"/>
            </a:lvl1pPr>
            <a:lvl2pPr lvl="1" algn="ctr">
              <a:spcBef>
                <a:spcPts val="0"/>
              </a:spcBef>
              <a:spcAft>
                <a:spcPts val="0"/>
              </a:spcAft>
              <a:buSzPts val="14000"/>
              <a:buNone/>
              <a:defRPr sz="14000" b="1"/>
            </a:lvl2pPr>
            <a:lvl3pPr lvl="2" algn="ctr">
              <a:spcBef>
                <a:spcPts val="0"/>
              </a:spcBef>
              <a:spcAft>
                <a:spcPts val="0"/>
              </a:spcAft>
              <a:buSzPts val="14000"/>
              <a:buNone/>
              <a:defRPr sz="14000" b="1"/>
            </a:lvl3pPr>
            <a:lvl4pPr lvl="3" algn="ctr">
              <a:spcBef>
                <a:spcPts val="0"/>
              </a:spcBef>
              <a:spcAft>
                <a:spcPts val="0"/>
              </a:spcAft>
              <a:buSzPts val="14000"/>
              <a:buNone/>
              <a:defRPr sz="14000" b="1"/>
            </a:lvl4pPr>
            <a:lvl5pPr lvl="4" algn="ctr">
              <a:spcBef>
                <a:spcPts val="0"/>
              </a:spcBef>
              <a:spcAft>
                <a:spcPts val="0"/>
              </a:spcAft>
              <a:buSzPts val="14000"/>
              <a:buNone/>
              <a:defRPr sz="14000" b="1"/>
            </a:lvl5pPr>
            <a:lvl6pPr lvl="5" algn="ctr">
              <a:spcBef>
                <a:spcPts val="0"/>
              </a:spcBef>
              <a:spcAft>
                <a:spcPts val="0"/>
              </a:spcAft>
              <a:buSzPts val="14000"/>
              <a:buNone/>
              <a:defRPr sz="14000" b="1"/>
            </a:lvl6pPr>
            <a:lvl7pPr lvl="6" algn="ctr">
              <a:spcBef>
                <a:spcPts val="0"/>
              </a:spcBef>
              <a:spcAft>
                <a:spcPts val="0"/>
              </a:spcAft>
              <a:buSzPts val="14000"/>
              <a:buNone/>
              <a:defRPr sz="14000" b="1"/>
            </a:lvl7pPr>
            <a:lvl8pPr lvl="7" algn="ctr">
              <a:spcBef>
                <a:spcPts val="0"/>
              </a:spcBef>
              <a:spcAft>
                <a:spcPts val="0"/>
              </a:spcAft>
              <a:buSzPts val="14000"/>
              <a:buNone/>
              <a:defRPr sz="14000" b="1"/>
            </a:lvl8pPr>
            <a:lvl9pPr lvl="8" algn="ctr">
              <a:spcBef>
                <a:spcPts val="0"/>
              </a:spcBef>
              <a:spcAft>
                <a:spcPts val="0"/>
              </a:spcAft>
              <a:buSzPts val="14000"/>
              <a:buNone/>
              <a:defRPr sz="14000" b="1"/>
            </a:lvl9pPr>
          </a:lstStyle>
          <a:p>
            <a:r>
              <a:t>xx%</a:t>
            </a:r>
          </a:p>
        </p:txBody>
      </p:sp>
      <p:sp>
        <p:nvSpPr>
          <p:cNvPr id="51" name="Google Shape;51;p11"/>
          <p:cNvSpPr txBox="1">
            <a:spLocks noGrp="1"/>
          </p:cNvSpPr>
          <p:nvPr>
            <p:ph type="body" idx="1"/>
          </p:nvPr>
        </p:nvSpPr>
        <p:spPr>
          <a:xfrm>
            <a:off x="311700" y="3228425"/>
            <a:ext cx="8520600" cy="130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52" name="Google Shape;52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paperback">
    <p:bg>
      <p:bgPr>
        <a:solidFill>
          <a:schemeClr val="accen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61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ld Standard TT"/>
              <a:buNone/>
              <a:defRPr sz="30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ld Standard TT"/>
              <a:buNone/>
              <a:defRPr sz="30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ld Standard TT"/>
              <a:buNone/>
              <a:defRPr sz="30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ld Standard TT"/>
              <a:buNone/>
              <a:defRPr sz="30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ld Standard TT"/>
              <a:buNone/>
              <a:defRPr sz="30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ld Standard TT"/>
              <a:buNone/>
              <a:defRPr sz="30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ld Standard TT"/>
              <a:buNone/>
              <a:defRPr sz="30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ld Standard TT"/>
              <a:buNone/>
              <a:defRPr sz="30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ld Standard TT"/>
              <a:buNone/>
              <a:defRPr sz="30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71600"/>
            <a:ext cx="8520600" cy="339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Old Standard TT"/>
              <a:buChar char="●"/>
              <a:defRPr sz="18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1pPr>
            <a:lvl2pPr marL="914400" lvl="1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ld Standard TT"/>
              <a:buChar char="○"/>
              <a:defRPr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2pPr>
            <a:lvl3pPr marL="1371600" lvl="2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ld Standard TT"/>
              <a:buChar char="■"/>
              <a:defRPr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3pPr>
            <a:lvl4pPr marL="1828800" lvl="3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ld Standard TT"/>
              <a:buChar char="●"/>
              <a:defRPr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4pPr>
            <a:lvl5pPr marL="2286000" lvl="4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ld Standard TT"/>
              <a:buChar char="○"/>
              <a:defRPr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5pPr>
            <a:lvl6pPr marL="2743200" lvl="5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ld Standard TT"/>
              <a:buChar char="■"/>
              <a:defRPr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6pPr>
            <a:lvl7pPr marL="3200400" lvl="6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ld Standard TT"/>
              <a:buChar char="●"/>
              <a:defRPr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7pPr>
            <a:lvl8pPr marL="3657600" lvl="7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ld Standard TT"/>
              <a:buChar char="○"/>
              <a:defRPr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8pPr>
            <a:lvl9pPr marL="4114800" lvl="8" indent="-31750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1400"/>
              <a:buFont typeface="Old Standard TT"/>
              <a:buChar char="■"/>
              <a:defRPr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>
              <a:buNone/>
              <a:defRPr sz="10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1pPr>
            <a:lvl2pPr lvl="1" algn="r">
              <a:buNone/>
              <a:defRPr sz="10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2pPr>
            <a:lvl3pPr lvl="2" algn="r">
              <a:buNone/>
              <a:defRPr sz="10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3pPr>
            <a:lvl4pPr lvl="3" algn="r">
              <a:buNone/>
              <a:defRPr sz="10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4pPr>
            <a:lvl5pPr lvl="4" algn="r">
              <a:buNone/>
              <a:defRPr sz="10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5pPr>
            <a:lvl6pPr lvl="5" algn="r">
              <a:buNone/>
              <a:defRPr sz="10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6pPr>
            <a:lvl7pPr lvl="6" algn="r">
              <a:buNone/>
              <a:defRPr sz="10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7pPr>
            <a:lvl8pPr lvl="7" algn="r">
              <a:buNone/>
              <a:defRPr sz="10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8pPr>
            <a:lvl9pPr lvl="8" algn="r">
              <a:buNone/>
              <a:defRPr sz="10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8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8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8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8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8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4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4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4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8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4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4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4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4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8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4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4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8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4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4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4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4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4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8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4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4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4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8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4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4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8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4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4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4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4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4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8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4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4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7.xml"/><Relationship Id="rId1" Type="http://schemas.openxmlformats.org/officeDocument/2006/relationships/slideLayout" Target="../slideLayouts/slideLayout4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8.xml"/><Relationship Id="rId1" Type="http://schemas.openxmlformats.org/officeDocument/2006/relationships/slideLayout" Target="../slideLayouts/slideLayout4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9.xml"/><Relationship Id="rId1" Type="http://schemas.openxmlformats.org/officeDocument/2006/relationships/slideLayout" Target="../slideLayouts/slideLayout4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0.xml"/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3"/>
          <p:cNvSpPr txBox="1">
            <a:spLocks noGrp="1"/>
          </p:cNvSpPr>
          <p:nvPr>
            <p:ph type="ctrTitle"/>
          </p:nvPr>
        </p:nvSpPr>
        <p:spPr>
          <a:xfrm>
            <a:off x="512700" y="1893300"/>
            <a:ext cx="8118600" cy="1522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Provisioning Automation with Terraform</a:t>
            </a:r>
            <a:endParaRPr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14"/>
          <p:cNvSpPr txBox="1">
            <a:spLocks noGrp="1"/>
          </p:cNvSpPr>
          <p:nvPr>
            <p:ph type="title"/>
          </p:nvPr>
        </p:nvSpPr>
        <p:spPr>
          <a:xfrm>
            <a:off x="265500" y="1382350"/>
            <a:ext cx="4045200" cy="1333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Agenda</a:t>
            </a:r>
            <a:endParaRPr/>
          </a:p>
        </p:txBody>
      </p:sp>
      <p:sp>
        <p:nvSpPr>
          <p:cNvPr id="66" name="Google Shape;66;p14"/>
          <p:cNvSpPr txBox="1">
            <a:spLocks noGrp="1"/>
          </p:cNvSpPr>
          <p:nvPr>
            <p:ph type="body" idx="2"/>
          </p:nvPr>
        </p:nvSpPr>
        <p:spPr>
          <a:xfrm>
            <a:off x="4939500" y="-139375"/>
            <a:ext cx="3837000" cy="5110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457200" lvl="0" indent="-292100" algn="l" rtl="0">
              <a:spcBef>
                <a:spcPts val="0"/>
              </a:spcBef>
              <a:spcAft>
                <a:spcPts val="0"/>
              </a:spcAft>
              <a:buSzPts val="1000"/>
              <a:buChar char="●"/>
            </a:pPr>
            <a:r>
              <a:rPr lang="en" sz="1000"/>
              <a:t>Introduction</a:t>
            </a:r>
            <a:endParaRPr sz="1000"/>
          </a:p>
          <a:p>
            <a:pPr marL="457200" lvl="0" indent="-292100" algn="l" rtl="0">
              <a:spcBef>
                <a:spcPts val="1600"/>
              </a:spcBef>
              <a:spcAft>
                <a:spcPts val="0"/>
              </a:spcAft>
              <a:buSzPts val="1000"/>
              <a:buChar char="●"/>
            </a:pPr>
            <a:r>
              <a:rPr lang="en" sz="1000"/>
              <a:t>Setting up Terraform</a:t>
            </a:r>
            <a:endParaRPr sz="1000"/>
          </a:p>
          <a:p>
            <a:pPr marL="457200" lvl="0" indent="-292100" algn="l" rtl="0">
              <a:spcBef>
                <a:spcPts val="1600"/>
              </a:spcBef>
              <a:spcAft>
                <a:spcPts val="0"/>
              </a:spcAft>
              <a:buSzPts val="1000"/>
              <a:buChar char="●"/>
            </a:pPr>
            <a:r>
              <a:rPr lang="en" sz="1000"/>
              <a:t>Basics of Terraform</a:t>
            </a:r>
            <a:endParaRPr sz="1000"/>
          </a:p>
          <a:p>
            <a:pPr marL="457200" lvl="0" indent="-292100" algn="l" rtl="0">
              <a:spcBef>
                <a:spcPts val="1600"/>
              </a:spcBef>
              <a:spcAft>
                <a:spcPts val="0"/>
              </a:spcAft>
              <a:buSzPts val="1000"/>
              <a:buChar char="●"/>
            </a:pPr>
            <a:r>
              <a:rPr lang="en" sz="1000"/>
              <a:t>Terraform Inputs/Outputs</a:t>
            </a:r>
            <a:endParaRPr sz="1000"/>
          </a:p>
          <a:p>
            <a:pPr marL="457200" lvl="0" indent="-292100" algn="l" rtl="0">
              <a:spcBef>
                <a:spcPts val="1600"/>
              </a:spcBef>
              <a:spcAft>
                <a:spcPts val="0"/>
              </a:spcAft>
              <a:buSzPts val="1000"/>
              <a:buChar char="●"/>
            </a:pPr>
            <a:r>
              <a:rPr lang="en" sz="1000"/>
              <a:t>Terraform conditionals and loops</a:t>
            </a:r>
            <a:endParaRPr sz="1000"/>
          </a:p>
          <a:p>
            <a:pPr marL="457200" lvl="0" indent="-292100" algn="l" rtl="0">
              <a:spcBef>
                <a:spcPts val="1600"/>
              </a:spcBef>
              <a:spcAft>
                <a:spcPts val="0"/>
              </a:spcAft>
              <a:buSzPts val="1000"/>
              <a:buChar char="●"/>
            </a:pPr>
            <a:r>
              <a:rPr lang="en" sz="1000"/>
              <a:t>Terraform modules</a:t>
            </a:r>
            <a:endParaRPr sz="1000"/>
          </a:p>
          <a:p>
            <a:pPr marL="457200" lvl="0" indent="-292100" algn="l" rtl="0">
              <a:spcBef>
                <a:spcPts val="1600"/>
              </a:spcBef>
              <a:spcAft>
                <a:spcPts val="0"/>
              </a:spcAft>
              <a:buSzPts val="1000"/>
              <a:buChar char="●"/>
            </a:pPr>
            <a:r>
              <a:rPr lang="en" sz="1000"/>
              <a:t>Terraform state management</a:t>
            </a:r>
            <a:endParaRPr sz="1000"/>
          </a:p>
          <a:p>
            <a:pPr marL="457200" lvl="0" indent="-292100" algn="l" rtl="0">
              <a:spcBef>
                <a:spcPts val="1600"/>
              </a:spcBef>
              <a:spcAft>
                <a:spcPts val="0"/>
              </a:spcAft>
              <a:buSzPts val="1000"/>
              <a:buChar char="●"/>
            </a:pPr>
            <a:r>
              <a:rPr lang="en" sz="1000"/>
              <a:t>Managing multiple environments</a:t>
            </a:r>
            <a:endParaRPr sz="1000"/>
          </a:p>
          <a:p>
            <a:pPr marL="457200" lvl="0" indent="-292100" algn="l" rtl="0">
              <a:spcBef>
                <a:spcPts val="1600"/>
              </a:spcBef>
              <a:spcAft>
                <a:spcPts val="0"/>
              </a:spcAft>
              <a:buSzPts val="1000"/>
              <a:buChar char="●"/>
            </a:pPr>
            <a:r>
              <a:rPr lang="en" sz="1000"/>
              <a:t>Working with multiple providers</a:t>
            </a:r>
            <a:endParaRPr sz="1000"/>
          </a:p>
          <a:p>
            <a:pPr marL="457200" lvl="0" indent="-292100" algn="l" rtl="0">
              <a:spcBef>
                <a:spcPts val="1600"/>
              </a:spcBef>
              <a:spcAft>
                <a:spcPts val="0"/>
              </a:spcAft>
              <a:buSzPts val="1000"/>
              <a:buChar char="●"/>
            </a:pPr>
            <a:r>
              <a:rPr lang="en" sz="1000"/>
              <a:t>Terraform Provisioners</a:t>
            </a:r>
            <a:endParaRPr sz="1000"/>
          </a:p>
          <a:p>
            <a:pPr marL="457200" lvl="0" indent="-292100" algn="l" rtl="0">
              <a:spcBef>
                <a:spcPts val="1600"/>
              </a:spcBef>
              <a:spcAft>
                <a:spcPts val="1600"/>
              </a:spcAft>
              <a:buSzPts val="1000"/>
              <a:buChar char="●"/>
            </a:pPr>
            <a:r>
              <a:rPr lang="en" sz="1000"/>
              <a:t>Misc. topics</a:t>
            </a:r>
            <a:endParaRPr sz="10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15"/>
          <p:cNvSpPr txBox="1">
            <a:spLocks noGrp="1"/>
          </p:cNvSpPr>
          <p:nvPr>
            <p:ph type="title"/>
          </p:nvPr>
        </p:nvSpPr>
        <p:spPr>
          <a:xfrm>
            <a:off x="265500" y="1382350"/>
            <a:ext cx="4045200" cy="1333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Introduction</a:t>
            </a:r>
            <a:endParaRPr/>
          </a:p>
        </p:txBody>
      </p:sp>
      <p:sp>
        <p:nvSpPr>
          <p:cNvPr id="72" name="Google Shape;72;p15"/>
          <p:cNvSpPr txBox="1">
            <a:spLocks noGrp="1"/>
          </p:cNvSpPr>
          <p:nvPr>
            <p:ph type="body" idx="2"/>
          </p:nvPr>
        </p:nvSpPr>
        <p:spPr>
          <a:xfrm>
            <a:off x="4939500" y="-139375"/>
            <a:ext cx="3837000" cy="5110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457200" lvl="0" indent="-311150" algn="l" rtl="0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 sz="1300"/>
              <a:t>What is IAC</a:t>
            </a:r>
            <a:endParaRPr sz="1300"/>
          </a:p>
          <a:p>
            <a:pPr marL="457200" lvl="0" indent="-311150" algn="l" rtl="0">
              <a:spcBef>
                <a:spcPts val="1600"/>
              </a:spcBef>
              <a:spcAft>
                <a:spcPts val="1600"/>
              </a:spcAft>
              <a:buSzPts val="1300"/>
              <a:buChar char="●"/>
            </a:pPr>
            <a:r>
              <a:rPr lang="en" sz="1300"/>
              <a:t>What is Terraform</a:t>
            </a:r>
            <a:endParaRPr sz="130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16"/>
          <p:cNvSpPr txBox="1">
            <a:spLocks noGrp="1"/>
          </p:cNvSpPr>
          <p:nvPr>
            <p:ph type="title"/>
          </p:nvPr>
        </p:nvSpPr>
        <p:spPr>
          <a:xfrm>
            <a:off x="512700" y="1893300"/>
            <a:ext cx="8118600" cy="1522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What is IAC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17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613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Infrastructure as Code</a:t>
            </a:r>
            <a:endParaRPr/>
          </a:p>
        </p:txBody>
      </p:sp>
      <p:sp>
        <p:nvSpPr>
          <p:cNvPr id="83" name="Google Shape;83;p17"/>
          <p:cNvSpPr txBox="1">
            <a:spLocks noGrp="1"/>
          </p:cNvSpPr>
          <p:nvPr>
            <p:ph type="body" idx="1"/>
          </p:nvPr>
        </p:nvSpPr>
        <p:spPr>
          <a:xfrm>
            <a:off x="311700" y="1171675"/>
            <a:ext cx="7746450" cy="2828825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100" b="1" dirty="0">
                <a:latin typeface="Arial"/>
                <a:ea typeface="Arial"/>
                <a:cs typeface="Arial"/>
                <a:sym typeface="Arial"/>
              </a:rPr>
              <a:t>Life Before IAC and Issues</a:t>
            </a:r>
            <a:endParaRPr sz="1100" b="1" dirty="0">
              <a:latin typeface="Arial"/>
              <a:ea typeface="Arial"/>
              <a:cs typeface="Arial"/>
              <a:sym typeface="Arial"/>
            </a:endParaRPr>
          </a:p>
          <a:p>
            <a:pPr marL="457200" lvl="0" indent="-298450" algn="l" rtl="0">
              <a:lnSpc>
                <a:spcPct val="200000"/>
              </a:lnSpc>
              <a:spcBef>
                <a:spcPts val="1200"/>
              </a:spcBef>
              <a:spcAft>
                <a:spcPts val="0"/>
              </a:spcAft>
              <a:buSzPts val="1100"/>
              <a:buFont typeface="Arial"/>
              <a:buChar char="●"/>
            </a:pPr>
            <a:r>
              <a:rPr lang="en" sz="1100" dirty="0">
                <a:latin typeface="Arial"/>
                <a:ea typeface="Arial"/>
                <a:cs typeface="Arial"/>
                <a:sym typeface="Arial"/>
              </a:rPr>
              <a:t>Manual provisioning of infrastructure was time-consuming and error-prone.</a:t>
            </a:r>
            <a:endParaRPr sz="1100" dirty="0">
              <a:latin typeface="Arial"/>
              <a:ea typeface="Arial"/>
              <a:cs typeface="Arial"/>
              <a:sym typeface="Arial"/>
            </a:endParaRPr>
          </a:p>
          <a:p>
            <a:pPr marL="457200" lvl="0" indent="-298450" algn="l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100"/>
              <a:buFont typeface="Arial"/>
              <a:buChar char="●"/>
            </a:pPr>
            <a:r>
              <a:rPr lang="en" sz="1100" dirty="0">
                <a:latin typeface="Arial"/>
                <a:ea typeface="Arial"/>
                <a:cs typeface="Arial"/>
                <a:sym typeface="Arial"/>
              </a:rPr>
              <a:t>Lack of consistency across environments (dev, test, production).</a:t>
            </a:r>
            <a:endParaRPr sz="1100" dirty="0">
              <a:latin typeface="Arial"/>
              <a:ea typeface="Arial"/>
              <a:cs typeface="Arial"/>
              <a:sym typeface="Arial"/>
            </a:endParaRPr>
          </a:p>
          <a:p>
            <a:pPr marL="457200" lvl="0" indent="-298450" algn="l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100"/>
              <a:buFont typeface="Arial"/>
              <a:buChar char="●"/>
            </a:pPr>
            <a:r>
              <a:rPr lang="en" sz="1100" dirty="0">
                <a:latin typeface="Arial"/>
                <a:ea typeface="Arial"/>
                <a:cs typeface="Arial"/>
                <a:sym typeface="Arial"/>
              </a:rPr>
              <a:t>Hard to scale: manual configuration couldn't meet the demands of rapid growth.</a:t>
            </a:r>
            <a:endParaRPr sz="1100" dirty="0">
              <a:latin typeface="Arial"/>
              <a:ea typeface="Arial"/>
              <a:cs typeface="Arial"/>
              <a:sym typeface="Arial"/>
            </a:endParaRPr>
          </a:p>
          <a:p>
            <a:pPr marL="457200" lvl="0" indent="-298450" algn="l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100"/>
              <a:buFont typeface="Arial"/>
              <a:buChar char="●"/>
            </a:pPr>
            <a:r>
              <a:rPr lang="en" sz="1100" dirty="0">
                <a:latin typeface="Arial"/>
                <a:ea typeface="Arial"/>
                <a:cs typeface="Arial"/>
                <a:sym typeface="Arial"/>
              </a:rPr>
              <a:t>Troubleshooting and debugging were difficult due to undocumented changes.</a:t>
            </a:r>
            <a:endParaRPr sz="1100" dirty="0">
              <a:latin typeface="Arial"/>
              <a:ea typeface="Arial"/>
              <a:cs typeface="Arial"/>
              <a:sym typeface="Arial"/>
            </a:endParaRPr>
          </a:p>
          <a:p>
            <a:pPr marL="457200" lvl="0" indent="-298450" algn="l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100"/>
              <a:buFont typeface="Arial"/>
              <a:buChar char="●"/>
            </a:pPr>
            <a:r>
              <a:rPr lang="en" sz="1100" dirty="0">
                <a:latin typeface="Arial"/>
                <a:ea typeface="Arial"/>
                <a:cs typeface="Arial"/>
                <a:sym typeface="Arial"/>
              </a:rPr>
              <a:t>Limited collaboration: Infrastructure knowledge often stayed within specific teams or individuals.</a:t>
            </a:r>
            <a:endParaRPr sz="1100" dirty="0">
              <a:latin typeface="Arial"/>
              <a:ea typeface="Arial"/>
              <a:cs typeface="Arial"/>
              <a:sym typeface="Arial"/>
            </a:endParaRPr>
          </a:p>
          <a:p>
            <a:pPr marL="457200" lvl="0" indent="-298450" algn="l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100"/>
              <a:buFont typeface="Arial"/>
              <a:buChar char="●"/>
            </a:pPr>
            <a:r>
              <a:rPr lang="en" sz="1100" dirty="0">
                <a:latin typeface="Arial"/>
                <a:ea typeface="Arial"/>
                <a:cs typeface="Arial"/>
                <a:sym typeface="Arial"/>
              </a:rPr>
              <a:t>Recovery was slow and cumbersome in case of failures due to lack of automation.</a:t>
            </a:r>
            <a:endParaRPr sz="16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18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613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Infrastructure as Code</a:t>
            </a:r>
            <a:endParaRPr/>
          </a:p>
        </p:txBody>
      </p:sp>
      <p:sp>
        <p:nvSpPr>
          <p:cNvPr id="89" name="Google Shape;89;p18"/>
          <p:cNvSpPr txBox="1">
            <a:spLocks noGrp="1"/>
          </p:cNvSpPr>
          <p:nvPr>
            <p:ph type="body" idx="1"/>
          </p:nvPr>
        </p:nvSpPr>
        <p:spPr>
          <a:xfrm>
            <a:off x="311699" y="1171675"/>
            <a:ext cx="7672971" cy="3397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100" b="1" dirty="0">
                <a:latin typeface="Arial"/>
                <a:ea typeface="Arial"/>
                <a:cs typeface="Arial"/>
                <a:sym typeface="Arial"/>
              </a:rPr>
              <a:t>How IAC Solved the Problems</a:t>
            </a:r>
            <a:endParaRPr sz="1100" b="1" dirty="0">
              <a:latin typeface="Arial"/>
              <a:ea typeface="Arial"/>
              <a:cs typeface="Arial"/>
              <a:sym typeface="Arial"/>
            </a:endParaRPr>
          </a:p>
          <a:p>
            <a:pPr marL="457200" lvl="0" indent="-298450" algn="l" rtl="0">
              <a:lnSpc>
                <a:spcPct val="200000"/>
              </a:lnSpc>
              <a:spcBef>
                <a:spcPts val="1200"/>
              </a:spcBef>
              <a:spcAft>
                <a:spcPts val="0"/>
              </a:spcAft>
              <a:buSzPts val="1100"/>
              <a:buFont typeface="Arial"/>
              <a:buChar char="●"/>
            </a:pPr>
            <a:r>
              <a:rPr lang="en" sz="1100" b="1" dirty="0">
                <a:latin typeface="Arial"/>
                <a:ea typeface="Arial"/>
                <a:cs typeface="Arial"/>
                <a:sym typeface="Arial"/>
              </a:rPr>
              <a:t>Automation:</a:t>
            </a:r>
            <a:r>
              <a:rPr lang="en" sz="1100" dirty="0">
                <a:latin typeface="Arial"/>
                <a:ea typeface="Arial"/>
                <a:cs typeface="Arial"/>
                <a:sym typeface="Arial"/>
              </a:rPr>
              <a:t> Provision infrastructure automatically, reducing human errors.</a:t>
            </a:r>
            <a:endParaRPr sz="1100" dirty="0">
              <a:latin typeface="Arial"/>
              <a:ea typeface="Arial"/>
              <a:cs typeface="Arial"/>
              <a:sym typeface="Arial"/>
            </a:endParaRPr>
          </a:p>
          <a:p>
            <a:pPr marL="457200" lvl="0" indent="-298450" algn="l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100"/>
              <a:buFont typeface="Arial"/>
              <a:buChar char="●"/>
            </a:pPr>
            <a:r>
              <a:rPr lang="en" sz="1100" b="1" dirty="0">
                <a:latin typeface="Arial"/>
                <a:ea typeface="Arial"/>
                <a:cs typeface="Arial"/>
                <a:sym typeface="Arial"/>
              </a:rPr>
              <a:t>Consistency:</a:t>
            </a:r>
            <a:r>
              <a:rPr lang="en" sz="1100" dirty="0">
                <a:latin typeface="Arial"/>
                <a:ea typeface="Arial"/>
                <a:cs typeface="Arial"/>
                <a:sym typeface="Arial"/>
              </a:rPr>
              <a:t> Ensures identical setups across all environments.</a:t>
            </a:r>
            <a:endParaRPr sz="1100" dirty="0">
              <a:latin typeface="Arial"/>
              <a:ea typeface="Arial"/>
              <a:cs typeface="Arial"/>
              <a:sym typeface="Arial"/>
            </a:endParaRPr>
          </a:p>
          <a:p>
            <a:pPr marL="457200" lvl="0" indent="-298450" algn="l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100"/>
              <a:buFont typeface="Arial"/>
              <a:buChar char="●"/>
            </a:pPr>
            <a:r>
              <a:rPr lang="en" sz="1100" b="1" dirty="0">
                <a:latin typeface="Arial"/>
                <a:ea typeface="Arial"/>
                <a:cs typeface="Arial"/>
                <a:sym typeface="Arial"/>
              </a:rPr>
              <a:t>Scalability:</a:t>
            </a:r>
            <a:r>
              <a:rPr lang="en" sz="1100" dirty="0">
                <a:latin typeface="Arial"/>
                <a:ea typeface="Arial"/>
                <a:cs typeface="Arial"/>
                <a:sym typeface="Arial"/>
              </a:rPr>
              <a:t> Makes scaling up or down seamless with minimal effort.</a:t>
            </a:r>
            <a:endParaRPr sz="1100" dirty="0">
              <a:latin typeface="Arial"/>
              <a:ea typeface="Arial"/>
              <a:cs typeface="Arial"/>
              <a:sym typeface="Arial"/>
            </a:endParaRPr>
          </a:p>
          <a:p>
            <a:pPr marL="457200" lvl="0" indent="-298450" algn="l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100"/>
              <a:buFont typeface="Arial"/>
              <a:buChar char="●"/>
            </a:pPr>
            <a:r>
              <a:rPr lang="en" sz="1100" b="1" dirty="0">
                <a:latin typeface="Arial"/>
                <a:ea typeface="Arial"/>
                <a:cs typeface="Arial"/>
                <a:sym typeface="Arial"/>
              </a:rPr>
              <a:t>Version Control:</a:t>
            </a:r>
            <a:r>
              <a:rPr lang="en" sz="1100" dirty="0">
                <a:latin typeface="Arial"/>
                <a:ea typeface="Arial"/>
                <a:cs typeface="Arial"/>
                <a:sym typeface="Arial"/>
              </a:rPr>
              <a:t> Infrastructure configurations can be managed like application code (Git, etc.).</a:t>
            </a:r>
            <a:endParaRPr sz="1100" dirty="0">
              <a:latin typeface="Arial"/>
              <a:ea typeface="Arial"/>
              <a:cs typeface="Arial"/>
              <a:sym typeface="Arial"/>
            </a:endParaRPr>
          </a:p>
          <a:p>
            <a:pPr marL="457200" lvl="0" indent="-298450" algn="l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100"/>
              <a:buFont typeface="Arial"/>
              <a:buChar char="●"/>
            </a:pPr>
            <a:r>
              <a:rPr lang="en" sz="1100" b="1" dirty="0">
                <a:latin typeface="Arial"/>
                <a:ea typeface="Arial"/>
                <a:cs typeface="Arial"/>
                <a:sym typeface="Arial"/>
              </a:rPr>
              <a:t>Collaboration:</a:t>
            </a:r>
            <a:r>
              <a:rPr lang="en" sz="1100" dirty="0">
                <a:latin typeface="Arial"/>
                <a:ea typeface="Arial"/>
                <a:cs typeface="Arial"/>
                <a:sym typeface="Arial"/>
              </a:rPr>
              <a:t> Teams can work together on infrastructure using familiar development workflows.</a:t>
            </a:r>
            <a:endParaRPr sz="1100" dirty="0">
              <a:latin typeface="Arial"/>
              <a:ea typeface="Arial"/>
              <a:cs typeface="Arial"/>
              <a:sym typeface="Arial"/>
            </a:endParaRPr>
          </a:p>
          <a:p>
            <a:pPr marL="457200" lvl="0" indent="-298450" algn="l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100"/>
              <a:buFont typeface="Arial"/>
              <a:buChar char="●"/>
            </a:pPr>
            <a:r>
              <a:rPr lang="en" sz="1100" b="1" dirty="0">
                <a:latin typeface="Arial"/>
                <a:ea typeface="Arial"/>
                <a:cs typeface="Arial"/>
                <a:sym typeface="Arial"/>
              </a:rPr>
              <a:t>Efficiency:</a:t>
            </a:r>
            <a:r>
              <a:rPr lang="en" sz="1100" dirty="0">
                <a:latin typeface="Arial"/>
                <a:ea typeface="Arial"/>
                <a:cs typeface="Arial"/>
                <a:sym typeface="Arial"/>
              </a:rPr>
              <a:t> Faster setup of environments and disaster recovery.</a:t>
            </a:r>
            <a:endParaRPr sz="1100" b="1" dirty="0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21"/>
          <p:cNvSpPr txBox="1">
            <a:spLocks noGrp="1"/>
          </p:cNvSpPr>
          <p:nvPr>
            <p:ph type="title"/>
          </p:nvPr>
        </p:nvSpPr>
        <p:spPr>
          <a:xfrm>
            <a:off x="512700" y="1893300"/>
            <a:ext cx="8118600" cy="1522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What is Terraform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22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613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What is Terraform</a:t>
            </a:r>
            <a:endParaRPr/>
          </a:p>
        </p:txBody>
      </p:sp>
      <p:sp>
        <p:nvSpPr>
          <p:cNvPr id="112" name="Google Shape;112;p22"/>
          <p:cNvSpPr txBox="1">
            <a:spLocks noGrp="1"/>
          </p:cNvSpPr>
          <p:nvPr>
            <p:ph type="body" idx="1"/>
          </p:nvPr>
        </p:nvSpPr>
        <p:spPr>
          <a:xfrm>
            <a:off x="311699" y="1171675"/>
            <a:ext cx="7893407" cy="3351339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285750" algn="l" rtl="0">
              <a:spcBef>
                <a:spcPts val="1200"/>
              </a:spcBef>
              <a:spcAft>
                <a:spcPts val="0"/>
              </a:spcAft>
              <a:buSzPts val="900"/>
              <a:buFont typeface="Arial"/>
              <a:buChar char="●"/>
            </a:pPr>
            <a:r>
              <a:rPr lang="en" sz="900" b="1" dirty="0">
                <a:latin typeface="Arial"/>
                <a:ea typeface="Arial"/>
                <a:cs typeface="Arial"/>
                <a:sym typeface="Arial"/>
              </a:rPr>
              <a:t>Terraform</a:t>
            </a:r>
            <a:r>
              <a:rPr lang="en" sz="900" dirty="0">
                <a:latin typeface="Arial"/>
                <a:ea typeface="Arial"/>
                <a:cs typeface="Arial"/>
                <a:sym typeface="Arial"/>
              </a:rPr>
              <a:t> is an open-source </a:t>
            </a:r>
            <a:r>
              <a:rPr lang="en" sz="900" b="1" dirty="0">
                <a:latin typeface="Arial"/>
                <a:ea typeface="Arial"/>
                <a:cs typeface="Arial"/>
                <a:sym typeface="Arial"/>
              </a:rPr>
              <a:t>Infrastructure as Code (IaC)</a:t>
            </a:r>
            <a:r>
              <a:rPr lang="en" sz="900" dirty="0">
                <a:latin typeface="Arial"/>
                <a:ea typeface="Arial"/>
                <a:cs typeface="Arial"/>
                <a:sym typeface="Arial"/>
              </a:rPr>
              <a:t> tool developed by </a:t>
            </a:r>
            <a:r>
              <a:rPr lang="en" sz="900" b="1" dirty="0">
                <a:latin typeface="Arial"/>
                <a:ea typeface="Arial"/>
                <a:cs typeface="Arial"/>
                <a:sym typeface="Arial"/>
              </a:rPr>
              <a:t>HashiCorp</a:t>
            </a:r>
            <a:r>
              <a:rPr lang="en" sz="900" dirty="0">
                <a:latin typeface="Arial"/>
                <a:ea typeface="Arial"/>
                <a:cs typeface="Arial"/>
                <a:sym typeface="Arial"/>
              </a:rPr>
              <a:t>, designed to automate the provisioning and management of cloud, on-premises, and hybrid infrastructure.</a:t>
            </a:r>
            <a:endParaRPr sz="900" dirty="0">
              <a:latin typeface="Arial"/>
              <a:ea typeface="Arial"/>
              <a:cs typeface="Arial"/>
              <a:sym typeface="Arial"/>
            </a:endParaRPr>
          </a:p>
          <a:p>
            <a:pPr marL="457200" lvl="0" indent="0" algn="l" rtl="0">
              <a:spcBef>
                <a:spcPts val="1200"/>
              </a:spcBef>
              <a:spcAft>
                <a:spcPts val="0"/>
              </a:spcAft>
              <a:buNone/>
            </a:pPr>
            <a:endParaRPr sz="900" dirty="0">
              <a:latin typeface="Arial"/>
              <a:ea typeface="Arial"/>
              <a:cs typeface="Arial"/>
              <a:sym typeface="Arial"/>
            </a:endParaRPr>
          </a:p>
          <a:p>
            <a:pPr marL="457200" lvl="0" indent="-285750" algn="l" rtl="0">
              <a:spcBef>
                <a:spcPts val="1200"/>
              </a:spcBef>
              <a:spcAft>
                <a:spcPts val="0"/>
              </a:spcAft>
              <a:buSzPts val="900"/>
              <a:buFont typeface="Arial"/>
              <a:buChar char="●"/>
            </a:pPr>
            <a:r>
              <a:rPr lang="en" sz="900" dirty="0">
                <a:latin typeface="Arial"/>
                <a:ea typeface="Arial"/>
                <a:cs typeface="Arial"/>
                <a:sym typeface="Arial"/>
              </a:rPr>
              <a:t>It enables </a:t>
            </a:r>
            <a:r>
              <a:rPr lang="en" sz="900" b="1" dirty="0">
                <a:latin typeface="Arial"/>
                <a:ea typeface="Arial"/>
                <a:cs typeface="Arial"/>
                <a:sym typeface="Arial"/>
              </a:rPr>
              <a:t>declarative configuration</a:t>
            </a:r>
            <a:r>
              <a:rPr lang="en" sz="900" dirty="0">
                <a:latin typeface="Arial"/>
                <a:ea typeface="Arial"/>
                <a:cs typeface="Arial"/>
                <a:sym typeface="Arial"/>
              </a:rPr>
              <a:t>, allowing users to define their desired infrastructure state using a simple, human-readable language called </a:t>
            </a:r>
            <a:r>
              <a:rPr lang="en" sz="900" b="1" dirty="0">
                <a:latin typeface="Arial"/>
                <a:ea typeface="Arial"/>
                <a:cs typeface="Arial"/>
                <a:sym typeface="Arial"/>
              </a:rPr>
              <a:t>HashiCorp Configuration Language (HCL)</a:t>
            </a:r>
            <a:r>
              <a:rPr lang="en" sz="900" dirty="0">
                <a:latin typeface="Arial"/>
                <a:ea typeface="Arial"/>
                <a:cs typeface="Arial"/>
                <a:sym typeface="Arial"/>
              </a:rPr>
              <a:t>.</a:t>
            </a:r>
            <a:endParaRPr sz="900" dirty="0">
              <a:latin typeface="Arial"/>
              <a:ea typeface="Arial"/>
              <a:cs typeface="Arial"/>
              <a:sym typeface="Arial"/>
            </a:endParaRPr>
          </a:p>
          <a:p>
            <a:pPr marL="457200" lvl="0" indent="0" algn="l" rtl="0">
              <a:spcBef>
                <a:spcPts val="1200"/>
              </a:spcBef>
              <a:spcAft>
                <a:spcPts val="0"/>
              </a:spcAft>
              <a:buNone/>
            </a:pPr>
            <a:endParaRPr sz="900" dirty="0">
              <a:latin typeface="Arial"/>
              <a:ea typeface="Arial"/>
              <a:cs typeface="Arial"/>
              <a:sym typeface="Arial"/>
            </a:endParaRPr>
          </a:p>
          <a:p>
            <a:pPr marL="457200" lvl="0" indent="-285750" algn="l" rtl="0">
              <a:spcBef>
                <a:spcPts val="1200"/>
              </a:spcBef>
              <a:spcAft>
                <a:spcPts val="0"/>
              </a:spcAft>
              <a:buSzPts val="900"/>
              <a:buFont typeface="Arial"/>
              <a:buChar char="●"/>
            </a:pPr>
            <a:r>
              <a:rPr lang="en" sz="900" dirty="0">
                <a:latin typeface="Arial"/>
                <a:ea typeface="Arial"/>
                <a:cs typeface="Arial"/>
                <a:sym typeface="Arial"/>
              </a:rPr>
              <a:t>Terraform is </a:t>
            </a:r>
            <a:r>
              <a:rPr lang="en" sz="900" b="1" dirty="0">
                <a:latin typeface="Arial"/>
                <a:ea typeface="Arial"/>
                <a:cs typeface="Arial"/>
                <a:sym typeface="Arial"/>
              </a:rPr>
              <a:t>provider-agnostic</a:t>
            </a:r>
            <a:r>
              <a:rPr lang="en" sz="900" dirty="0">
                <a:latin typeface="Arial"/>
                <a:ea typeface="Arial"/>
                <a:cs typeface="Arial"/>
                <a:sym typeface="Arial"/>
              </a:rPr>
              <a:t>, supporting major cloud platforms like AWS, Azure, Google Cloud, and on-prem solutions such as VMware or OpenStack.</a:t>
            </a:r>
            <a:endParaRPr sz="900" dirty="0">
              <a:latin typeface="Arial"/>
              <a:ea typeface="Arial"/>
              <a:cs typeface="Arial"/>
              <a:sym typeface="Arial"/>
            </a:endParaRPr>
          </a:p>
          <a:p>
            <a:pPr marL="457200" lvl="0" indent="0" algn="l" rtl="0">
              <a:spcBef>
                <a:spcPts val="1200"/>
              </a:spcBef>
              <a:spcAft>
                <a:spcPts val="0"/>
              </a:spcAft>
              <a:buNone/>
            </a:pPr>
            <a:endParaRPr sz="900" dirty="0">
              <a:latin typeface="Arial"/>
              <a:ea typeface="Arial"/>
              <a:cs typeface="Arial"/>
              <a:sym typeface="Arial"/>
            </a:endParaRPr>
          </a:p>
          <a:p>
            <a:pPr marL="457200" lvl="0" indent="-285750" algn="l" rtl="0">
              <a:spcBef>
                <a:spcPts val="1200"/>
              </a:spcBef>
              <a:spcAft>
                <a:spcPts val="0"/>
              </a:spcAft>
              <a:buSzPts val="900"/>
              <a:buFont typeface="Arial"/>
              <a:buChar char="●"/>
            </a:pPr>
            <a:r>
              <a:rPr lang="en" sz="900" dirty="0">
                <a:latin typeface="Arial"/>
                <a:ea typeface="Arial"/>
                <a:cs typeface="Arial"/>
                <a:sym typeface="Arial"/>
              </a:rPr>
              <a:t>By maintaining a </a:t>
            </a:r>
            <a:r>
              <a:rPr lang="en" sz="900" b="1" dirty="0">
                <a:latin typeface="Arial"/>
                <a:ea typeface="Arial"/>
                <a:cs typeface="Arial"/>
                <a:sym typeface="Arial"/>
              </a:rPr>
              <a:t>state file</a:t>
            </a:r>
            <a:r>
              <a:rPr lang="en" sz="900" dirty="0">
                <a:latin typeface="Arial"/>
                <a:ea typeface="Arial"/>
                <a:cs typeface="Arial"/>
                <a:sym typeface="Arial"/>
              </a:rPr>
              <a:t>, Terraform ensures that the infrastructure aligns with the defined configuration, making it easy to detect and reconcile changes.</a:t>
            </a:r>
            <a:endParaRPr sz="900" dirty="0">
              <a:latin typeface="Arial"/>
              <a:ea typeface="Arial"/>
              <a:cs typeface="Arial"/>
              <a:sym typeface="Arial"/>
            </a:endParaRPr>
          </a:p>
          <a:p>
            <a:pPr marL="457200" lvl="0" indent="0" algn="l" rtl="0">
              <a:spcBef>
                <a:spcPts val="1200"/>
              </a:spcBef>
              <a:spcAft>
                <a:spcPts val="1200"/>
              </a:spcAft>
              <a:buNone/>
            </a:pPr>
            <a:r>
              <a:rPr lang="en" sz="900" dirty="0">
                <a:latin typeface="Arial"/>
                <a:ea typeface="Arial"/>
                <a:cs typeface="Arial"/>
                <a:sym typeface="Arial"/>
              </a:rPr>
              <a:t>.</a:t>
            </a:r>
            <a:endParaRPr sz="1100" b="1" dirty="0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2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613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Terraform Lifecycle</a:t>
            </a:r>
            <a:endParaRPr/>
          </a:p>
        </p:txBody>
      </p:sp>
      <p:sp>
        <p:nvSpPr>
          <p:cNvPr id="140" name="Google Shape;140;p26"/>
          <p:cNvSpPr txBox="1">
            <a:spLocks noGrp="1"/>
          </p:cNvSpPr>
          <p:nvPr>
            <p:ph type="body" idx="1"/>
          </p:nvPr>
        </p:nvSpPr>
        <p:spPr>
          <a:xfrm>
            <a:off x="311700" y="946025"/>
            <a:ext cx="7440000" cy="3938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endParaRPr sz="1100" b="1" dirty="0">
              <a:latin typeface="Arial"/>
              <a:ea typeface="Arial"/>
              <a:cs typeface="Arial"/>
              <a:sym typeface="Arial"/>
            </a:endParaRPr>
          </a:p>
          <a:p>
            <a:pPr marL="457200" lvl="0" indent="-298450" algn="l" rtl="0">
              <a:spcBef>
                <a:spcPts val="1200"/>
              </a:spcBef>
              <a:spcAft>
                <a:spcPts val="0"/>
              </a:spcAft>
              <a:buSzPts val="1100"/>
              <a:buFont typeface="Arial"/>
              <a:buAutoNum type="arabicPeriod"/>
            </a:pPr>
            <a:r>
              <a:rPr lang="en" sz="1100" b="1" dirty="0">
                <a:latin typeface="Arial"/>
                <a:ea typeface="Arial"/>
                <a:cs typeface="Arial"/>
                <a:sym typeface="Arial"/>
              </a:rPr>
              <a:t>Write Configuration</a:t>
            </a:r>
            <a:endParaRPr sz="1100" b="1" dirty="0">
              <a:latin typeface="Arial"/>
              <a:ea typeface="Arial"/>
              <a:cs typeface="Arial"/>
              <a:sym typeface="Arial"/>
            </a:endParaRPr>
          </a:p>
          <a:p>
            <a:pPr marL="914400" lvl="1" indent="-298450" algn="l" rtl="0">
              <a:spcBef>
                <a:spcPts val="0"/>
              </a:spcBef>
              <a:spcAft>
                <a:spcPts val="0"/>
              </a:spcAft>
              <a:buSzPts val="1100"/>
              <a:buFont typeface="Arial"/>
              <a:buChar char="○"/>
            </a:pPr>
            <a:r>
              <a:rPr lang="en" sz="1100" dirty="0">
                <a:latin typeface="Arial"/>
                <a:ea typeface="Arial"/>
                <a:cs typeface="Arial"/>
                <a:sym typeface="Arial"/>
              </a:rPr>
              <a:t>Users define the desired infrastructure in </a:t>
            </a:r>
            <a:r>
              <a:rPr lang="en" sz="1100" dirty="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.tf</a:t>
            </a:r>
            <a:r>
              <a:rPr lang="en" sz="1100" dirty="0">
                <a:latin typeface="Arial"/>
                <a:ea typeface="Arial"/>
                <a:cs typeface="Arial"/>
                <a:sym typeface="Arial"/>
              </a:rPr>
              <a:t> files using </a:t>
            </a:r>
            <a:r>
              <a:rPr lang="en" sz="1100" b="1" dirty="0">
                <a:latin typeface="Arial"/>
                <a:ea typeface="Arial"/>
                <a:cs typeface="Arial"/>
                <a:sym typeface="Arial"/>
              </a:rPr>
              <a:t>HCL (HashiCorp Configuration Language)</a:t>
            </a:r>
            <a:r>
              <a:rPr lang="en" sz="1100" dirty="0">
                <a:latin typeface="Arial"/>
                <a:ea typeface="Arial"/>
                <a:cs typeface="Arial"/>
                <a:sym typeface="Arial"/>
              </a:rPr>
              <a:t>.</a:t>
            </a:r>
            <a:endParaRPr sz="1100" dirty="0">
              <a:latin typeface="Arial"/>
              <a:ea typeface="Arial"/>
              <a:cs typeface="Arial"/>
              <a:sym typeface="Arial"/>
            </a:endParaRPr>
          </a:p>
          <a:p>
            <a:pPr marL="914400" lvl="1" indent="-298450" algn="l" rtl="0">
              <a:spcBef>
                <a:spcPts val="0"/>
              </a:spcBef>
              <a:spcAft>
                <a:spcPts val="0"/>
              </a:spcAft>
              <a:buSzPts val="1100"/>
              <a:buFont typeface="Arial"/>
              <a:buChar char="○"/>
            </a:pPr>
            <a:r>
              <a:rPr lang="en" sz="1100" dirty="0">
                <a:latin typeface="Arial"/>
                <a:ea typeface="Arial"/>
                <a:cs typeface="Arial"/>
                <a:sym typeface="Arial"/>
              </a:rPr>
              <a:t>Configurations specify resources, dependencies, and parameters like instance types, regions, and networks.</a:t>
            </a:r>
            <a:endParaRPr sz="1100" dirty="0">
              <a:latin typeface="Arial"/>
              <a:ea typeface="Arial"/>
              <a:cs typeface="Arial"/>
              <a:sym typeface="Arial"/>
            </a:endParaRPr>
          </a:p>
          <a:p>
            <a:pPr marL="457200" lvl="0" indent="-298450" algn="l" rtl="0">
              <a:spcBef>
                <a:spcPts val="0"/>
              </a:spcBef>
              <a:spcAft>
                <a:spcPts val="0"/>
              </a:spcAft>
              <a:buSzPts val="1100"/>
              <a:buFont typeface="Arial"/>
              <a:buAutoNum type="arabicPeriod"/>
            </a:pPr>
            <a:r>
              <a:rPr lang="en" sz="1100" b="1" dirty="0">
                <a:latin typeface="Arial"/>
                <a:ea typeface="Arial"/>
                <a:cs typeface="Arial"/>
                <a:sym typeface="Arial"/>
              </a:rPr>
              <a:t>Initialize (</a:t>
            </a:r>
            <a:r>
              <a:rPr lang="en" sz="1100" b="1" dirty="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terraform init</a:t>
            </a:r>
            <a:r>
              <a:rPr lang="en" sz="1100" b="1" dirty="0">
                <a:latin typeface="Arial"/>
                <a:ea typeface="Arial"/>
                <a:cs typeface="Arial"/>
                <a:sym typeface="Arial"/>
              </a:rPr>
              <a:t>)</a:t>
            </a:r>
            <a:endParaRPr sz="1100" b="1" dirty="0">
              <a:latin typeface="Arial"/>
              <a:ea typeface="Arial"/>
              <a:cs typeface="Arial"/>
              <a:sym typeface="Arial"/>
            </a:endParaRPr>
          </a:p>
          <a:p>
            <a:pPr marL="914400" lvl="1" indent="-298450" algn="l" rtl="0">
              <a:spcBef>
                <a:spcPts val="0"/>
              </a:spcBef>
              <a:spcAft>
                <a:spcPts val="0"/>
              </a:spcAft>
              <a:buSzPts val="1100"/>
              <a:buFont typeface="Arial"/>
              <a:buChar char="○"/>
            </a:pPr>
            <a:r>
              <a:rPr lang="en" sz="1100" dirty="0">
                <a:latin typeface="Arial"/>
                <a:ea typeface="Arial"/>
                <a:cs typeface="Arial"/>
                <a:sym typeface="Arial"/>
              </a:rPr>
              <a:t>Terraform downloads necessary provider plugins to interact with the specified infrastructure platforms (e.g., AWS, Azure, GCP).</a:t>
            </a:r>
            <a:endParaRPr sz="1100" dirty="0">
              <a:latin typeface="Arial"/>
              <a:ea typeface="Arial"/>
              <a:cs typeface="Arial"/>
              <a:sym typeface="Arial"/>
            </a:endParaRPr>
          </a:p>
          <a:p>
            <a:pPr marL="457200" lvl="0" indent="-298450" algn="l" rtl="0">
              <a:spcBef>
                <a:spcPts val="0"/>
              </a:spcBef>
              <a:spcAft>
                <a:spcPts val="0"/>
              </a:spcAft>
              <a:buSzPts val="1100"/>
              <a:buFont typeface="Arial"/>
              <a:buAutoNum type="arabicPeriod"/>
            </a:pPr>
            <a:r>
              <a:rPr lang="en" sz="1100" b="1" dirty="0">
                <a:latin typeface="Arial"/>
                <a:ea typeface="Arial"/>
                <a:cs typeface="Arial"/>
                <a:sym typeface="Arial"/>
              </a:rPr>
              <a:t>Plan (</a:t>
            </a:r>
            <a:r>
              <a:rPr lang="en" sz="1100" b="1" dirty="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terraform plan</a:t>
            </a:r>
            <a:r>
              <a:rPr lang="en" sz="1100" b="1" dirty="0">
                <a:latin typeface="Arial"/>
                <a:ea typeface="Arial"/>
                <a:cs typeface="Arial"/>
                <a:sym typeface="Arial"/>
              </a:rPr>
              <a:t>)</a:t>
            </a:r>
            <a:endParaRPr sz="1100" b="1" dirty="0">
              <a:latin typeface="Arial"/>
              <a:ea typeface="Arial"/>
              <a:cs typeface="Arial"/>
              <a:sym typeface="Arial"/>
            </a:endParaRPr>
          </a:p>
          <a:p>
            <a:pPr marL="914400" lvl="1" indent="-298450" algn="l" rtl="0">
              <a:spcBef>
                <a:spcPts val="0"/>
              </a:spcBef>
              <a:spcAft>
                <a:spcPts val="0"/>
              </a:spcAft>
              <a:buSzPts val="1100"/>
              <a:buFont typeface="Arial"/>
              <a:buChar char="○"/>
            </a:pPr>
            <a:r>
              <a:rPr lang="en" sz="1100" dirty="0">
                <a:latin typeface="Arial"/>
                <a:ea typeface="Arial"/>
                <a:cs typeface="Arial"/>
                <a:sym typeface="Arial"/>
              </a:rPr>
              <a:t>Terraform compares the desired state defined in the configuration files against the current state in the </a:t>
            </a:r>
            <a:r>
              <a:rPr lang="en" sz="1100" b="1" dirty="0">
                <a:latin typeface="Arial"/>
                <a:ea typeface="Arial"/>
                <a:cs typeface="Arial"/>
                <a:sym typeface="Arial"/>
              </a:rPr>
              <a:t>state file</a:t>
            </a:r>
            <a:r>
              <a:rPr lang="en" sz="1100" dirty="0">
                <a:latin typeface="Arial"/>
                <a:ea typeface="Arial"/>
                <a:cs typeface="Arial"/>
                <a:sym typeface="Arial"/>
              </a:rPr>
              <a:t>.</a:t>
            </a:r>
            <a:endParaRPr sz="1100" dirty="0">
              <a:latin typeface="Arial"/>
              <a:ea typeface="Arial"/>
              <a:cs typeface="Arial"/>
              <a:sym typeface="Arial"/>
            </a:endParaRPr>
          </a:p>
          <a:p>
            <a:pPr marL="914400" lvl="1" indent="-298450" algn="l" rtl="0">
              <a:spcBef>
                <a:spcPts val="0"/>
              </a:spcBef>
              <a:spcAft>
                <a:spcPts val="0"/>
              </a:spcAft>
              <a:buSzPts val="1100"/>
              <a:buFont typeface="Arial"/>
              <a:buChar char="○"/>
            </a:pPr>
            <a:r>
              <a:rPr lang="en" sz="1100" dirty="0">
                <a:latin typeface="Arial"/>
                <a:ea typeface="Arial"/>
                <a:cs typeface="Arial"/>
                <a:sym typeface="Arial"/>
              </a:rPr>
              <a:t>It generates an execution plan showing what changes (create, update, delete) will be made to achieve the desired state.</a:t>
            </a:r>
            <a:endParaRPr sz="1100" dirty="0">
              <a:latin typeface="Arial"/>
              <a:ea typeface="Arial"/>
              <a:cs typeface="Arial"/>
              <a:sym typeface="Arial"/>
            </a:endParaRPr>
          </a:p>
          <a:p>
            <a:pPr marL="457200" lvl="0" indent="-298450" algn="l" rtl="0">
              <a:spcBef>
                <a:spcPts val="0"/>
              </a:spcBef>
              <a:spcAft>
                <a:spcPts val="0"/>
              </a:spcAft>
              <a:buSzPts val="1100"/>
              <a:buFont typeface="Arial"/>
              <a:buAutoNum type="arabicPeriod"/>
            </a:pPr>
            <a:r>
              <a:rPr lang="en" sz="1100" b="1" dirty="0">
                <a:latin typeface="Arial"/>
                <a:ea typeface="Arial"/>
                <a:cs typeface="Arial"/>
                <a:sym typeface="Arial"/>
              </a:rPr>
              <a:t>Apply (</a:t>
            </a:r>
            <a:r>
              <a:rPr lang="en" sz="1100" b="1" dirty="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terraform apply</a:t>
            </a:r>
            <a:r>
              <a:rPr lang="en" sz="1100" b="1" dirty="0">
                <a:latin typeface="Arial"/>
                <a:ea typeface="Arial"/>
                <a:cs typeface="Arial"/>
                <a:sym typeface="Arial"/>
              </a:rPr>
              <a:t>)</a:t>
            </a:r>
            <a:endParaRPr sz="1100" b="1" dirty="0">
              <a:latin typeface="Arial"/>
              <a:ea typeface="Arial"/>
              <a:cs typeface="Arial"/>
              <a:sym typeface="Arial"/>
            </a:endParaRPr>
          </a:p>
          <a:p>
            <a:pPr marL="914400" lvl="1" indent="-298450" algn="l" rtl="0">
              <a:spcBef>
                <a:spcPts val="0"/>
              </a:spcBef>
              <a:spcAft>
                <a:spcPts val="0"/>
              </a:spcAft>
              <a:buSzPts val="1100"/>
              <a:buFont typeface="Arial"/>
              <a:buChar char="○"/>
            </a:pPr>
            <a:r>
              <a:rPr lang="en" sz="1100" dirty="0">
                <a:latin typeface="Arial"/>
                <a:ea typeface="Arial"/>
                <a:cs typeface="Arial"/>
                <a:sym typeface="Arial"/>
              </a:rPr>
              <a:t>Executes the plan, creating, updating, or deleting resources to match the desired state.</a:t>
            </a:r>
            <a:endParaRPr sz="1100" dirty="0">
              <a:latin typeface="Arial"/>
              <a:ea typeface="Arial"/>
              <a:cs typeface="Arial"/>
              <a:sym typeface="Arial"/>
            </a:endParaRPr>
          </a:p>
          <a:p>
            <a:pPr marL="914400" lvl="1" indent="-298450" algn="l" rtl="0">
              <a:spcBef>
                <a:spcPts val="0"/>
              </a:spcBef>
              <a:spcAft>
                <a:spcPts val="0"/>
              </a:spcAft>
              <a:buSzPts val="1100"/>
              <a:buFont typeface="Arial"/>
              <a:buChar char="○"/>
            </a:pPr>
            <a:r>
              <a:rPr lang="en" sz="1100" dirty="0">
                <a:latin typeface="Arial"/>
                <a:ea typeface="Arial"/>
                <a:cs typeface="Arial"/>
                <a:sym typeface="Arial"/>
              </a:rPr>
              <a:t>After applying changes, Terraform updates the state file to reflect the new current state.</a:t>
            </a:r>
            <a:endParaRPr sz="1100" dirty="0">
              <a:latin typeface="Arial"/>
              <a:ea typeface="Arial"/>
              <a:cs typeface="Arial"/>
              <a:sym typeface="Arial"/>
            </a:endParaRPr>
          </a:p>
          <a:p>
            <a:pPr marL="457200" lvl="0" indent="-298450" algn="l" rtl="0">
              <a:spcBef>
                <a:spcPts val="0"/>
              </a:spcBef>
              <a:spcAft>
                <a:spcPts val="0"/>
              </a:spcAft>
              <a:buSzPts val="1100"/>
              <a:buFont typeface="Arial"/>
              <a:buAutoNum type="arabicPeriod"/>
            </a:pPr>
            <a:r>
              <a:rPr lang="en" sz="1100" b="1" dirty="0">
                <a:latin typeface="Arial"/>
                <a:ea typeface="Arial"/>
                <a:cs typeface="Arial"/>
                <a:sym typeface="Arial"/>
              </a:rPr>
              <a:t>Destroy (</a:t>
            </a:r>
            <a:r>
              <a:rPr lang="en" sz="1100" b="1" dirty="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terraform destroy</a:t>
            </a:r>
            <a:r>
              <a:rPr lang="en" sz="1100" b="1" dirty="0">
                <a:latin typeface="Arial"/>
                <a:ea typeface="Arial"/>
                <a:cs typeface="Arial"/>
                <a:sym typeface="Arial"/>
              </a:rPr>
              <a:t>)</a:t>
            </a:r>
            <a:endParaRPr sz="1100" b="1" dirty="0">
              <a:latin typeface="Arial"/>
              <a:ea typeface="Arial"/>
              <a:cs typeface="Arial"/>
              <a:sym typeface="Arial"/>
            </a:endParaRPr>
          </a:p>
          <a:p>
            <a:pPr marL="914400" lvl="1" indent="-298450" algn="l" rtl="0">
              <a:spcBef>
                <a:spcPts val="0"/>
              </a:spcBef>
              <a:spcAft>
                <a:spcPts val="0"/>
              </a:spcAft>
              <a:buSzPts val="1100"/>
              <a:buFont typeface="Arial"/>
              <a:buChar char="○"/>
            </a:pPr>
            <a:r>
              <a:rPr lang="en" sz="1100" dirty="0">
                <a:latin typeface="Arial"/>
                <a:ea typeface="Arial"/>
                <a:cs typeface="Arial"/>
                <a:sym typeface="Arial"/>
              </a:rPr>
              <a:t>Deletes all resources defined in the configuration file, ensuring infrastructure cleanup.</a:t>
            </a:r>
            <a:endParaRPr sz="1100" dirty="0"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endParaRPr sz="1100" dirty="0">
              <a:latin typeface="Arial"/>
              <a:ea typeface="Arial"/>
              <a:cs typeface="Arial"/>
              <a:sym typeface="Arial"/>
            </a:endParaRPr>
          </a:p>
          <a:p>
            <a:pPr marL="457200" lvl="0" indent="0" algn="l" rtl="0">
              <a:spcBef>
                <a:spcPts val="1200"/>
              </a:spcBef>
              <a:spcAft>
                <a:spcPts val="1200"/>
              </a:spcAft>
              <a:buNone/>
            </a:pPr>
            <a:r>
              <a:rPr lang="en" sz="900" dirty="0">
                <a:latin typeface="Arial"/>
                <a:ea typeface="Arial"/>
                <a:cs typeface="Arial"/>
                <a:sym typeface="Arial"/>
              </a:rPr>
              <a:t>.</a:t>
            </a:r>
            <a:endParaRPr sz="1100" b="1" dirty="0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27"/>
          <p:cNvSpPr txBox="1">
            <a:spLocks noGrp="1"/>
          </p:cNvSpPr>
          <p:nvPr>
            <p:ph type="title"/>
          </p:nvPr>
        </p:nvSpPr>
        <p:spPr>
          <a:xfrm>
            <a:off x="265500" y="1382350"/>
            <a:ext cx="4045200" cy="1333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Setting up Terraform</a:t>
            </a:r>
            <a:endParaRPr/>
          </a:p>
        </p:txBody>
      </p:sp>
      <p:sp>
        <p:nvSpPr>
          <p:cNvPr id="146" name="Google Shape;146;p27"/>
          <p:cNvSpPr txBox="1">
            <a:spLocks noGrp="1"/>
          </p:cNvSpPr>
          <p:nvPr>
            <p:ph type="body" idx="2"/>
          </p:nvPr>
        </p:nvSpPr>
        <p:spPr>
          <a:xfrm>
            <a:off x="4939500" y="-139375"/>
            <a:ext cx="3837000" cy="5110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457200" lvl="0" indent="-311150" algn="l" rtl="0">
              <a:spcBef>
                <a:spcPts val="0"/>
              </a:spcBef>
              <a:spcAft>
                <a:spcPts val="1600"/>
              </a:spcAft>
              <a:buSzPts val="1300"/>
              <a:buChar char="●"/>
            </a:pPr>
            <a:r>
              <a:rPr lang="en" sz="1300"/>
              <a:t>Terraform Installation</a:t>
            </a:r>
            <a:endParaRPr sz="130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p28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613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Terraform Installation</a:t>
            </a:r>
            <a:endParaRPr/>
          </a:p>
        </p:txBody>
      </p:sp>
      <p:sp>
        <p:nvSpPr>
          <p:cNvPr id="152" name="Google Shape;152;p28"/>
          <p:cNvSpPr txBox="1">
            <a:spLocks noGrp="1"/>
          </p:cNvSpPr>
          <p:nvPr>
            <p:ph type="body" idx="1"/>
          </p:nvPr>
        </p:nvSpPr>
        <p:spPr>
          <a:xfrm>
            <a:off x="311700" y="946025"/>
            <a:ext cx="7440000" cy="3938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endParaRPr sz="1100" b="1" dirty="0"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100" dirty="0">
                <a:latin typeface="Arial"/>
                <a:ea typeface="Arial"/>
                <a:cs typeface="Arial"/>
                <a:sym typeface="Arial"/>
              </a:rPr>
              <a:t>Terraform installation is fairly easy process, Terraform can be installed using official binary from below link:</a:t>
            </a:r>
            <a:br>
              <a:rPr lang="en" sz="1100" b="1" dirty="0">
                <a:latin typeface="Arial"/>
                <a:ea typeface="Arial"/>
                <a:cs typeface="Arial"/>
                <a:sym typeface="Arial"/>
              </a:rPr>
            </a:br>
            <a:r>
              <a:rPr lang="en" sz="1100" b="1" dirty="0">
                <a:latin typeface="Arial"/>
                <a:ea typeface="Arial"/>
                <a:cs typeface="Arial"/>
                <a:sym typeface="Arial"/>
              </a:rPr>
              <a:t>https://developer.hashicorp.com/terraform/tutorials/aws-get-started/install-cli </a:t>
            </a:r>
            <a:endParaRPr sz="1100" dirty="0">
              <a:latin typeface="Arial"/>
              <a:ea typeface="Arial"/>
              <a:cs typeface="Arial"/>
              <a:sym typeface="Arial"/>
            </a:endParaRPr>
          </a:p>
          <a:p>
            <a:pPr marL="457200" lvl="0" indent="0" algn="l" rtl="0">
              <a:spcBef>
                <a:spcPts val="1200"/>
              </a:spcBef>
              <a:spcAft>
                <a:spcPts val="1200"/>
              </a:spcAft>
              <a:buNone/>
            </a:pPr>
            <a:r>
              <a:rPr lang="en" sz="900" dirty="0">
                <a:latin typeface="Arial"/>
                <a:ea typeface="Arial"/>
                <a:cs typeface="Arial"/>
                <a:sym typeface="Arial"/>
              </a:rPr>
              <a:t>.</a:t>
            </a:r>
            <a:endParaRPr sz="1100" b="1" dirty="0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p29"/>
          <p:cNvSpPr txBox="1">
            <a:spLocks noGrp="1"/>
          </p:cNvSpPr>
          <p:nvPr>
            <p:ph type="title"/>
          </p:nvPr>
        </p:nvSpPr>
        <p:spPr>
          <a:xfrm>
            <a:off x="265500" y="1382350"/>
            <a:ext cx="4045200" cy="1333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Basics of Terraform</a:t>
            </a:r>
            <a:endParaRPr/>
          </a:p>
        </p:txBody>
      </p:sp>
      <p:sp>
        <p:nvSpPr>
          <p:cNvPr id="158" name="Google Shape;158;p29"/>
          <p:cNvSpPr txBox="1">
            <a:spLocks noGrp="1"/>
          </p:cNvSpPr>
          <p:nvPr>
            <p:ph type="body" idx="2"/>
          </p:nvPr>
        </p:nvSpPr>
        <p:spPr>
          <a:xfrm>
            <a:off x="4939500" y="-139375"/>
            <a:ext cx="3837000" cy="5110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457200" lvl="0" indent="-311150" algn="l" rtl="0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 sz="1300"/>
              <a:t>Terraform File structure</a:t>
            </a:r>
            <a:endParaRPr sz="1300"/>
          </a:p>
          <a:p>
            <a:pPr marL="457200" lvl="0" indent="-311150" algn="l" rtl="0">
              <a:spcBef>
                <a:spcPts val="1600"/>
              </a:spcBef>
              <a:spcAft>
                <a:spcPts val="1600"/>
              </a:spcAft>
              <a:buSzPts val="1300"/>
              <a:buChar char="●"/>
            </a:pPr>
            <a:r>
              <a:rPr lang="en" sz="1300"/>
              <a:t>Terraform use cases</a:t>
            </a:r>
            <a:endParaRPr sz="130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p30"/>
          <p:cNvSpPr txBox="1">
            <a:spLocks noGrp="1"/>
          </p:cNvSpPr>
          <p:nvPr>
            <p:ph type="title"/>
          </p:nvPr>
        </p:nvSpPr>
        <p:spPr>
          <a:xfrm>
            <a:off x="265500" y="1382350"/>
            <a:ext cx="4045200" cy="1333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Terraform Inputs/Outputs</a:t>
            </a:r>
            <a:endParaRPr/>
          </a:p>
        </p:txBody>
      </p:sp>
      <p:sp>
        <p:nvSpPr>
          <p:cNvPr id="164" name="Google Shape;164;p30"/>
          <p:cNvSpPr txBox="1">
            <a:spLocks noGrp="1"/>
          </p:cNvSpPr>
          <p:nvPr>
            <p:ph type="body" idx="2"/>
          </p:nvPr>
        </p:nvSpPr>
        <p:spPr>
          <a:xfrm>
            <a:off x="4939500" y="-139375"/>
            <a:ext cx="3837000" cy="5110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457200" lvl="0" indent="-311150" algn="l" rtl="0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 sz="1300"/>
              <a:t>Terraform Variables</a:t>
            </a:r>
            <a:endParaRPr sz="1300"/>
          </a:p>
          <a:p>
            <a:pPr marL="457200" lvl="0" indent="-311150" algn="l" rtl="0">
              <a:spcBef>
                <a:spcPts val="1600"/>
              </a:spcBef>
              <a:spcAft>
                <a:spcPts val="0"/>
              </a:spcAft>
              <a:buSzPts val="1300"/>
              <a:buChar char="●"/>
            </a:pPr>
            <a:r>
              <a:rPr lang="en" sz="1300"/>
              <a:t>Passing Variable Values</a:t>
            </a:r>
            <a:endParaRPr sz="1300"/>
          </a:p>
          <a:p>
            <a:pPr marL="457200" lvl="0" indent="-311150" algn="l" rtl="0">
              <a:spcBef>
                <a:spcPts val="1600"/>
              </a:spcBef>
              <a:spcAft>
                <a:spcPts val="1600"/>
              </a:spcAft>
              <a:buSzPts val="1300"/>
              <a:buChar char="●"/>
            </a:pPr>
            <a:r>
              <a:rPr lang="en" sz="1300"/>
              <a:t>Terraform outputs</a:t>
            </a:r>
            <a:endParaRPr sz="130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3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613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Terraform Variables</a:t>
            </a:r>
            <a:endParaRPr/>
          </a:p>
        </p:txBody>
      </p:sp>
      <p:sp>
        <p:nvSpPr>
          <p:cNvPr id="170" name="Google Shape;170;p31"/>
          <p:cNvSpPr txBox="1">
            <a:spLocks noGrp="1"/>
          </p:cNvSpPr>
          <p:nvPr>
            <p:ph type="body" idx="1"/>
          </p:nvPr>
        </p:nvSpPr>
        <p:spPr>
          <a:xfrm>
            <a:off x="311700" y="946025"/>
            <a:ext cx="7440000" cy="3938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endParaRPr sz="1100" b="1"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100">
                <a:latin typeface="Arial"/>
                <a:ea typeface="Arial"/>
                <a:cs typeface="Arial"/>
                <a:sym typeface="Arial"/>
              </a:rPr>
              <a:t>Variables are placeholders for values that are passed into Terraform configurations.</a:t>
            </a:r>
            <a:endParaRPr sz="1100">
              <a:latin typeface="Arial"/>
              <a:ea typeface="Arial"/>
              <a:cs typeface="Arial"/>
              <a:sym typeface="Arial"/>
            </a:endParaRPr>
          </a:p>
          <a:p>
            <a:pPr marL="457200" lvl="0" indent="-22860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100">
                <a:latin typeface="Arial"/>
                <a:ea typeface="Arial"/>
                <a:cs typeface="Arial"/>
                <a:sym typeface="Arial"/>
              </a:rPr>
              <a:t>Benefits of using variables:</a:t>
            </a:r>
            <a:endParaRPr sz="1100">
              <a:latin typeface="Arial"/>
              <a:ea typeface="Arial"/>
              <a:cs typeface="Arial"/>
              <a:sym typeface="Arial"/>
            </a:endParaRPr>
          </a:p>
          <a:p>
            <a:pPr marL="457200" lvl="0" indent="-298450" algn="l" rtl="0">
              <a:spcBef>
                <a:spcPts val="1200"/>
              </a:spcBef>
              <a:spcAft>
                <a:spcPts val="0"/>
              </a:spcAft>
              <a:buSzPts val="1100"/>
              <a:buFont typeface="Arial"/>
              <a:buChar char="●"/>
            </a:pPr>
            <a:r>
              <a:rPr lang="en" sz="1100">
                <a:latin typeface="Arial"/>
                <a:ea typeface="Arial"/>
                <a:cs typeface="Arial"/>
                <a:sym typeface="Arial"/>
              </a:rPr>
              <a:t>Makes configurations </a:t>
            </a:r>
            <a:r>
              <a:rPr lang="en" sz="1100" b="1">
                <a:latin typeface="Arial"/>
                <a:ea typeface="Arial"/>
                <a:cs typeface="Arial"/>
                <a:sym typeface="Arial"/>
              </a:rPr>
              <a:t>dynamic</a:t>
            </a:r>
            <a:r>
              <a:rPr lang="en" sz="1100">
                <a:latin typeface="Arial"/>
                <a:ea typeface="Arial"/>
                <a:cs typeface="Arial"/>
                <a:sym typeface="Arial"/>
              </a:rPr>
              <a:t> and </a:t>
            </a:r>
            <a:r>
              <a:rPr lang="en" sz="1100" b="1">
                <a:latin typeface="Arial"/>
                <a:ea typeface="Arial"/>
                <a:cs typeface="Arial"/>
                <a:sym typeface="Arial"/>
              </a:rPr>
              <a:t>reusable</a:t>
            </a:r>
            <a:r>
              <a:rPr lang="en" sz="1100">
                <a:latin typeface="Arial"/>
                <a:ea typeface="Arial"/>
                <a:cs typeface="Arial"/>
                <a:sym typeface="Arial"/>
              </a:rPr>
              <a:t>.</a:t>
            </a:r>
            <a:endParaRPr sz="1100">
              <a:latin typeface="Arial"/>
              <a:ea typeface="Arial"/>
              <a:cs typeface="Arial"/>
              <a:sym typeface="Arial"/>
            </a:endParaRPr>
          </a:p>
          <a:p>
            <a:pPr marL="457200" lvl="0" indent="-298450" algn="l" rtl="0">
              <a:spcBef>
                <a:spcPts val="0"/>
              </a:spcBef>
              <a:spcAft>
                <a:spcPts val="0"/>
              </a:spcAft>
              <a:buSzPts val="1100"/>
              <a:buFont typeface="Arial"/>
              <a:buChar char="●"/>
            </a:pPr>
            <a:r>
              <a:rPr lang="en" sz="1100">
                <a:latin typeface="Arial"/>
                <a:ea typeface="Arial"/>
                <a:cs typeface="Arial"/>
                <a:sym typeface="Arial"/>
              </a:rPr>
              <a:t>Simplifies updates by avoiding hard-coded values.</a:t>
            </a:r>
            <a:endParaRPr sz="1100">
              <a:latin typeface="Arial"/>
              <a:ea typeface="Arial"/>
              <a:cs typeface="Arial"/>
              <a:sym typeface="Arial"/>
            </a:endParaRPr>
          </a:p>
          <a:p>
            <a:pPr marL="457200" lvl="0" indent="-298450" algn="l" rtl="0">
              <a:spcBef>
                <a:spcPts val="0"/>
              </a:spcBef>
              <a:spcAft>
                <a:spcPts val="0"/>
              </a:spcAft>
              <a:buSzPts val="1100"/>
              <a:buFont typeface="Arial"/>
              <a:buChar char="●"/>
            </a:pPr>
            <a:r>
              <a:rPr lang="en" sz="1100">
                <a:latin typeface="Arial"/>
                <a:ea typeface="Arial"/>
                <a:cs typeface="Arial"/>
                <a:sym typeface="Arial"/>
              </a:rPr>
              <a:t>Improves collaboration by abstracting sensitive or environment-specific details.</a:t>
            </a:r>
            <a:endParaRPr sz="1100"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100" b="1">
                <a:latin typeface="Arial"/>
                <a:ea typeface="Arial"/>
                <a:cs typeface="Arial"/>
                <a:sym typeface="Arial"/>
              </a:rPr>
              <a:t>Types of Variables</a:t>
            </a:r>
            <a:r>
              <a:rPr lang="en" sz="1100">
                <a:latin typeface="Arial"/>
                <a:ea typeface="Arial"/>
                <a:cs typeface="Arial"/>
                <a:sym typeface="Arial"/>
              </a:rPr>
              <a:t>:</a:t>
            </a:r>
            <a:endParaRPr sz="1100">
              <a:latin typeface="Arial"/>
              <a:ea typeface="Arial"/>
              <a:cs typeface="Arial"/>
              <a:sym typeface="Arial"/>
            </a:endParaRPr>
          </a:p>
          <a:p>
            <a:pPr marL="457200" lvl="0" indent="-298450" algn="l" rtl="0">
              <a:spcBef>
                <a:spcPts val="1200"/>
              </a:spcBef>
              <a:spcAft>
                <a:spcPts val="0"/>
              </a:spcAft>
              <a:buSzPts val="1100"/>
              <a:buFont typeface="Arial"/>
              <a:buChar char="●"/>
            </a:pPr>
            <a:r>
              <a:rPr lang="en" sz="1100" b="1">
                <a:latin typeface="Arial"/>
                <a:ea typeface="Arial"/>
                <a:cs typeface="Arial"/>
                <a:sym typeface="Arial"/>
              </a:rPr>
              <a:t>String</a:t>
            </a:r>
            <a:r>
              <a:rPr lang="en" sz="1100">
                <a:latin typeface="Arial"/>
                <a:ea typeface="Arial"/>
                <a:cs typeface="Arial"/>
                <a:sym typeface="Arial"/>
              </a:rPr>
              <a:t>: Single line of text.</a:t>
            </a:r>
            <a:endParaRPr sz="1100">
              <a:latin typeface="Arial"/>
              <a:ea typeface="Arial"/>
              <a:cs typeface="Arial"/>
              <a:sym typeface="Arial"/>
            </a:endParaRPr>
          </a:p>
          <a:p>
            <a:pPr marL="457200" lvl="0" indent="-298450" algn="l" rtl="0">
              <a:spcBef>
                <a:spcPts val="0"/>
              </a:spcBef>
              <a:spcAft>
                <a:spcPts val="0"/>
              </a:spcAft>
              <a:buSzPts val="1100"/>
              <a:buFont typeface="Arial"/>
              <a:buChar char="●"/>
            </a:pPr>
            <a:r>
              <a:rPr lang="en" sz="1100" b="1">
                <a:latin typeface="Arial"/>
                <a:ea typeface="Arial"/>
                <a:cs typeface="Arial"/>
                <a:sym typeface="Arial"/>
              </a:rPr>
              <a:t>Number</a:t>
            </a:r>
            <a:r>
              <a:rPr lang="en" sz="1100">
                <a:latin typeface="Arial"/>
                <a:ea typeface="Arial"/>
                <a:cs typeface="Arial"/>
                <a:sym typeface="Arial"/>
              </a:rPr>
              <a:t>: Numeric values.</a:t>
            </a:r>
            <a:endParaRPr sz="1100">
              <a:latin typeface="Arial"/>
              <a:ea typeface="Arial"/>
              <a:cs typeface="Arial"/>
              <a:sym typeface="Arial"/>
            </a:endParaRPr>
          </a:p>
          <a:p>
            <a:pPr marL="457200" lvl="0" indent="-298450" algn="l" rtl="0">
              <a:spcBef>
                <a:spcPts val="0"/>
              </a:spcBef>
              <a:spcAft>
                <a:spcPts val="0"/>
              </a:spcAft>
              <a:buSzPts val="1100"/>
              <a:buFont typeface="Arial"/>
              <a:buChar char="●"/>
            </a:pPr>
            <a:r>
              <a:rPr lang="en" sz="1100" b="1">
                <a:latin typeface="Arial"/>
                <a:ea typeface="Arial"/>
                <a:cs typeface="Arial"/>
                <a:sym typeface="Arial"/>
              </a:rPr>
              <a:t>Bool</a:t>
            </a:r>
            <a:r>
              <a:rPr lang="en" sz="1100">
                <a:latin typeface="Arial"/>
                <a:ea typeface="Arial"/>
                <a:cs typeface="Arial"/>
                <a:sym typeface="Arial"/>
              </a:rPr>
              <a:t>: </a:t>
            </a:r>
            <a:r>
              <a:rPr lang="en" sz="11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true</a:t>
            </a:r>
            <a:r>
              <a:rPr lang="en" sz="1100">
                <a:latin typeface="Arial"/>
                <a:ea typeface="Arial"/>
                <a:cs typeface="Arial"/>
                <a:sym typeface="Arial"/>
              </a:rPr>
              <a:t> or </a:t>
            </a:r>
            <a:r>
              <a:rPr lang="en" sz="11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false</a:t>
            </a:r>
            <a:r>
              <a:rPr lang="en" sz="1100">
                <a:latin typeface="Arial"/>
                <a:ea typeface="Arial"/>
                <a:cs typeface="Arial"/>
                <a:sym typeface="Arial"/>
              </a:rPr>
              <a:t>.</a:t>
            </a:r>
            <a:endParaRPr sz="1100">
              <a:latin typeface="Arial"/>
              <a:ea typeface="Arial"/>
              <a:cs typeface="Arial"/>
              <a:sym typeface="Arial"/>
            </a:endParaRPr>
          </a:p>
          <a:p>
            <a:pPr marL="457200" lvl="0" indent="-298450" algn="l" rtl="0">
              <a:spcBef>
                <a:spcPts val="0"/>
              </a:spcBef>
              <a:spcAft>
                <a:spcPts val="0"/>
              </a:spcAft>
              <a:buSzPts val="1100"/>
              <a:buFont typeface="Arial"/>
              <a:buChar char="●"/>
            </a:pPr>
            <a:r>
              <a:rPr lang="en" sz="1100" b="1">
                <a:latin typeface="Arial"/>
                <a:ea typeface="Arial"/>
                <a:cs typeface="Arial"/>
                <a:sym typeface="Arial"/>
              </a:rPr>
              <a:t>List</a:t>
            </a:r>
            <a:r>
              <a:rPr lang="en" sz="1100">
                <a:latin typeface="Arial"/>
                <a:ea typeface="Arial"/>
                <a:cs typeface="Arial"/>
                <a:sym typeface="Arial"/>
              </a:rPr>
              <a:t>: Array of values.</a:t>
            </a:r>
            <a:endParaRPr sz="1100">
              <a:latin typeface="Arial"/>
              <a:ea typeface="Arial"/>
              <a:cs typeface="Arial"/>
              <a:sym typeface="Arial"/>
            </a:endParaRPr>
          </a:p>
          <a:p>
            <a:pPr marL="457200" lvl="0" indent="-298450" algn="l" rtl="0">
              <a:spcBef>
                <a:spcPts val="0"/>
              </a:spcBef>
              <a:spcAft>
                <a:spcPts val="0"/>
              </a:spcAft>
              <a:buSzPts val="1100"/>
              <a:buFont typeface="Arial"/>
              <a:buChar char="●"/>
            </a:pPr>
            <a:r>
              <a:rPr lang="en" sz="1100" b="1">
                <a:latin typeface="Arial"/>
                <a:ea typeface="Arial"/>
                <a:cs typeface="Arial"/>
                <a:sym typeface="Arial"/>
              </a:rPr>
              <a:t>Map</a:t>
            </a:r>
            <a:r>
              <a:rPr lang="en" sz="1100">
                <a:latin typeface="Arial"/>
                <a:ea typeface="Arial"/>
                <a:cs typeface="Arial"/>
                <a:sym typeface="Arial"/>
              </a:rPr>
              <a:t>: Key-value pairs.</a:t>
            </a:r>
            <a:endParaRPr sz="1100" b="1"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endParaRPr sz="1100">
              <a:latin typeface="Arial"/>
              <a:ea typeface="Arial"/>
              <a:cs typeface="Arial"/>
              <a:sym typeface="Arial"/>
            </a:endParaRPr>
          </a:p>
          <a:p>
            <a:pPr marL="457200" lvl="0" indent="0" algn="l" rtl="0">
              <a:spcBef>
                <a:spcPts val="1200"/>
              </a:spcBef>
              <a:spcAft>
                <a:spcPts val="1200"/>
              </a:spcAft>
              <a:buNone/>
            </a:pPr>
            <a:r>
              <a:rPr lang="en" sz="900">
                <a:latin typeface="Arial"/>
                <a:ea typeface="Arial"/>
                <a:cs typeface="Arial"/>
                <a:sym typeface="Arial"/>
              </a:rPr>
              <a:t>.</a:t>
            </a:r>
            <a:endParaRPr sz="1100" b="1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p32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613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Terraform Variable Assignment</a:t>
            </a:r>
            <a:endParaRPr/>
          </a:p>
        </p:txBody>
      </p:sp>
      <p:sp>
        <p:nvSpPr>
          <p:cNvPr id="176" name="Google Shape;176;p32"/>
          <p:cNvSpPr txBox="1">
            <a:spLocks noGrp="1"/>
          </p:cNvSpPr>
          <p:nvPr>
            <p:ph type="body" idx="1"/>
          </p:nvPr>
        </p:nvSpPr>
        <p:spPr>
          <a:xfrm>
            <a:off x="344900" y="1012375"/>
            <a:ext cx="7440000" cy="3938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100" b="1" dirty="0">
                <a:latin typeface="Arial"/>
                <a:ea typeface="Arial"/>
                <a:cs typeface="Arial"/>
                <a:sym typeface="Arial"/>
              </a:rPr>
              <a:t>Ways to Assign Values</a:t>
            </a:r>
            <a:r>
              <a:rPr lang="en" sz="1100" dirty="0">
                <a:latin typeface="Arial"/>
                <a:ea typeface="Arial"/>
                <a:cs typeface="Arial"/>
                <a:sym typeface="Arial"/>
              </a:rPr>
              <a:t>:</a:t>
            </a:r>
            <a:endParaRPr sz="1100" dirty="0">
              <a:latin typeface="Arial"/>
              <a:ea typeface="Arial"/>
              <a:cs typeface="Arial"/>
              <a:sym typeface="Arial"/>
            </a:endParaRPr>
          </a:p>
          <a:p>
            <a:pPr marL="158750" lvl="0" indent="0" algn="l" rtl="0">
              <a:spcBef>
                <a:spcPts val="1200"/>
              </a:spcBef>
              <a:spcAft>
                <a:spcPts val="0"/>
              </a:spcAft>
              <a:buSzPts val="1100"/>
              <a:buNone/>
            </a:pPr>
            <a:r>
              <a:rPr lang="en" sz="1100" b="1" dirty="0">
                <a:latin typeface="Arial"/>
                <a:ea typeface="Arial"/>
                <a:cs typeface="Arial"/>
                <a:sym typeface="Arial"/>
              </a:rPr>
              <a:t>Command-Line Flags</a:t>
            </a:r>
            <a:r>
              <a:rPr lang="en" sz="1100" dirty="0">
                <a:latin typeface="Arial"/>
                <a:ea typeface="Arial"/>
                <a:cs typeface="Arial"/>
                <a:sym typeface="Arial"/>
              </a:rPr>
              <a:t>: Use </a:t>
            </a:r>
            <a:r>
              <a:rPr lang="en" sz="1100" dirty="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-var</a:t>
            </a:r>
            <a:r>
              <a:rPr lang="en" sz="1100" dirty="0">
                <a:latin typeface="Arial"/>
                <a:ea typeface="Arial"/>
                <a:cs typeface="Arial"/>
                <a:sym typeface="Arial"/>
              </a:rPr>
              <a:t> during execution:</a:t>
            </a:r>
            <a:br>
              <a:rPr lang="en" sz="1100" dirty="0">
                <a:latin typeface="Arial"/>
                <a:ea typeface="Arial"/>
                <a:cs typeface="Arial"/>
                <a:sym typeface="Arial"/>
              </a:rPr>
            </a:br>
            <a:r>
              <a:rPr lang="en" sz="1100" dirty="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terraform apply -var "region=us-east-1"</a:t>
            </a:r>
            <a:endParaRPr sz="1100" dirty="0">
              <a:solidFill>
                <a:srgbClr val="188038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marL="457200" lvl="0" indent="0" algn="l" rtl="0">
              <a:spcBef>
                <a:spcPts val="1200"/>
              </a:spcBef>
              <a:spcAft>
                <a:spcPts val="0"/>
              </a:spcAft>
              <a:buNone/>
            </a:pPr>
            <a:endParaRPr sz="1100" dirty="0">
              <a:solidFill>
                <a:srgbClr val="188038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marL="158750" lvl="0" indent="0" algn="l" rtl="0">
              <a:spcBef>
                <a:spcPts val="1200"/>
              </a:spcBef>
              <a:spcAft>
                <a:spcPts val="0"/>
              </a:spcAft>
              <a:buSzPts val="1100"/>
              <a:buNone/>
            </a:pPr>
            <a:r>
              <a:rPr lang="en" sz="1100" b="1" dirty="0">
                <a:latin typeface="Arial"/>
                <a:ea typeface="Arial"/>
                <a:cs typeface="Arial"/>
                <a:sym typeface="Arial"/>
              </a:rPr>
              <a:t>Variable Files</a:t>
            </a:r>
            <a:r>
              <a:rPr lang="en" sz="1100" dirty="0">
                <a:latin typeface="Arial"/>
                <a:ea typeface="Arial"/>
                <a:cs typeface="Arial"/>
                <a:sym typeface="Arial"/>
              </a:rPr>
              <a:t>: Store in </a:t>
            </a:r>
            <a:r>
              <a:rPr lang="en" sz="1100" dirty="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.tfvars</a:t>
            </a:r>
            <a:r>
              <a:rPr lang="en" sz="1100" dirty="0">
                <a:latin typeface="Arial"/>
                <a:ea typeface="Arial"/>
                <a:cs typeface="Arial"/>
                <a:sym typeface="Arial"/>
              </a:rPr>
              <a:t> or </a:t>
            </a:r>
            <a:r>
              <a:rPr lang="en" sz="1100" dirty="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.tfvars.json</a:t>
            </a:r>
            <a:r>
              <a:rPr lang="en" sz="1100" dirty="0">
                <a:latin typeface="Arial"/>
                <a:ea typeface="Arial"/>
                <a:cs typeface="Arial"/>
                <a:sym typeface="Arial"/>
              </a:rPr>
              <a:t>:</a:t>
            </a:r>
            <a:br>
              <a:rPr lang="en" sz="1100" dirty="0">
                <a:latin typeface="Arial"/>
                <a:ea typeface="Arial"/>
                <a:cs typeface="Arial"/>
                <a:sym typeface="Arial"/>
              </a:rPr>
            </a:br>
            <a:r>
              <a:rPr lang="en" sz="1100" dirty="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terraform apply -var-file="example.tfvars"</a:t>
            </a:r>
            <a:endParaRPr sz="1100" dirty="0">
              <a:solidFill>
                <a:srgbClr val="188038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endParaRPr sz="1100" dirty="0">
              <a:solidFill>
                <a:srgbClr val="188038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marL="158750" lvl="0" indent="0" algn="l" rtl="0">
              <a:spcBef>
                <a:spcPts val="1200"/>
              </a:spcBef>
              <a:spcAft>
                <a:spcPts val="0"/>
              </a:spcAft>
              <a:buSzPts val="1100"/>
              <a:buNone/>
            </a:pPr>
            <a:r>
              <a:rPr lang="en" sz="1100" b="1" dirty="0">
                <a:latin typeface="Arial"/>
                <a:ea typeface="Arial"/>
                <a:cs typeface="Arial"/>
                <a:sym typeface="Arial"/>
              </a:rPr>
              <a:t>Environment Variables</a:t>
            </a:r>
            <a:r>
              <a:rPr lang="en" sz="1100" dirty="0">
                <a:latin typeface="Arial"/>
                <a:ea typeface="Arial"/>
                <a:cs typeface="Arial"/>
                <a:sym typeface="Arial"/>
              </a:rPr>
              <a:t>: Use the </a:t>
            </a:r>
            <a:r>
              <a:rPr lang="en" sz="1100" dirty="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TF_VAR_</a:t>
            </a:r>
            <a:r>
              <a:rPr lang="en" sz="1100" dirty="0">
                <a:latin typeface="Arial"/>
                <a:ea typeface="Arial"/>
                <a:cs typeface="Arial"/>
                <a:sym typeface="Arial"/>
              </a:rPr>
              <a:t> prefix:</a:t>
            </a:r>
            <a:br>
              <a:rPr lang="en" sz="1100" dirty="0">
                <a:latin typeface="Arial"/>
                <a:ea typeface="Arial"/>
                <a:cs typeface="Arial"/>
                <a:sym typeface="Arial"/>
              </a:rPr>
            </a:br>
            <a:r>
              <a:rPr lang="en" sz="1100" dirty="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export TF_VAR_region="us-east-1"</a:t>
            </a:r>
            <a:endParaRPr sz="1100" dirty="0">
              <a:solidFill>
                <a:srgbClr val="188038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marL="457200" lvl="0" indent="0" algn="l" rtl="0">
              <a:spcBef>
                <a:spcPts val="1200"/>
              </a:spcBef>
              <a:spcAft>
                <a:spcPts val="0"/>
              </a:spcAft>
              <a:buNone/>
            </a:pPr>
            <a:endParaRPr sz="1100" dirty="0">
              <a:solidFill>
                <a:srgbClr val="188038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marL="158750" lvl="0" indent="0" algn="l" rtl="0">
              <a:spcBef>
                <a:spcPts val="1200"/>
              </a:spcBef>
              <a:spcAft>
                <a:spcPts val="0"/>
              </a:spcAft>
              <a:buSzPts val="1100"/>
              <a:buNone/>
            </a:pPr>
            <a:r>
              <a:rPr lang="en" sz="1100" b="1" dirty="0">
                <a:latin typeface="Arial"/>
                <a:ea typeface="Arial"/>
                <a:cs typeface="Arial"/>
                <a:sym typeface="Arial"/>
              </a:rPr>
              <a:t>Default Value</a:t>
            </a:r>
            <a:r>
              <a:rPr lang="en" sz="1100" dirty="0">
                <a:latin typeface="Arial"/>
                <a:ea typeface="Arial"/>
                <a:cs typeface="Arial"/>
                <a:sym typeface="Arial"/>
              </a:rPr>
              <a:t>: Defined in the </a:t>
            </a:r>
            <a:r>
              <a:rPr lang="en" sz="1100" dirty="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variable</a:t>
            </a:r>
            <a:r>
              <a:rPr lang="en" sz="1100" dirty="0">
                <a:latin typeface="Arial"/>
                <a:ea typeface="Arial"/>
                <a:cs typeface="Arial"/>
                <a:sym typeface="Arial"/>
              </a:rPr>
              <a:t> block.</a:t>
            </a:r>
            <a:endParaRPr sz="1100" dirty="0">
              <a:latin typeface="Arial"/>
              <a:ea typeface="Arial"/>
              <a:cs typeface="Arial"/>
              <a:sym typeface="Arial"/>
            </a:endParaRPr>
          </a:p>
          <a:p>
            <a:pPr marL="457200" lvl="0" indent="0" algn="l" rtl="0">
              <a:spcBef>
                <a:spcPts val="1200"/>
              </a:spcBef>
              <a:spcAft>
                <a:spcPts val="1200"/>
              </a:spcAft>
              <a:buNone/>
            </a:pPr>
            <a:endParaRPr sz="1100" b="1" dirty="0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p33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613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Terraform Outputs</a:t>
            </a:r>
            <a:endParaRPr/>
          </a:p>
        </p:txBody>
      </p:sp>
      <p:sp>
        <p:nvSpPr>
          <p:cNvPr id="182" name="Google Shape;182;p33"/>
          <p:cNvSpPr txBox="1">
            <a:spLocks noGrp="1"/>
          </p:cNvSpPr>
          <p:nvPr>
            <p:ph type="body" idx="1"/>
          </p:nvPr>
        </p:nvSpPr>
        <p:spPr>
          <a:xfrm>
            <a:off x="311700" y="946025"/>
            <a:ext cx="7440000" cy="3938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endParaRPr sz="1100" b="1"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100">
                <a:latin typeface="Arial"/>
                <a:ea typeface="Arial"/>
                <a:cs typeface="Arial"/>
                <a:sym typeface="Arial"/>
              </a:rPr>
              <a:t>Outputs provide data from your infrastructure to use elsewhere or for debugging.</a:t>
            </a:r>
            <a:endParaRPr sz="1100">
              <a:latin typeface="Arial"/>
              <a:ea typeface="Arial"/>
              <a:cs typeface="Arial"/>
              <a:sym typeface="Arial"/>
            </a:endParaRPr>
          </a:p>
          <a:p>
            <a:pPr marL="457200" lvl="0" indent="-22860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100">
                <a:latin typeface="Arial"/>
                <a:ea typeface="Arial"/>
                <a:cs typeface="Arial"/>
                <a:sym typeface="Arial"/>
              </a:rPr>
              <a:t>Common use cases:</a:t>
            </a:r>
            <a:endParaRPr sz="1100">
              <a:latin typeface="Arial"/>
              <a:ea typeface="Arial"/>
              <a:cs typeface="Arial"/>
              <a:sym typeface="Arial"/>
            </a:endParaRPr>
          </a:p>
          <a:p>
            <a:pPr marL="457200" lvl="0" indent="-298450" algn="l" rtl="0">
              <a:spcBef>
                <a:spcPts val="1200"/>
              </a:spcBef>
              <a:spcAft>
                <a:spcPts val="0"/>
              </a:spcAft>
              <a:buSzPts val="1100"/>
              <a:buFont typeface="Arial"/>
              <a:buChar char="●"/>
            </a:pPr>
            <a:r>
              <a:rPr lang="en" sz="1100">
                <a:latin typeface="Arial"/>
                <a:ea typeface="Arial"/>
                <a:cs typeface="Arial"/>
                <a:sym typeface="Arial"/>
              </a:rPr>
              <a:t>Sharing outputs with other configurations.</a:t>
            </a:r>
            <a:endParaRPr sz="1100">
              <a:latin typeface="Arial"/>
              <a:ea typeface="Arial"/>
              <a:cs typeface="Arial"/>
              <a:sym typeface="Arial"/>
            </a:endParaRPr>
          </a:p>
          <a:p>
            <a:pPr marL="457200" lvl="0" indent="-298450" algn="l" rtl="0">
              <a:spcBef>
                <a:spcPts val="0"/>
              </a:spcBef>
              <a:spcAft>
                <a:spcPts val="0"/>
              </a:spcAft>
              <a:buSzPts val="1100"/>
              <a:buFont typeface="Arial"/>
              <a:buChar char="●"/>
            </a:pPr>
            <a:r>
              <a:rPr lang="en" sz="1100">
                <a:latin typeface="Arial"/>
                <a:ea typeface="Arial"/>
                <a:cs typeface="Arial"/>
                <a:sym typeface="Arial"/>
              </a:rPr>
              <a:t>Displaying important information after </a:t>
            </a:r>
            <a:r>
              <a:rPr lang="en" sz="11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apply</a:t>
            </a:r>
            <a:r>
              <a:rPr lang="en" sz="1100">
                <a:latin typeface="Arial"/>
                <a:ea typeface="Arial"/>
                <a:cs typeface="Arial"/>
                <a:sym typeface="Arial"/>
              </a:rPr>
              <a:t>.</a:t>
            </a:r>
            <a:endParaRPr sz="1100"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100">
                <a:latin typeface="Arial"/>
                <a:ea typeface="Arial"/>
                <a:cs typeface="Arial"/>
                <a:sym typeface="Arial"/>
              </a:rPr>
              <a:t>Use </a:t>
            </a:r>
            <a:r>
              <a:rPr lang="en" sz="11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terraform output</a:t>
            </a:r>
            <a:r>
              <a:rPr lang="en" sz="1100">
                <a:latin typeface="Arial"/>
                <a:ea typeface="Arial"/>
                <a:cs typeface="Arial"/>
                <a:sym typeface="Arial"/>
              </a:rPr>
              <a:t> to retrieve outputs:</a:t>
            </a:r>
            <a:endParaRPr sz="1100"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terraform output instance_public_ip</a:t>
            </a:r>
            <a:endParaRPr sz="1100">
              <a:solidFill>
                <a:srgbClr val="188038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endParaRPr sz="1100"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endParaRPr sz="1100">
              <a:latin typeface="Arial"/>
              <a:ea typeface="Arial"/>
              <a:cs typeface="Arial"/>
              <a:sym typeface="Arial"/>
            </a:endParaRPr>
          </a:p>
          <a:p>
            <a:pPr marL="457200" lvl="0" indent="0" algn="l" rtl="0">
              <a:spcBef>
                <a:spcPts val="1200"/>
              </a:spcBef>
              <a:spcAft>
                <a:spcPts val="0"/>
              </a:spcAft>
              <a:buNone/>
            </a:pPr>
            <a:endParaRPr sz="1100" b="1"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endParaRPr sz="1100">
              <a:latin typeface="Arial"/>
              <a:ea typeface="Arial"/>
              <a:cs typeface="Arial"/>
              <a:sym typeface="Arial"/>
            </a:endParaRPr>
          </a:p>
          <a:p>
            <a:pPr marL="457200" lvl="0" indent="0" algn="l" rtl="0">
              <a:spcBef>
                <a:spcPts val="1200"/>
              </a:spcBef>
              <a:spcAft>
                <a:spcPts val="1200"/>
              </a:spcAft>
              <a:buNone/>
            </a:pPr>
            <a:r>
              <a:rPr lang="en" sz="900">
                <a:latin typeface="Arial"/>
                <a:ea typeface="Arial"/>
                <a:cs typeface="Arial"/>
                <a:sym typeface="Arial"/>
              </a:rPr>
              <a:t>.</a:t>
            </a:r>
            <a:endParaRPr sz="1100" b="1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p34"/>
          <p:cNvSpPr txBox="1">
            <a:spLocks noGrp="1"/>
          </p:cNvSpPr>
          <p:nvPr>
            <p:ph type="title"/>
          </p:nvPr>
        </p:nvSpPr>
        <p:spPr>
          <a:xfrm>
            <a:off x="265500" y="1382350"/>
            <a:ext cx="4045200" cy="1333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Terraform Conditionals and Looping</a:t>
            </a:r>
            <a:endParaRPr/>
          </a:p>
        </p:txBody>
      </p:sp>
      <p:sp>
        <p:nvSpPr>
          <p:cNvPr id="188" name="Google Shape;188;p34"/>
          <p:cNvSpPr txBox="1">
            <a:spLocks noGrp="1"/>
          </p:cNvSpPr>
          <p:nvPr>
            <p:ph type="body" idx="2"/>
          </p:nvPr>
        </p:nvSpPr>
        <p:spPr>
          <a:xfrm>
            <a:off x="4939500" y="-139375"/>
            <a:ext cx="3837000" cy="5110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457200" lvl="0" indent="-311150" algn="l" rtl="0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 sz="1300"/>
              <a:t>Terraform Count</a:t>
            </a:r>
            <a:endParaRPr sz="1300"/>
          </a:p>
          <a:p>
            <a:pPr marL="457200" lvl="0" indent="-311150" algn="l" rtl="0">
              <a:spcBef>
                <a:spcPts val="1600"/>
              </a:spcBef>
              <a:spcAft>
                <a:spcPts val="0"/>
              </a:spcAft>
              <a:buSzPts val="1300"/>
              <a:buChar char="●"/>
            </a:pPr>
            <a:r>
              <a:rPr lang="en" sz="1300"/>
              <a:t>Terraform for_each</a:t>
            </a:r>
            <a:endParaRPr sz="1300"/>
          </a:p>
          <a:p>
            <a:pPr marL="457200" lvl="0" indent="-311150" algn="l" rtl="0">
              <a:spcBef>
                <a:spcPts val="1600"/>
              </a:spcBef>
              <a:spcAft>
                <a:spcPts val="0"/>
              </a:spcAft>
              <a:buSzPts val="1300"/>
              <a:buChar char="●"/>
            </a:pPr>
            <a:r>
              <a:rPr lang="en" sz="1300"/>
              <a:t>Terraform dynamic blocks</a:t>
            </a:r>
            <a:endParaRPr sz="1300"/>
          </a:p>
          <a:p>
            <a:pPr marL="457200" lvl="0" indent="-311150" algn="l" rtl="0">
              <a:spcBef>
                <a:spcPts val="1600"/>
              </a:spcBef>
              <a:spcAft>
                <a:spcPts val="1600"/>
              </a:spcAft>
              <a:buSzPts val="1300"/>
              <a:buChar char="●"/>
            </a:pPr>
            <a:r>
              <a:rPr lang="en" sz="1300"/>
              <a:t>Terraform Conditionals</a:t>
            </a:r>
            <a:endParaRPr sz="130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p3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613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Terraform looping</a:t>
            </a:r>
            <a:endParaRPr/>
          </a:p>
        </p:txBody>
      </p:sp>
      <p:sp>
        <p:nvSpPr>
          <p:cNvPr id="194" name="Google Shape;194;p35"/>
          <p:cNvSpPr txBox="1">
            <a:spLocks noGrp="1"/>
          </p:cNvSpPr>
          <p:nvPr>
            <p:ph type="body" idx="1"/>
          </p:nvPr>
        </p:nvSpPr>
        <p:spPr>
          <a:xfrm>
            <a:off x="311700" y="942425"/>
            <a:ext cx="7114800" cy="3763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endParaRPr sz="1100" b="1" dirty="0"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100" dirty="0">
                <a:latin typeface="Arial"/>
                <a:ea typeface="Arial"/>
                <a:cs typeface="Arial"/>
                <a:sym typeface="Arial"/>
              </a:rPr>
              <a:t>Terraform provides mechanisms for </a:t>
            </a:r>
            <a:r>
              <a:rPr lang="en" sz="1100" b="1" dirty="0">
                <a:latin typeface="Arial"/>
                <a:ea typeface="Arial"/>
                <a:cs typeface="Arial"/>
                <a:sym typeface="Arial"/>
              </a:rPr>
              <a:t>repeating tasks</a:t>
            </a:r>
            <a:r>
              <a:rPr lang="en" sz="1100" dirty="0">
                <a:latin typeface="Arial"/>
                <a:ea typeface="Arial"/>
                <a:cs typeface="Arial"/>
                <a:sym typeface="Arial"/>
              </a:rPr>
              <a:t> and managing multiple resources efficiently.</a:t>
            </a:r>
            <a:endParaRPr sz="1100" dirty="0"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100" dirty="0">
                <a:latin typeface="Arial"/>
                <a:ea typeface="Arial"/>
                <a:cs typeface="Arial"/>
                <a:sym typeface="Arial"/>
              </a:rPr>
              <a:t>Use of </a:t>
            </a:r>
            <a:r>
              <a:rPr lang="en" sz="1100" b="1" dirty="0">
                <a:latin typeface="Arial"/>
                <a:ea typeface="Arial"/>
                <a:cs typeface="Arial"/>
                <a:sym typeface="Arial"/>
              </a:rPr>
              <a:t>loops</a:t>
            </a:r>
            <a:r>
              <a:rPr lang="en" sz="1100" dirty="0">
                <a:latin typeface="Arial"/>
                <a:ea typeface="Arial"/>
                <a:cs typeface="Arial"/>
                <a:sym typeface="Arial"/>
              </a:rPr>
              <a:t> allows for dynamic creation of multiple resources, saving time and reducing redundancy.</a:t>
            </a:r>
            <a:endParaRPr sz="1100" dirty="0"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100" dirty="0">
                <a:latin typeface="Arial"/>
                <a:ea typeface="Arial"/>
                <a:cs typeface="Arial"/>
                <a:sym typeface="Arial"/>
              </a:rPr>
              <a:t>Terraform supports loops using:</a:t>
            </a:r>
            <a:endParaRPr sz="1100" dirty="0">
              <a:latin typeface="Arial"/>
              <a:ea typeface="Arial"/>
              <a:cs typeface="Arial"/>
              <a:sym typeface="Arial"/>
            </a:endParaRPr>
          </a:p>
          <a:p>
            <a:pPr marL="457200" lvl="0" indent="-298450" algn="l" rtl="0">
              <a:spcBef>
                <a:spcPts val="1200"/>
              </a:spcBef>
              <a:spcAft>
                <a:spcPts val="0"/>
              </a:spcAft>
              <a:buSzPts val="1100"/>
              <a:buFont typeface="Arial"/>
              <a:buChar char="●"/>
            </a:pPr>
            <a:r>
              <a:rPr lang="en" sz="1100" b="1" dirty="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count</a:t>
            </a:r>
            <a:r>
              <a:rPr lang="en" sz="1100" dirty="0">
                <a:latin typeface="Arial"/>
                <a:ea typeface="Arial"/>
                <a:cs typeface="Arial"/>
                <a:sym typeface="Arial"/>
              </a:rPr>
              <a:t>: Repeats resources a specific number of times based on an integer value.</a:t>
            </a:r>
            <a:endParaRPr sz="1100" b="1" dirty="0">
              <a:solidFill>
                <a:srgbClr val="188038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marL="457200" lvl="0" indent="-298450" algn="l" rtl="0">
              <a:spcBef>
                <a:spcPts val="0"/>
              </a:spcBef>
              <a:spcAft>
                <a:spcPts val="0"/>
              </a:spcAft>
              <a:buSzPts val="1100"/>
              <a:buFont typeface="Arial"/>
              <a:buChar char="●"/>
            </a:pPr>
            <a:r>
              <a:rPr lang="en" sz="1100" b="1" dirty="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for_each</a:t>
            </a:r>
            <a:r>
              <a:rPr lang="en" sz="1100" dirty="0">
                <a:latin typeface="Arial"/>
                <a:ea typeface="Arial"/>
                <a:cs typeface="Arial"/>
                <a:sym typeface="Arial"/>
              </a:rPr>
              <a:t>: Iterates over a collection to create multiple resources.</a:t>
            </a:r>
            <a:endParaRPr sz="1100" dirty="0">
              <a:latin typeface="Arial"/>
              <a:ea typeface="Arial"/>
              <a:cs typeface="Arial"/>
              <a:sym typeface="Arial"/>
            </a:endParaRPr>
          </a:p>
          <a:p>
            <a:pPr marL="457200" lvl="0" indent="0" algn="l" rtl="0">
              <a:spcBef>
                <a:spcPts val="1200"/>
              </a:spcBef>
              <a:spcAft>
                <a:spcPts val="1200"/>
              </a:spcAft>
              <a:buNone/>
            </a:pPr>
            <a:r>
              <a:rPr lang="en" sz="900" dirty="0">
                <a:latin typeface="Arial"/>
                <a:ea typeface="Arial"/>
                <a:cs typeface="Arial"/>
                <a:sym typeface="Arial"/>
              </a:rPr>
              <a:t>.</a:t>
            </a:r>
            <a:endParaRPr sz="1100" b="1" dirty="0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p3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613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Count</a:t>
            </a:r>
            <a:r>
              <a:rPr lang="en"/>
              <a:t> meta-argument</a:t>
            </a:r>
            <a:endParaRPr/>
          </a:p>
        </p:txBody>
      </p:sp>
      <p:sp>
        <p:nvSpPr>
          <p:cNvPr id="200" name="Google Shape;200;p36"/>
          <p:cNvSpPr txBox="1">
            <a:spLocks noGrp="1"/>
          </p:cNvSpPr>
          <p:nvPr>
            <p:ph type="body" idx="1"/>
          </p:nvPr>
        </p:nvSpPr>
        <p:spPr>
          <a:xfrm>
            <a:off x="311700" y="942425"/>
            <a:ext cx="7114800" cy="3763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endParaRPr lang="en-IN" sz="1100" b="1" dirty="0">
              <a:latin typeface="Arial"/>
              <a:ea typeface="Arial"/>
              <a:cs typeface="Arial"/>
              <a:sym typeface="Arial"/>
            </a:endParaRPr>
          </a:p>
          <a:p>
            <a:pPr marL="457200" lvl="0" indent="-298450" algn="l" rtl="0">
              <a:spcBef>
                <a:spcPts val="1200"/>
              </a:spcBef>
              <a:spcAft>
                <a:spcPts val="0"/>
              </a:spcAft>
              <a:buSzPts val="1100"/>
              <a:buFont typeface="Arial"/>
              <a:buChar char="●"/>
            </a:pPr>
            <a:r>
              <a:rPr lang="en" sz="1100" b="1" dirty="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count</a:t>
            </a:r>
            <a:r>
              <a:rPr lang="en" sz="1100" dirty="0">
                <a:latin typeface="Arial"/>
                <a:ea typeface="Arial"/>
                <a:cs typeface="Arial"/>
                <a:sym typeface="Arial"/>
              </a:rPr>
              <a:t> is used to create multiple instances of a resource based on an integer.</a:t>
            </a:r>
          </a:p>
          <a:p>
            <a:pPr marL="457200" lvl="0" indent="-298450" algn="l" rtl="0">
              <a:spcBef>
                <a:spcPts val="1200"/>
              </a:spcBef>
              <a:spcAft>
                <a:spcPts val="0"/>
              </a:spcAft>
              <a:buSzPts val="1100"/>
              <a:buFont typeface="Arial"/>
              <a:buChar char="●"/>
            </a:pPr>
            <a:endParaRPr sz="1100" dirty="0"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100" b="1" dirty="0">
                <a:latin typeface="Arial"/>
                <a:ea typeface="Arial"/>
                <a:cs typeface="Arial"/>
                <a:sym typeface="Arial"/>
              </a:rPr>
              <a:t>Example: Creating Multiple EC2 Instances</a:t>
            </a:r>
            <a:endParaRPr sz="1100" dirty="0"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100" dirty="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resource "aws_instance" "example" {</a:t>
            </a:r>
            <a:endParaRPr sz="1100" dirty="0">
              <a:solidFill>
                <a:srgbClr val="188038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marL="0" lvl="0" indent="0" algn="l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100" dirty="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  count = 3</a:t>
            </a:r>
            <a:endParaRPr sz="1100" dirty="0">
              <a:solidFill>
                <a:srgbClr val="188038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marL="0" lvl="0" indent="0" algn="l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100" dirty="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  ami           = "ami-12345678"</a:t>
            </a:r>
            <a:endParaRPr sz="1100" dirty="0">
              <a:solidFill>
                <a:srgbClr val="188038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marL="0" lvl="0" indent="0" algn="l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100" dirty="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  instance_type = "t2.micro"</a:t>
            </a:r>
            <a:endParaRPr sz="1100" dirty="0">
              <a:solidFill>
                <a:srgbClr val="188038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marL="0" lvl="0" indent="0" algn="l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100" dirty="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  tags = {</a:t>
            </a:r>
            <a:endParaRPr sz="1100" dirty="0">
              <a:solidFill>
                <a:srgbClr val="188038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marL="0" lvl="0" indent="0" algn="l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100" dirty="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    Name = "example-${count.index}"</a:t>
            </a:r>
            <a:endParaRPr sz="1100" dirty="0">
              <a:solidFill>
                <a:srgbClr val="188038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marL="0" lvl="0" indent="0" algn="l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100" dirty="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  }</a:t>
            </a:r>
            <a:endParaRPr sz="1100" dirty="0">
              <a:solidFill>
                <a:srgbClr val="188038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100" dirty="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}</a:t>
            </a:r>
            <a:endParaRPr sz="1100" dirty="0">
              <a:solidFill>
                <a:srgbClr val="188038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endParaRPr sz="1100" dirty="0">
              <a:latin typeface="Arial"/>
              <a:ea typeface="Arial"/>
              <a:cs typeface="Arial"/>
              <a:sym typeface="Arial"/>
            </a:endParaRPr>
          </a:p>
          <a:p>
            <a:pPr marL="457200" lvl="0" indent="0" algn="l" rtl="0">
              <a:spcBef>
                <a:spcPts val="1200"/>
              </a:spcBef>
              <a:spcAft>
                <a:spcPts val="1200"/>
              </a:spcAft>
              <a:buNone/>
            </a:pPr>
            <a:r>
              <a:rPr lang="en" sz="900" dirty="0">
                <a:latin typeface="Arial"/>
                <a:ea typeface="Arial"/>
                <a:cs typeface="Arial"/>
                <a:sym typeface="Arial"/>
              </a:rPr>
              <a:t>.</a:t>
            </a:r>
            <a:endParaRPr sz="1100" b="1" dirty="0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p37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613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for-each</a:t>
            </a:r>
            <a:r>
              <a:rPr lang="en"/>
              <a:t> meta-argument</a:t>
            </a:r>
            <a:endParaRPr/>
          </a:p>
        </p:txBody>
      </p:sp>
      <p:sp>
        <p:nvSpPr>
          <p:cNvPr id="206" name="Google Shape;206;p37"/>
          <p:cNvSpPr txBox="1">
            <a:spLocks noGrp="1"/>
          </p:cNvSpPr>
          <p:nvPr>
            <p:ph type="body" idx="1"/>
          </p:nvPr>
        </p:nvSpPr>
        <p:spPr>
          <a:xfrm>
            <a:off x="311700" y="942425"/>
            <a:ext cx="7114800" cy="3763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endParaRPr sz="1100" b="1">
              <a:latin typeface="Arial"/>
              <a:ea typeface="Arial"/>
              <a:cs typeface="Arial"/>
              <a:sym typeface="Arial"/>
            </a:endParaRPr>
          </a:p>
          <a:p>
            <a:pPr marL="457200" lvl="0" indent="-298450" algn="l" rtl="0">
              <a:spcBef>
                <a:spcPts val="1200"/>
              </a:spcBef>
              <a:spcAft>
                <a:spcPts val="0"/>
              </a:spcAft>
              <a:buSzPts val="1100"/>
              <a:buFont typeface="Arial"/>
              <a:buChar char="●"/>
            </a:pPr>
            <a:r>
              <a:rPr lang="en" sz="1100" b="1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for_each</a:t>
            </a:r>
            <a:r>
              <a:rPr lang="en" sz="1100">
                <a:latin typeface="Arial"/>
                <a:ea typeface="Arial"/>
                <a:cs typeface="Arial"/>
                <a:sym typeface="Arial"/>
              </a:rPr>
              <a:t> is used when working with </a:t>
            </a:r>
            <a:r>
              <a:rPr lang="en" sz="1100" b="1">
                <a:latin typeface="Arial"/>
                <a:ea typeface="Arial"/>
                <a:cs typeface="Arial"/>
                <a:sym typeface="Arial"/>
              </a:rPr>
              <a:t>complex data structures</a:t>
            </a:r>
            <a:r>
              <a:rPr lang="en" sz="1100">
                <a:latin typeface="Arial"/>
                <a:ea typeface="Arial"/>
                <a:cs typeface="Arial"/>
                <a:sym typeface="Arial"/>
              </a:rPr>
              <a:t> (maps, sets, or lists) to create resources based on each element of the collection</a:t>
            </a:r>
            <a:endParaRPr sz="1100"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100" b="1">
                <a:latin typeface="Arial"/>
                <a:ea typeface="Arial"/>
                <a:cs typeface="Arial"/>
                <a:sym typeface="Arial"/>
              </a:rPr>
              <a:t>Example: Creating Resources from a Map</a:t>
            </a:r>
            <a:endParaRPr sz="1100"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spcBef>
                <a:spcPts val="200"/>
              </a:spcBef>
              <a:spcAft>
                <a:spcPts val="0"/>
              </a:spcAft>
              <a:buNone/>
            </a:pPr>
            <a:r>
              <a:rPr lang="en" sz="7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variable "subnets" {</a:t>
            </a:r>
            <a:endParaRPr sz="700">
              <a:solidFill>
                <a:srgbClr val="188038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7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  type = map(string)</a:t>
            </a:r>
            <a:endParaRPr sz="700">
              <a:solidFill>
                <a:srgbClr val="188038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7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  default = {</a:t>
            </a:r>
            <a:endParaRPr sz="700">
              <a:solidFill>
                <a:srgbClr val="188038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7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    "subnet1" = "10.0.1.0/24"</a:t>
            </a:r>
            <a:endParaRPr sz="700">
              <a:solidFill>
                <a:srgbClr val="188038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7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    "subnet2" = "10.0.2.0/24"</a:t>
            </a:r>
            <a:endParaRPr sz="700">
              <a:solidFill>
                <a:srgbClr val="188038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7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  }</a:t>
            </a:r>
            <a:endParaRPr sz="700">
              <a:solidFill>
                <a:srgbClr val="188038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7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}</a:t>
            </a:r>
            <a:endParaRPr sz="700">
              <a:solidFill>
                <a:srgbClr val="188038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700">
              <a:solidFill>
                <a:srgbClr val="188038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7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resource "aws_subnet" "example" {</a:t>
            </a:r>
            <a:endParaRPr sz="700">
              <a:solidFill>
                <a:srgbClr val="188038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7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  for_each = var.subnets</a:t>
            </a:r>
            <a:endParaRPr sz="700">
              <a:solidFill>
                <a:srgbClr val="188038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7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  vpc_id   = "vpc-12345678"</a:t>
            </a:r>
            <a:endParaRPr sz="700">
              <a:solidFill>
                <a:srgbClr val="188038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7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  cidr_block = each.value</a:t>
            </a:r>
            <a:endParaRPr sz="700">
              <a:solidFill>
                <a:srgbClr val="188038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7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  availability_zone = "us-east-1a"</a:t>
            </a:r>
            <a:endParaRPr sz="700">
              <a:solidFill>
                <a:srgbClr val="188038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700">
              <a:solidFill>
                <a:srgbClr val="188038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7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  tags = {</a:t>
            </a:r>
            <a:endParaRPr sz="700">
              <a:solidFill>
                <a:srgbClr val="188038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7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    Name = each.key</a:t>
            </a:r>
            <a:endParaRPr sz="700">
              <a:solidFill>
                <a:srgbClr val="188038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7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  }</a:t>
            </a:r>
            <a:endParaRPr sz="700">
              <a:solidFill>
                <a:srgbClr val="188038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7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}</a:t>
            </a:r>
            <a:endParaRPr sz="700">
              <a:solidFill>
                <a:srgbClr val="188038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100" b="1"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endParaRPr sz="1100">
              <a:latin typeface="Arial"/>
              <a:ea typeface="Arial"/>
              <a:cs typeface="Arial"/>
              <a:sym typeface="Arial"/>
            </a:endParaRPr>
          </a:p>
          <a:p>
            <a:pPr marL="457200" lvl="0" indent="0" algn="l" rtl="0">
              <a:spcBef>
                <a:spcPts val="1200"/>
              </a:spcBef>
              <a:spcAft>
                <a:spcPts val="1200"/>
              </a:spcAft>
              <a:buNone/>
            </a:pPr>
            <a:r>
              <a:rPr lang="en" sz="900">
                <a:latin typeface="Arial"/>
                <a:ea typeface="Arial"/>
                <a:cs typeface="Arial"/>
                <a:sym typeface="Arial"/>
              </a:rPr>
              <a:t>.</a:t>
            </a:r>
            <a:endParaRPr sz="1100" b="1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p40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613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Terraform Conditionals</a:t>
            </a:r>
            <a:endParaRPr/>
          </a:p>
        </p:txBody>
      </p:sp>
      <p:sp>
        <p:nvSpPr>
          <p:cNvPr id="226" name="Google Shape;226;p40"/>
          <p:cNvSpPr txBox="1">
            <a:spLocks noGrp="1"/>
          </p:cNvSpPr>
          <p:nvPr>
            <p:ph type="body" idx="1"/>
          </p:nvPr>
        </p:nvSpPr>
        <p:spPr>
          <a:xfrm>
            <a:off x="311700" y="942425"/>
            <a:ext cx="7114800" cy="3763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endParaRPr sz="1100" b="1">
              <a:latin typeface="Arial"/>
              <a:ea typeface="Arial"/>
              <a:cs typeface="Arial"/>
              <a:sym typeface="Arial"/>
            </a:endParaRPr>
          </a:p>
          <a:p>
            <a:pPr marL="457200" lvl="0" indent="-22860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100">
                <a:latin typeface="Arial"/>
                <a:ea typeface="Arial"/>
                <a:cs typeface="Arial"/>
                <a:sym typeface="Arial"/>
              </a:rPr>
              <a:t>Conditionals allow logic-based configurations in Terraform to adapt resource or variable values dynamically.</a:t>
            </a:r>
            <a:endParaRPr sz="1100">
              <a:latin typeface="Arial"/>
              <a:ea typeface="Arial"/>
              <a:cs typeface="Arial"/>
              <a:sym typeface="Arial"/>
            </a:endParaRPr>
          </a:p>
          <a:p>
            <a:pPr marL="457200" lvl="0" indent="-22860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100">
                <a:latin typeface="Arial"/>
                <a:ea typeface="Arial"/>
                <a:cs typeface="Arial"/>
                <a:sym typeface="Arial"/>
              </a:rPr>
              <a:t>Example use cases:</a:t>
            </a:r>
            <a:endParaRPr sz="1100">
              <a:latin typeface="Arial"/>
              <a:ea typeface="Arial"/>
              <a:cs typeface="Arial"/>
              <a:sym typeface="Arial"/>
            </a:endParaRPr>
          </a:p>
          <a:p>
            <a:pPr marL="457200" lvl="0" indent="-298450" algn="l" rtl="0">
              <a:spcBef>
                <a:spcPts val="1200"/>
              </a:spcBef>
              <a:spcAft>
                <a:spcPts val="0"/>
              </a:spcAft>
              <a:buSzPts val="1100"/>
              <a:buFont typeface="Arial"/>
              <a:buChar char="●"/>
            </a:pPr>
            <a:r>
              <a:rPr lang="en" sz="1100">
                <a:latin typeface="Arial"/>
                <a:ea typeface="Arial"/>
                <a:cs typeface="Arial"/>
                <a:sym typeface="Arial"/>
              </a:rPr>
              <a:t>Toggling features (e.g., enabling/disabling resources).</a:t>
            </a:r>
            <a:endParaRPr sz="1100">
              <a:latin typeface="Arial"/>
              <a:ea typeface="Arial"/>
              <a:cs typeface="Arial"/>
              <a:sym typeface="Arial"/>
            </a:endParaRPr>
          </a:p>
          <a:p>
            <a:pPr marL="457200" lvl="0" indent="-298450" algn="l" rtl="0">
              <a:spcBef>
                <a:spcPts val="0"/>
              </a:spcBef>
              <a:spcAft>
                <a:spcPts val="0"/>
              </a:spcAft>
              <a:buSzPts val="1100"/>
              <a:buFont typeface="Arial"/>
              <a:buChar char="●"/>
            </a:pPr>
            <a:r>
              <a:rPr lang="en" sz="1100">
                <a:latin typeface="Arial"/>
                <a:ea typeface="Arial"/>
                <a:cs typeface="Arial"/>
                <a:sym typeface="Arial"/>
              </a:rPr>
              <a:t>Setting environment-specific values (e.g., production vs. development).</a:t>
            </a:r>
            <a:endParaRPr sz="1100"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100" b="1">
                <a:latin typeface="Arial"/>
                <a:ea typeface="Arial"/>
                <a:cs typeface="Arial"/>
                <a:sym typeface="Arial"/>
              </a:rPr>
              <a:t>      Key Syntax</a:t>
            </a:r>
            <a:r>
              <a:rPr lang="en" sz="1100">
                <a:latin typeface="Arial"/>
                <a:ea typeface="Arial"/>
                <a:cs typeface="Arial"/>
                <a:sym typeface="Arial"/>
              </a:rPr>
              <a:t>:</a:t>
            </a:r>
            <a:br>
              <a:rPr lang="en" sz="1100">
                <a:latin typeface="Arial"/>
                <a:ea typeface="Arial"/>
                <a:cs typeface="Arial"/>
                <a:sym typeface="Arial"/>
              </a:rPr>
            </a:br>
            <a:r>
              <a:rPr lang="en" sz="1100">
                <a:latin typeface="Arial"/>
                <a:ea typeface="Arial"/>
                <a:cs typeface="Arial"/>
                <a:sym typeface="Arial"/>
              </a:rPr>
              <a:t>            </a:t>
            </a:r>
            <a:r>
              <a:rPr lang="en" sz="1100">
                <a:highlight>
                  <a:srgbClr val="999999"/>
                </a:highlight>
                <a:latin typeface="Arial"/>
                <a:ea typeface="Arial"/>
                <a:cs typeface="Arial"/>
                <a:sym typeface="Arial"/>
              </a:rPr>
              <a:t>condition ? true_value : false_value</a:t>
            </a:r>
            <a:endParaRPr sz="1100">
              <a:highlight>
                <a:srgbClr val="999999"/>
              </a:highlight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100">
                <a:latin typeface="Arial"/>
                <a:ea typeface="Arial"/>
                <a:cs typeface="Arial"/>
                <a:sym typeface="Arial"/>
              </a:rPr>
              <a:t>    </a:t>
            </a:r>
            <a:r>
              <a:rPr lang="en" sz="1100" b="1">
                <a:latin typeface="Arial"/>
                <a:ea typeface="Arial"/>
                <a:cs typeface="Arial"/>
                <a:sym typeface="Arial"/>
              </a:rPr>
              <a:t>  Example:</a:t>
            </a:r>
            <a:endParaRPr sz="1100" b="1"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100" b="1">
                <a:latin typeface="Arial"/>
                <a:ea typeface="Arial"/>
                <a:cs typeface="Arial"/>
                <a:sym typeface="Arial"/>
              </a:rPr>
              <a:t>           </a:t>
            </a:r>
            <a:endParaRPr sz="1100" b="1"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endParaRPr sz="1100">
              <a:highlight>
                <a:srgbClr val="999999"/>
              </a:highlight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endParaRPr sz="1100"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endParaRPr sz="1100">
              <a:latin typeface="Arial"/>
              <a:ea typeface="Arial"/>
              <a:cs typeface="Arial"/>
              <a:sym typeface="Arial"/>
            </a:endParaRPr>
          </a:p>
          <a:p>
            <a:pPr marL="457200" lvl="0" indent="0" algn="l" rtl="0">
              <a:spcBef>
                <a:spcPts val="1200"/>
              </a:spcBef>
              <a:spcAft>
                <a:spcPts val="1200"/>
              </a:spcAft>
              <a:buNone/>
            </a:pPr>
            <a:r>
              <a:rPr lang="en" sz="900">
                <a:latin typeface="Arial"/>
                <a:ea typeface="Arial"/>
                <a:cs typeface="Arial"/>
                <a:sym typeface="Arial"/>
              </a:rPr>
              <a:t>.</a:t>
            </a:r>
            <a:endParaRPr sz="1100" b="1"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27" name="Google Shape;227;p4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50850" y="3606998"/>
            <a:ext cx="7008427" cy="10121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" name="Google Shape;232;p41"/>
          <p:cNvSpPr txBox="1">
            <a:spLocks noGrp="1"/>
          </p:cNvSpPr>
          <p:nvPr>
            <p:ph type="title"/>
          </p:nvPr>
        </p:nvSpPr>
        <p:spPr>
          <a:xfrm>
            <a:off x="265500" y="1382350"/>
            <a:ext cx="4045200" cy="1333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Terraform Modules</a:t>
            </a:r>
            <a:endParaRPr/>
          </a:p>
        </p:txBody>
      </p:sp>
      <p:sp>
        <p:nvSpPr>
          <p:cNvPr id="233" name="Google Shape;233;p41"/>
          <p:cNvSpPr txBox="1">
            <a:spLocks noGrp="1"/>
          </p:cNvSpPr>
          <p:nvPr>
            <p:ph type="body" idx="2"/>
          </p:nvPr>
        </p:nvSpPr>
        <p:spPr>
          <a:xfrm>
            <a:off x="4939500" y="-139375"/>
            <a:ext cx="3837000" cy="5110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457200" lvl="0" indent="-311150" algn="l" rtl="0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 sz="1300"/>
              <a:t>What are Terraform Modules</a:t>
            </a:r>
            <a:endParaRPr sz="1300"/>
          </a:p>
          <a:p>
            <a:pPr marL="457200" lvl="0" indent="-311150" algn="l" rtl="0">
              <a:spcBef>
                <a:spcPts val="1600"/>
              </a:spcBef>
              <a:spcAft>
                <a:spcPts val="0"/>
              </a:spcAft>
              <a:buSzPts val="1300"/>
              <a:buChar char="●"/>
            </a:pPr>
            <a:r>
              <a:rPr lang="en" sz="1300"/>
              <a:t>Terraform Modules Usage</a:t>
            </a:r>
            <a:endParaRPr sz="1300"/>
          </a:p>
          <a:p>
            <a:pPr marL="457200" lvl="0" indent="-311150" algn="l" rtl="0">
              <a:spcBef>
                <a:spcPts val="1600"/>
              </a:spcBef>
              <a:spcAft>
                <a:spcPts val="1600"/>
              </a:spcAft>
              <a:buSzPts val="1300"/>
              <a:buChar char="●"/>
            </a:pPr>
            <a:r>
              <a:rPr lang="en" sz="1300"/>
              <a:t>Using remote modules</a:t>
            </a:r>
            <a:endParaRPr sz="130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" name="Google Shape;238;p42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613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Terraform Modules</a:t>
            </a:r>
            <a:endParaRPr/>
          </a:p>
        </p:txBody>
      </p:sp>
      <p:sp>
        <p:nvSpPr>
          <p:cNvPr id="239" name="Google Shape;239;p42"/>
          <p:cNvSpPr txBox="1">
            <a:spLocks noGrp="1"/>
          </p:cNvSpPr>
          <p:nvPr>
            <p:ph type="body" idx="1"/>
          </p:nvPr>
        </p:nvSpPr>
        <p:spPr>
          <a:xfrm>
            <a:off x="311700" y="942425"/>
            <a:ext cx="7114800" cy="3763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endParaRPr sz="1100" b="1"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100">
                <a:latin typeface="Arial"/>
                <a:ea typeface="Arial"/>
                <a:cs typeface="Arial"/>
                <a:sym typeface="Arial"/>
              </a:rPr>
              <a:t>A </a:t>
            </a:r>
            <a:r>
              <a:rPr lang="en" sz="1100" b="1">
                <a:latin typeface="Arial"/>
                <a:ea typeface="Arial"/>
                <a:cs typeface="Arial"/>
                <a:sym typeface="Arial"/>
              </a:rPr>
              <a:t>Terraform module</a:t>
            </a:r>
            <a:r>
              <a:rPr lang="en" sz="1100">
                <a:latin typeface="Arial"/>
                <a:ea typeface="Arial"/>
                <a:cs typeface="Arial"/>
                <a:sym typeface="Arial"/>
              </a:rPr>
              <a:t> is a container for multiple resources that are used together. Modules allow you to organize and reuse your configuration across projects and teams.</a:t>
            </a:r>
            <a:endParaRPr sz="1100"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100">
                <a:latin typeface="Arial"/>
                <a:ea typeface="Arial"/>
                <a:cs typeface="Arial"/>
                <a:sym typeface="Arial"/>
              </a:rPr>
              <a:t>Below are some of the features of Terraform modules</a:t>
            </a:r>
            <a:endParaRPr sz="1100">
              <a:latin typeface="Arial"/>
              <a:ea typeface="Arial"/>
              <a:cs typeface="Arial"/>
              <a:sym typeface="Arial"/>
            </a:endParaRPr>
          </a:p>
          <a:p>
            <a:pPr marL="457200" lvl="0" indent="-298450" algn="l" rtl="0">
              <a:spcBef>
                <a:spcPts val="1200"/>
              </a:spcBef>
              <a:spcAft>
                <a:spcPts val="0"/>
              </a:spcAft>
              <a:buSzPts val="1100"/>
              <a:buFont typeface="Arial"/>
              <a:buChar char="●"/>
            </a:pPr>
            <a:r>
              <a:rPr lang="en" sz="1100" b="1">
                <a:latin typeface="Arial"/>
                <a:ea typeface="Arial"/>
                <a:cs typeface="Arial"/>
                <a:sym typeface="Arial"/>
              </a:rPr>
              <a:t>Reusability</a:t>
            </a:r>
            <a:r>
              <a:rPr lang="en" sz="1100">
                <a:latin typeface="Arial"/>
                <a:ea typeface="Arial"/>
                <a:cs typeface="Arial"/>
                <a:sym typeface="Arial"/>
              </a:rPr>
              <a:t>: Avoid duplicating code by using the same module in multiple places.</a:t>
            </a:r>
            <a:endParaRPr sz="1100">
              <a:latin typeface="Arial"/>
              <a:ea typeface="Arial"/>
              <a:cs typeface="Arial"/>
              <a:sym typeface="Arial"/>
            </a:endParaRPr>
          </a:p>
          <a:p>
            <a:pPr marL="457200" lvl="0" indent="-298450" algn="l" rtl="0">
              <a:spcBef>
                <a:spcPts val="0"/>
              </a:spcBef>
              <a:spcAft>
                <a:spcPts val="0"/>
              </a:spcAft>
              <a:buSzPts val="1100"/>
              <a:buFont typeface="Arial"/>
              <a:buChar char="●"/>
            </a:pPr>
            <a:r>
              <a:rPr lang="en" sz="1100" b="1">
                <a:latin typeface="Arial"/>
                <a:ea typeface="Arial"/>
                <a:cs typeface="Arial"/>
                <a:sym typeface="Arial"/>
              </a:rPr>
              <a:t>Organization</a:t>
            </a:r>
            <a:r>
              <a:rPr lang="en" sz="1100">
                <a:latin typeface="Arial"/>
                <a:ea typeface="Arial"/>
                <a:cs typeface="Arial"/>
                <a:sym typeface="Arial"/>
              </a:rPr>
              <a:t>: Break down complex configurations into manageable units.</a:t>
            </a:r>
            <a:endParaRPr sz="1100">
              <a:latin typeface="Arial"/>
              <a:ea typeface="Arial"/>
              <a:cs typeface="Arial"/>
              <a:sym typeface="Arial"/>
            </a:endParaRPr>
          </a:p>
          <a:p>
            <a:pPr marL="457200" lvl="0" indent="-298450" algn="l" rtl="0">
              <a:spcBef>
                <a:spcPts val="0"/>
              </a:spcBef>
              <a:spcAft>
                <a:spcPts val="0"/>
              </a:spcAft>
              <a:buSzPts val="1100"/>
              <a:buFont typeface="Arial"/>
              <a:buChar char="●"/>
            </a:pPr>
            <a:r>
              <a:rPr lang="en" sz="1100" b="1">
                <a:latin typeface="Arial"/>
                <a:ea typeface="Arial"/>
                <a:cs typeface="Arial"/>
                <a:sym typeface="Arial"/>
              </a:rPr>
              <a:t>Consistency</a:t>
            </a:r>
            <a:r>
              <a:rPr lang="en" sz="1100">
                <a:latin typeface="Arial"/>
                <a:ea typeface="Arial"/>
                <a:cs typeface="Arial"/>
                <a:sym typeface="Arial"/>
              </a:rPr>
              <a:t>: Apply the same standards and practices across projects.</a:t>
            </a:r>
            <a:endParaRPr sz="1100">
              <a:latin typeface="Arial"/>
              <a:ea typeface="Arial"/>
              <a:cs typeface="Arial"/>
              <a:sym typeface="Arial"/>
            </a:endParaRPr>
          </a:p>
          <a:p>
            <a:pPr marL="457200" lvl="0" indent="0" algn="l" rtl="0">
              <a:spcBef>
                <a:spcPts val="1200"/>
              </a:spcBef>
              <a:spcAft>
                <a:spcPts val="1200"/>
              </a:spcAft>
              <a:buNone/>
            </a:pPr>
            <a:r>
              <a:rPr lang="en" sz="900">
                <a:latin typeface="Arial"/>
                <a:ea typeface="Arial"/>
                <a:cs typeface="Arial"/>
                <a:sym typeface="Arial"/>
              </a:rPr>
              <a:t>.</a:t>
            </a:r>
            <a:endParaRPr sz="1100" b="1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4" name="Google Shape;244;p43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613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Terraform Modules Usage</a:t>
            </a:r>
            <a:endParaRPr/>
          </a:p>
        </p:txBody>
      </p:sp>
      <p:sp>
        <p:nvSpPr>
          <p:cNvPr id="245" name="Google Shape;245;p43"/>
          <p:cNvSpPr txBox="1">
            <a:spLocks noGrp="1"/>
          </p:cNvSpPr>
          <p:nvPr>
            <p:ph type="body" idx="1"/>
          </p:nvPr>
        </p:nvSpPr>
        <p:spPr>
          <a:xfrm>
            <a:off x="311700" y="942425"/>
            <a:ext cx="7114800" cy="3763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endParaRPr sz="1100"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9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module "example_instance" {</a:t>
            </a:r>
            <a:endParaRPr sz="900">
              <a:solidFill>
                <a:srgbClr val="188038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  source          = "./modules/example"</a:t>
            </a:r>
            <a:endParaRPr sz="900">
              <a:solidFill>
                <a:srgbClr val="188038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  ami_id          = "ami-12345678"</a:t>
            </a:r>
            <a:endParaRPr sz="900">
              <a:solidFill>
                <a:srgbClr val="188038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  instance_type   = "t2.micro"</a:t>
            </a:r>
            <a:endParaRPr sz="900">
              <a:solidFill>
                <a:srgbClr val="188038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  instance_name   = "ExampleInstance"</a:t>
            </a:r>
            <a:endParaRPr sz="900">
              <a:solidFill>
                <a:srgbClr val="188038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}</a:t>
            </a:r>
            <a:endParaRPr sz="900">
              <a:solidFill>
                <a:srgbClr val="188038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900">
              <a:solidFill>
                <a:srgbClr val="188038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output "instance_id" {</a:t>
            </a:r>
            <a:endParaRPr sz="900">
              <a:solidFill>
                <a:srgbClr val="188038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  value = module.example_instance.instance_id</a:t>
            </a:r>
            <a:endParaRPr sz="900">
              <a:solidFill>
                <a:srgbClr val="188038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}</a:t>
            </a:r>
            <a:endParaRPr sz="1100">
              <a:latin typeface="Arial"/>
              <a:ea typeface="Arial"/>
              <a:cs typeface="Arial"/>
              <a:sym typeface="Arial"/>
            </a:endParaRPr>
          </a:p>
          <a:p>
            <a:pPr marL="457200" lvl="0" indent="0" algn="l" rtl="0">
              <a:spcBef>
                <a:spcPts val="1200"/>
              </a:spcBef>
              <a:spcAft>
                <a:spcPts val="1200"/>
              </a:spcAft>
              <a:buNone/>
            </a:pPr>
            <a:r>
              <a:rPr lang="en" sz="900">
                <a:latin typeface="Arial"/>
                <a:ea typeface="Arial"/>
                <a:cs typeface="Arial"/>
                <a:sym typeface="Arial"/>
              </a:rPr>
              <a:t>.</a:t>
            </a:r>
            <a:endParaRPr sz="1100" b="1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" name="Google Shape;250;p44"/>
          <p:cNvSpPr txBox="1">
            <a:spLocks noGrp="1"/>
          </p:cNvSpPr>
          <p:nvPr>
            <p:ph type="title"/>
          </p:nvPr>
        </p:nvSpPr>
        <p:spPr>
          <a:xfrm>
            <a:off x="265500" y="1382350"/>
            <a:ext cx="4045200" cy="1333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Terraform State Management</a:t>
            </a:r>
            <a:endParaRPr/>
          </a:p>
        </p:txBody>
      </p:sp>
      <p:sp>
        <p:nvSpPr>
          <p:cNvPr id="251" name="Google Shape;251;p44"/>
          <p:cNvSpPr txBox="1">
            <a:spLocks noGrp="1"/>
          </p:cNvSpPr>
          <p:nvPr>
            <p:ph type="body" idx="2"/>
          </p:nvPr>
        </p:nvSpPr>
        <p:spPr>
          <a:xfrm>
            <a:off x="4939500" y="-139375"/>
            <a:ext cx="3837000" cy="5110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457200" lvl="0" indent="-311150" algn="l" rtl="0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 sz="1300"/>
              <a:t>Terraform Remote Backend</a:t>
            </a:r>
            <a:endParaRPr sz="1300"/>
          </a:p>
          <a:p>
            <a:pPr marL="457200" lvl="0" indent="-311150" algn="l" rtl="0">
              <a:spcBef>
                <a:spcPts val="1600"/>
              </a:spcBef>
              <a:spcAft>
                <a:spcPts val="0"/>
              </a:spcAft>
              <a:buSzPts val="1300"/>
              <a:buChar char="●"/>
            </a:pPr>
            <a:r>
              <a:rPr lang="en" sz="1300"/>
              <a:t>Terraform State Locking</a:t>
            </a:r>
            <a:endParaRPr sz="1300"/>
          </a:p>
          <a:p>
            <a:pPr marL="457200" lvl="0" indent="-311150" algn="l" rtl="0">
              <a:spcBef>
                <a:spcPts val="1600"/>
              </a:spcBef>
              <a:spcAft>
                <a:spcPts val="1600"/>
              </a:spcAft>
              <a:buSzPts val="1300"/>
              <a:buChar char="●"/>
            </a:pPr>
            <a:r>
              <a:rPr lang="en" sz="1300"/>
              <a:t>Terraform state interaction</a:t>
            </a:r>
            <a:endParaRPr sz="130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" name="Google Shape;256;p4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613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Terraform State Remote Management</a:t>
            </a:r>
            <a:endParaRPr/>
          </a:p>
        </p:txBody>
      </p:sp>
      <p:sp>
        <p:nvSpPr>
          <p:cNvPr id="257" name="Google Shape;257;p45"/>
          <p:cNvSpPr txBox="1">
            <a:spLocks noGrp="1"/>
          </p:cNvSpPr>
          <p:nvPr>
            <p:ph type="body" idx="1"/>
          </p:nvPr>
        </p:nvSpPr>
        <p:spPr>
          <a:xfrm>
            <a:off x="311700" y="942425"/>
            <a:ext cx="7114800" cy="3763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endParaRPr sz="1100" b="1"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100">
                <a:latin typeface="Arial"/>
                <a:ea typeface="Arial"/>
                <a:cs typeface="Arial"/>
                <a:sym typeface="Arial"/>
              </a:rPr>
              <a:t>Remote state management involves storing Terraform state file in a remote backend instead of the local disk. This approach is essential for collaboration, consistency, and security in multi-user or team environments.</a:t>
            </a:r>
            <a:endParaRPr sz="1100"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100">
                <a:latin typeface="Arial"/>
                <a:ea typeface="Arial"/>
                <a:cs typeface="Arial"/>
                <a:sym typeface="Arial"/>
              </a:rPr>
              <a:t>Below are some of the features of Terraform State Remote Management</a:t>
            </a:r>
            <a:endParaRPr sz="1100">
              <a:latin typeface="Arial"/>
              <a:ea typeface="Arial"/>
              <a:cs typeface="Arial"/>
              <a:sym typeface="Arial"/>
            </a:endParaRPr>
          </a:p>
          <a:p>
            <a:pPr marL="457200" lvl="0" indent="-298450" algn="l" rtl="0">
              <a:spcBef>
                <a:spcPts val="1200"/>
              </a:spcBef>
              <a:spcAft>
                <a:spcPts val="0"/>
              </a:spcAft>
              <a:buSzPts val="1100"/>
              <a:buFont typeface="Arial"/>
              <a:buChar char="●"/>
            </a:pPr>
            <a:r>
              <a:rPr lang="en" sz="1100" b="1">
                <a:latin typeface="Arial"/>
                <a:ea typeface="Arial"/>
                <a:cs typeface="Arial"/>
                <a:sym typeface="Arial"/>
              </a:rPr>
              <a:t>Collaboration:</a:t>
            </a:r>
            <a:r>
              <a:rPr lang="en" sz="1100">
                <a:latin typeface="Arial"/>
                <a:ea typeface="Arial"/>
                <a:cs typeface="Arial"/>
                <a:sym typeface="Arial"/>
              </a:rPr>
              <a:t> Multiple team members can work on the same infrastructure while sharing a single source of truth.</a:t>
            </a:r>
            <a:endParaRPr sz="1100">
              <a:latin typeface="Arial"/>
              <a:ea typeface="Arial"/>
              <a:cs typeface="Arial"/>
              <a:sym typeface="Arial"/>
            </a:endParaRPr>
          </a:p>
          <a:p>
            <a:pPr marL="457200" lvl="0" indent="-298450" algn="l" rtl="0">
              <a:spcBef>
                <a:spcPts val="0"/>
              </a:spcBef>
              <a:spcAft>
                <a:spcPts val="0"/>
              </a:spcAft>
              <a:buSzPts val="1100"/>
              <a:buFont typeface="Arial"/>
              <a:buChar char="●"/>
            </a:pPr>
            <a:r>
              <a:rPr lang="en" sz="1100" b="1">
                <a:latin typeface="Arial"/>
                <a:ea typeface="Arial"/>
                <a:cs typeface="Arial"/>
                <a:sym typeface="Arial"/>
              </a:rPr>
              <a:t>Consistency:</a:t>
            </a:r>
            <a:r>
              <a:rPr lang="en" sz="1100">
                <a:latin typeface="Arial"/>
                <a:ea typeface="Arial"/>
                <a:cs typeface="Arial"/>
                <a:sym typeface="Arial"/>
              </a:rPr>
              <a:t> Centralized state ensures all users have access to the latest infrastructure state.</a:t>
            </a:r>
            <a:endParaRPr sz="1100">
              <a:latin typeface="Arial"/>
              <a:ea typeface="Arial"/>
              <a:cs typeface="Arial"/>
              <a:sym typeface="Arial"/>
            </a:endParaRPr>
          </a:p>
          <a:p>
            <a:pPr marL="457200" lvl="0" indent="-298450" algn="l" rtl="0">
              <a:spcBef>
                <a:spcPts val="0"/>
              </a:spcBef>
              <a:spcAft>
                <a:spcPts val="0"/>
              </a:spcAft>
              <a:buSzPts val="1100"/>
              <a:buFont typeface="Arial"/>
              <a:buChar char="●"/>
            </a:pPr>
            <a:r>
              <a:rPr lang="en" sz="1100" b="1">
                <a:latin typeface="Arial"/>
                <a:ea typeface="Arial"/>
                <a:cs typeface="Arial"/>
                <a:sym typeface="Arial"/>
              </a:rPr>
              <a:t>Backups:</a:t>
            </a:r>
            <a:r>
              <a:rPr lang="en" sz="1100">
                <a:latin typeface="Arial"/>
                <a:ea typeface="Arial"/>
                <a:cs typeface="Arial"/>
                <a:sym typeface="Arial"/>
              </a:rPr>
              <a:t> Many remote backends provide automatic backups and versioning.</a:t>
            </a:r>
            <a:endParaRPr sz="1100">
              <a:latin typeface="Arial"/>
              <a:ea typeface="Arial"/>
              <a:cs typeface="Arial"/>
              <a:sym typeface="Arial"/>
            </a:endParaRPr>
          </a:p>
          <a:p>
            <a:pPr marL="457200" lvl="0" indent="-298450" algn="l" rtl="0">
              <a:spcBef>
                <a:spcPts val="0"/>
              </a:spcBef>
              <a:spcAft>
                <a:spcPts val="0"/>
              </a:spcAft>
              <a:buSzPts val="1100"/>
              <a:buFont typeface="Arial"/>
              <a:buChar char="●"/>
            </a:pPr>
            <a:r>
              <a:rPr lang="en" sz="1100" b="1">
                <a:latin typeface="Arial"/>
                <a:ea typeface="Arial"/>
                <a:cs typeface="Arial"/>
                <a:sym typeface="Arial"/>
              </a:rPr>
              <a:t>Security:</a:t>
            </a:r>
            <a:r>
              <a:rPr lang="en" sz="1100">
                <a:latin typeface="Arial"/>
                <a:ea typeface="Arial"/>
                <a:cs typeface="Arial"/>
                <a:sym typeface="Arial"/>
              </a:rPr>
              <a:t> Remote backends can encrypt the state file and use access controls.</a:t>
            </a:r>
            <a:endParaRPr sz="1100" b="1">
              <a:latin typeface="Arial"/>
              <a:ea typeface="Arial"/>
              <a:cs typeface="Arial"/>
              <a:sym typeface="Arial"/>
            </a:endParaRPr>
          </a:p>
          <a:p>
            <a:pPr marL="457200" lvl="0" indent="0" algn="l" rtl="0">
              <a:spcBef>
                <a:spcPts val="1200"/>
              </a:spcBef>
              <a:spcAft>
                <a:spcPts val="1200"/>
              </a:spcAft>
              <a:buNone/>
            </a:pPr>
            <a:r>
              <a:rPr lang="en" sz="900">
                <a:latin typeface="Arial"/>
                <a:ea typeface="Arial"/>
                <a:cs typeface="Arial"/>
                <a:sym typeface="Arial"/>
              </a:rPr>
              <a:t>.</a:t>
            </a:r>
            <a:endParaRPr sz="1100" b="1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2" name="Google Shape;262;p4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613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Terraform State Remote Management</a:t>
            </a:r>
            <a:endParaRPr/>
          </a:p>
        </p:txBody>
      </p:sp>
      <p:sp>
        <p:nvSpPr>
          <p:cNvPr id="263" name="Google Shape;263;p46"/>
          <p:cNvSpPr txBox="1">
            <a:spLocks noGrp="1"/>
          </p:cNvSpPr>
          <p:nvPr>
            <p:ph type="body" idx="1"/>
          </p:nvPr>
        </p:nvSpPr>
        <p:spPr>
          <a:xfrm>
            <a:off x="311700" y="942425"/>
            <a:ext cx="7114800" cy="3763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endParaRPr sz="1100" b="1">
              <a:latin typeface="Arial"/>
              <a:ea typeface="Arial"/>
              <a:cs typeface="Arial"/>
              <a:sym typeface="Arial"/>
            </a:endParaRPr>
          </a:p>
          <a:p>
            <a:pPr marL="457200" lvl="0" indent="-298450" algn="l" rtl="0">
              <a:spcBef>
                <a:spcPts val="1200"/>
              </a:spcBef>
              <a:spcAft>
                <a:spcPts val="0"/>
              </a:spcAft>
              <a:buSzPts val="1100"/>
              <a:buFont typeface="Arial"/>
              <a:buChar char="●"/>
            </a:pPr>
            <a:r>
              <a:rPr lang="en" sz="1100" b="1">
                <a:latin typeface="Arial"/>
                <a:ea typeface="Arial"/>
                <a:cs typeface="Arial"/>
                <a:sym typeface="Arial"/>
              </a:rPr>
              <a:t>Amazon S3</a:t>
            </a:r>
            <a:endParaRPr sz="900">
              <a:solidFill>
                <a:srgbClr val="188038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200"/>
              </a:spcBef>
              <a:spcAft>
                <a:spcPts val="0"/>
              </a:spcAft>
              <a:buNone/>
            </a:pPr>
            <a:r>
              <a:rPr lang="en" sz="9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terraform {</a:t>
            </a:r>
            <a:endParaRPr sz="900">
              <a:solidFill>
                <a:srgbClr val="188038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  backend "s3" {</a:t>
            </a:r>
            <a:endParaRPr sz="900">
              <a:solidFill>
                <a:srgbClr val="188038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    bucket         = "my-terraform-state"</a:t>
            </a:r>
            <a:endParaRPr sz="900">
              <a:solidFill>
                <a:srgbClr val="188038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    key            = "prod/terraform.tfstate"</a:t>
            </a:r>
            <a:endParaRPr sz="900">
              <a:solidFill>
                <a:srgbClr val="188038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    region         = "us-east-1"</a:t>
            </a:r>
            <a:endParaRPr sz="900">
              <a:solidFill>
                <a:srgbClr val="188038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  }</a:t>
            </a:r>
            <a:endParaRPr sz="900">
              <a:solidFill>
                <a:srgbClr val="188038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}</a:t>
            </a:r>
            <a:endParaRPr sz="900">
              <a:solidFill>
                <a:srgbClr val="188038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900">
              <a:solidFill>
                <a:srgbClr val="188038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marL="457200" lvl="0" indent="-298450" algn="l" rtl="0">
              <a:spcBef>
                <a:spcPts val="1200"/>
              </a:spcBef>
              <a:spcAft>
                <a:spcPts val="0"/>
              </a:spcAft>
              <a:buSzPts val="1100"/>
              <a:buFont typeface="Arial"/>
              <a:buChar char="●"/>
            </a:pPr>
            <a:r>
              <a:rPr lang="en" sz="1100">
                <a:latin typeface="Arial"/>
                <a:ea typeface="Arial"/>
                <a:cs typeface="Arial"/>
                <a:sym typeface="Arial"/>
              </a:rPr>
              <a:t>Terraform backend config can also be passed using custom .tfvars file using below command:</a:t>
            </a:r>
            <a:br>
              <a:rPr lang="en" sz="1100">
                <a:latin typeface="Arial"/>
                <a:ea typeface="Arial"/>
                <a:cs typeface="Arial"/>
                <a:sym typeface="Arial"/>
              </a:rPr>
            </a:br>
            <a:r>
              <a:rPr lang="en" sz="9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terraform init -backend-config=backend-config.tfvrs</a:t>
            </a:r>
            <a:endParaRPr sz="1100">
              <a:latin typeface="Arial"/>
              <a:ea typeface="Arial"/>
              <a:cs typeface="Arial"/>
              <a:sym typeface="Arial"/>
            </a:endParaRPr>
          </a:p>
          <a:p>
            <a:pPr marL="457200" lvl="0" indent="0" algn="l" rtl="0">
              <a:spcBef>
                <a:spcPts val="1200"/>
              </a:spcBef>
              <a:spcAft>
                <a:spcPts val="1200"/>
              </a:spcAft>
              <a:buNone/>
            </a:pPr>
            <a:r>
              <a:rPr lang="en" sz="900">
                <a:latin typeface="Arial"/>
                <a:ea typeface="Arial"/>
                <a:cs typeface="Arial"/>
                <a:sym typeface="Arial"/>
              </a:rPr>
              <a:t>.</a:t>
            </a:r>
            <a:endParaRPr sz="1100" b="1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8" name="Google Shape;268;p47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613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Terraform State Locking</a:t>
            </a:r>
            <a:endParaRPr/>
          </a:p>
        </p:txBody>
      </p:sp>
      <p:sp>
        <p:nvSpPr>
          <p:cNvPr id="269" name="Google Shape;269;p47"/>
          <p:cNvSpPr txBox="1">
            <a:spLocks noGrp="1"/>
          </p:cNvSpPr>
          <p:nvPr>
            <p:ph type="body" idx="1"/>
          </p:nvPr>
        </p:nvSpPr>
        <p:spPr>
          <a:xfrm>
            <a:off x="311700" y="690150"/>
            <a:ext cx="7114800" cy="3763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endParaRPr sz="1100" b="1">
              <a:latin typeface="Arial"/>
              <a:ea typeface="Arial"/>
              <a:cs typeface="Arial"/>
              <a:sym typeface="Arial"/>
            </a:endParaRPr>
          </a:p>
          <a:p>
            <a:pPr marL="457200" lvl="0" indent="-298450" algn="l" rtl="0">
              <a:spcBef>
                <a:spcPts val="1200"/>
              </a:spcBef>
              <a:spcAft>
                <a:spcPts val="0"/>
              </a:spcAft>
              <a:buSzPts val="1100"/>
              <a:buFont typeface="Arial"/>
              <a:buChar char="●"/>
            </a:pPr>
            <a:r>
              <a:rPr lang="en" sz="1100">
                <a:latin typeface="Arial"/>
                <a:ea typeface="Arial"/>
                <a:cs typeface="Arial"/>
                <a:sym typeface="Arial"/>
              </a:rPr>
              <a:t>State locking prevents multiple users from modifying the state file simultaneously, which could corrupt the file</a:t>
            </a:r>
            <a:endParaRPr sz="1100">
              <a:latin typeface="Arial"/>
              <a:ea typeface="Arial"/>
              <a:cs typeface="Arial"/>
              <a:sym typeface="Arial"/>
            </a:endParaRPr>
          </a:p>
          <a:p>
            <a:pPr marL="457200" lvl="0" indent="-298450" algn="l" rtl="0">
              <a:spcBef>
                <a:spcPts val="0"/>
              </a:spcBef>
              <a:spcAft>
                <a:spcPts val="0"/>
              </a:spcAft>
              <a:buSzPts val="1100"/>
              <a:buFont typeface="Arial"/>
              <a:buChar char="●"/>
            </a:pPr>
            <a:r>
              <a:rPr lang="en" sz="1100">
                <a:latin typeface="Arial"/>
                <a:ea typeface="Arial"/>
                <a:cs typeface="Arial"/>
                <a:sym typeface="Arial"/>
              </a:rPr>
              <a:t>S3 backend locking can be enabled using DynamoDB table.</a:t>
            </a:r>
            <a:endParaRPr sz="1100"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100">
                <a:latin typeface="Arial"/>
                <a:ea typeface="Arial"/>
                <a:cs typeface="Arial"/>
                <a:sym typeface="Arial"/>
              </a:rPr>
              <a:t>Enabling state locking in dynamodb for s3 backend:</a:t>
            </a:r>
            <a:endParaRPr sz="1100"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100">
                <a:latin typeface="Arial"/>
                <a:ea typeface="Arial"/>
                <a:cs typeface="Arial"/>
                <a:sym typeface="Arial"/>
              </a:rPr>
              <a:t>Create a DynamoDB table for locking:</a:t>
            </a:r>
            <a:endParaRPr sz="1100">
              <a:latin typeface="Arial"/>
              <a:ea typeface="Arial"/>
              <a:cs typeface="Arial"/>
              <a:sym typeface="Arial"/>
            </a:endParaRPr>
          </a:p>
          <a:p>
            <a:pPr marL="457200" lvl="0" indent="-298450" algn="l" rtl="0">
              <a:spcBef>
                <a:spcPts val="1200"/>
              </a:spcBef>
              <a:spcAft>
                <a:spcPts val="0"/>
              </a:spcAft>
              <a:buSzPts val="1100"/>
              <a:buFont typeface="Arial"/>
              <a:buAutoNum type="arabicPeriod"/>
            </a:pPr>
            <a:r>
              <a:rPr lang="en" sz="1100">
                <a:latin typeface="Arial"/>
                <a:ea typeface="Arial"/>
                <a:cs typeface="Arial"/>
                <a:sym typeface="Arial"/>
              </a:rPr>
              <a:t>In AWS Management Console:</a:t>
            </a:r>
            <a:endParaRPr sz="1100">
              <a:latin typeface="Arial"/>
              <a:ea typeface="Arial"/>
              <a:cs typeface="Arial"/>
              <a:sym typeface="Arial"/>
            </a:endParaRPr>
          </a:p>
          <a:p>
            <a:pPr marL="914400" lvl="1" indent="-298450" algn="l" rtl="0">
              <a:spcBef>
                <a:spcPts val="0"/>
              </a:spcBef>
              <a:spcAft>
                <a:spcPts val="0"/>
              </a:spcAft>
              <a:buSzPts val="1100"/>
              <a:buFont typeface="Arial"/>
              <a:buChar char="○"/>
            </a:pPr>
            <a:r>
              <a:rPr lang="en" sz="1100">
                <a:latin typeface="Arial"/>
                <a:ea typeface="Arial"/>
                <a:cs typeface="Arial"/>
                <a:sym typeface="Arial"/>
              </a:rPr>
              <a:t>Create a table with the name </a:t>
            </a:r>
            <a:r>
              <a:rPr lang="en" sz="11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terraform-lock</a:t>
            </a:r>
            <a:r>
              <a:rPr lang="en" sz="1100">
                <a:latin typeface="Arial"/>
                <a:ea typeface="Arial"/>
                <a:cs typeface="Arial"/>
                <a:sym typeface="Arial"/>
              </a:rPr>
              <a:t>.</a:t>
            </a:r>
            <a:endParaRPr sz="1100">
              <a:latin typeface="Arial"/>
              <a:ea typeface="Arial"/>
              <a:cs typeface="Arial"/>
              <a:sym typeface="Arial"/>
            </a:endParaRPr>
          </a:p>
          <a:p>
            <a:pPr marL="914400" lvl="1" indent="-298450" algn="l" rtl="0">
              <a:spcBef>
                <a:spcPts val="0"/>
              </a:spcBef>
              <a:spcAft>
                <a:spcPts val="0"/>
              </a:spcAft>
              <a:buSzPts val="1100"/>
              <a:buFont typeface="Arial"/>
              <a:buChar char="○"/>
            </a:pPr>
            <a:r>
              <a:rPr lang="en" sz="1100">
                <a:latin typeface="Arial"/>
                <a:ea typeface="Arial"/>
                <a:cs typeface="Arial"/>
                <a:sym typeface="Arial"/>
              </a:rPr>
              <a:t>Use </a:t>
            </a:r>
            <a:r>
              <a:rPr lang="en" sz="11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LockID</a:t>
            </a:r>
            <a:r>
              <a:rPr lang="en" sz="1100">
                <a:latin typeface="Arial"/>
                <a:ea typeface="Arial"/>
                <a:cs typeface="Arial"/>
                <a:sym typeface="Arial"/>
              </a:rPr>
              <a:t> as the partition key (string type).</a:t>
            </a:r>
            <a:endParaRPr sz="1100">
              <a:latin typeface="Arial"/>
              <a:ea typeface="Arial"/>
              <a:cs typeface="Arial"/>
              <a:sym typeface="Arial"/>
            </a:endParaRPr>
          </a:p>
          <a:p>
            <a:pPr marL="457200" lvl="0" indent="-298450" algn="l" rtl="0">
              <a:spcBef>
                <a:spcPts val="0"/>
              </a:spcBef>
              <a:spcAft>
                <a:spcPts val="0"/>
              </a:spcAft>
              <a:buSzPts val="1100"/>
              <a:buFont typeface="Arial"/>
              <a:buAutoNum type="arabicPeriod"/>
            </a:pPr>
            <a:r>
              <a:rPr lang="en" sz="1100">
                <a:latin typeface="Arial"/>
                <a:ea typeface="Arial"/>
                <a:cs typeface="Arial"/>
                <a:sym typeface="Arial"/>
              </a:rPr>
              <a:t>Configure Terraform:</a:t>
            </a:r>
            <a:endParaRPr sz="1100"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9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terraform {</a:t>
            </a:r>
            <a:endParaRPr sz="900">
              <a:solidFill>
                <a:srgbClr val="188038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  backend "s3" {</a:t>
            </a:r>
            <a:endParaRPr sz="900">
              <a:solidFill>
                <a:srgbClr val="188038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    bucket         = "my-terraform-state"</a:t>
            </a:r>
            <a:endParaRPr sz="900">
              <a:solidFill>
                <a:srgbClr val="188038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    key            = "prod/terraform.tfstate"</a:t>
            </a:r>
            <a:endParaRPr sz="900">
              <a:solidFill>
                <a:srgbClr val="188038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    region         = "us-east-1"</a:t>
            </a:r>
            <a:endParaRPr sz="900">
              <a:solidFill>
                <a:srgbClr val="188038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    dynamodb_table = "terraform-lock"</a:t>
            </a:r>
            <a:endParaRPr sz="900">
              <a:solidFill>
                <a:srgbClr val="188038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  }</a:t>
            </a:r>
            <a:endParaRPr sz="900">
              <a:solidFill>
                <a:srgbClr val="188038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}</a:t>
            </a:r>
            <a:endParaRPr sz="1100">
              <a:solidFill>
                <a:srgbClr val="188038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endParaRPr sz="1100">
              <a:latin typeface="Arial"/>
              <a:ea typeface="Arial"/>
              <a:cs typeface="Arial"/>
              <a:sym typeface="Arial"/>
            </a:endParaRPr>
          </a:p>
          <a:p>
            <a:pPr marL="457200" lvl="0" indent="0" algn="l" rtl="0">
              <a:spcBef>
                <a:spcPts val="1200"/>
              </a:spcBef>
              <a:spcAft>
                <a:spcPts val="1200"/>
              </a:spcAft>
              <a:buNone/>
            </a:pPr>
            <a:r>
              <a:rPr lang="en" sz="900">
                <a:latin typeface="Arial"/>
                <a:ea typeface="Arial"/>
                <a:cs typeface="Arial"/>
                <a:sym typeface="Arial"/>
              </a:rPr>
              <a:t>.</a:t>
            </a:r>
            <a:endParaRPr sz="1100" b="1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p48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613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Manage a manually created resource using TF</a:t>
            </a:r>
            <a:endParaRPr/>
          </a:p>
        </p:txBody>
      </p:sp>
      <p:sp>
        <p:nvSpPr>
          <p:cNvPr id="275" name="Google Shape;275;p48"/>
          <p:cNvSpPr txBox="1">
            <a:spLocks noGrp="1"/>
          </p:cNvSpPr>
          <p:nvPr>
            <p:ph type="body" idx="1"/>
          </p:nvPr>
        </p:nvSpPr>
        <p:spPr>
          <a:xfrm>
            <a:off x="311700" y="1091050"/>
            <a:ext cx="7114800" cy="3763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endParaRPr sz="1100" b="1">
              <a:latin typeface="Arial"/>
              <a:ea typeface="Arial"/>
              <a:cs typeface="Arial"/>
              <a:sym typeface="Arial"/>
            </a:endParaRPr>
          </a:p>
          <a:p>
            <a:pPr marL="457200" lvl="0" indent="-298450" algn="l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100"/>
              <a:buFont typeface="Arial"/>
              <a:buChar char="●"/>
            </a:pPr>
            <a:r>
              <a:rPr lang="en" sz="1100" b="1">
                <a:latin typeface="Arial"/>
                <a:ea typeface="Arial"/>
                <a:cs typeface="Arial"/>
                <a:sym typeface="Arial"/>
              </a:rPr>
              <a:t>Terraform Import: </a:t>
            </a:r>
            <a:r>
              <a:rPr lang="en" sz="1100">
                <a:latin typeface="Arial"/>
                <a:ea typeface="Arial"/>
                <a:cs typeface="Arial"/>
                <a:sym typeface="Arial"/>
              </a:rPr>
              <a:t>Terraform Import is a feature that allows you to bring existing infrastructure resources into Terraform state file. This is useful for managing infrastructure that was created outside of Terraform or when migrating to Terraform.</a:t>
            </a:r>
            <a:endParaRPr sz="1100">
              <a:latin typeface="Arial"/>
              <a:ea typeface="Arial"/>
              <a:cs typeface="Arial"/>
              <a:sym typeface="Arial"/>
            </a:endParaRPr>
          </a:p>
          <a:p>
            <a:pPr marL="457200" lvl="0" indent="0" algn="l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endParaRPr sz="1100">
              <a:latin typeface="Arial"/>
              <a:ea typeface="Arial"/>
              <a:cs typeface="Arial"/>
              <a:sym typeface="Arial"/>
            </a:endParaRPr>
          </a:p>
          <a:p>
            <a:pPr marL="457200" lvl="0" indent="-298450" algn="l" rtl="0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SzPts val="1100"/>
              <a:buFont typeface="Arial"/>
              <a:buChar char="●"/>
            </a:pPr>
            <a:r>
              <a:rPr lang="en" sz="1300" b="1">
                <a:latin typeface="Arial"/>
                <a:ea typeface="Arial"/>
                <a:cs typeface="Arial"/>
                <a:sym typeface="Arial"/>
              </a:rPr>
              <a:t> How Does Terraform Import Work: </a:t>
            </a:r>
            <a:r>
              <a:rPr lang="en" sz="1100">
                <a:latin typeface="Arial"/>
                <a:ea typeface="Arial"/>
                <a:cs typeface="Arial"/>
                <a:sym typeface="Arial"/>
              </a:rPr>
              <a:t>Terraform Import adds an existing resource to Terraform </a:t>
            </a:r>
            <a:r>
              <a:rPr lang="en" sz="1100" b="1">
                <a:latin typeface="Arial"/>
                <a:ea typeface="Arial"/>
                <a:cs typeface="Arial"/>
                <a:sym typeface="Arial"/>
              </a:rPr>
              <a:t>state file</a:t>
            </a:r>
            <a:r>
              <a:rPr lang="en" sz="1100">
                <a:latin typeface="Arial"/>
                <a:ea typeface="Arial"/>
                <a:cs typeface="Arial"/>
                <a:sym typeface="Arial"/>
              </a:rPr>
              <a:t>, but </a:t>
            </a:r>
            <a:r>
              <a:rPr lang="en" sz="1100" b="1">
                <a:latin typeface="Arial"/>
                <a:ea typeface="Arial"/>
                <a:cs typeface="Arial"/>
                <a:sym typeface="Arial"/>
              </a:rPr>
              <a:t>not the configuration</a:t>
            </a:r>
            <a:r>
              <a:rPr lang="en" sz="1100">
                <a:latin typeface="Arial"/>
                <a:ea typeface="Arial"/>
                <a:cs typeface="Arial"/>
                <a:sym typeface="Arial"/>
              </a:rPr>
              <a:t>. After the import, you must manually write the resource configuration in your </a:t>
            </a:r>
            <a:r>
              <a:rPr lang="en" sz="11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.tf</a:t>
            </a:r>
            <a:r>
              <a:rPr lang="en" sz="1100">
                <a:latin typeface="Arial"/>
                <a:ea typeface="Arial"/>
                <a:cs typeface="Arial"/>
                <a:sym typeface="Arial"/>
              </a:rPr>
              <a:t> files to match the imported resource.</a:t>
            </a:r>
            <a:endParaRPr sz="1100">
              <a:latin typeface="Arial"/>
              <a:ea typeface="Arial"/>
              <a:cs typeface="Arial"/>
              <a:sym typeface="Arial"/>
            </a:endParaRPr>
          </a:p>
          <a:p>
            <a:pPr marL="457200" lvl="0" indent="0" algn="l" rtl="0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None/>
            </a:pPr>
            <a:endParaRPr sz="1100">
              <a:latin typeface="Arial"/>
              <a:ea typeface="Arial"/>
              <a:cs typeface="Arial"/>
              <a:sym typeface="Arial"/>
            </a:endParaRPr>
          </a:p>
          <a:p>
            <a:pPr marL="457200" lvl="0" indent="-298450" algn="l" rtl="0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SzPts val="1100"/>
              <a:buFont typeface="Arial"/>
              <a:buChar char="●"/>
            </a:pPr>
            <a:r>
              <a:rPr lang="en" sz="1300" b="1">
                <a:latin typeface="Arial"/>
                <a:ea typeface="Arial"/>
                <a:cs typeface="Arial"/>
                <a:sym typeface="Arial"/>
              </a:rPr>
              <a:t>Basic Syntax</a:t>
            </a:r>
            <a:endParaRPr sz="1100">
              <a:latin typeface="Arial"/>
              <a:ea typeface="Arial"/>
              <a:cs typeface="Arial"/>
              <a:sym typeface="Arial"/>
            </a:endParaRPr>
          </a:p>
          <a:p>
            <a:pPr marL="457200" lvl="0" indent="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terraform import [options] &lt;RESOURCE_TYPE.NAME&gt; &lt;RESOURCE_ID&gt;</a:t>
            </a:r>
            <a:endParaRPr sz="1100">
              <a:solidFill>
                <a:srgbClr val="188038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marL="4572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100">
              <a:solidFill>
                <a:srgbClr val="188038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marL="4572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 b="1">
                <a:latin typeface="Arial"/>
                <a:ea typeface="Arial"/>
                <a:cs typeface="Arial"/>
                <a:sym typeface="Arial"/>
              </a:rPr>
              <a:t>Verify the Import</a:t>
            </a:r>
            <a:endParaRPr sz="1100" b="1">
              <a:latin typeface="Arial"/>
              <a:ea typeface="Arial"/>
              <a:cs typeface="Arial"/>
              <a:sym typeface="Arial"/>
            </a:endParaRPr>
          </a:p>
          <a:p>
            <a:pPr marL="4572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terraform state list</a:t>
            </a:r>
            <a:endParaRPr sz="1100">
              <a:solidFill>
                <a:srgbClr val="188038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1100">
              <a:latin typeface="Arial"/>
              <a:ea typeface="Arial"/>
              <a:cs typeface="Arial"/>
              <a:sym typeface="Arial"/>
            </a:endParaRPr>
          </a:p>
          <a:p>
            <a:pPr marL="45720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100">
              <a:solidFill>
                <a:srgbClr val="188038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marL="457200" lvl="0" indent="0" algn="l" rtl="0">
              <a:spcBef>
                <a:spcPts val="1200"/>
              </a:spcBef>
              <a:spcAft>
                <a:spcPts val="1200"/>
              </a:spcAft>
              <a:buNone/>
            </a:pPr>
            <a:r>
              <a:rPr lang="en" sz="900">
                <a:latin typeface="Arial"/>
                <a:ea typeface="Arial"/>
                <a:cs typeface="Arial"/>
                <a:sym typeface="Arial"/>
              </a:rPr>
              <a:t>.</a:t>
            </a:r>
            <a:endParaRPr sz="1100" b="1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0" name="Google Shape;280;p49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613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Unmanage a TF created resource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81" name="Google Shape;281;p49"/>
          <p:cNvSpPr txBox="1">
            <a:spLocks noGrp="1"/>
          </p:cNvSpPr>
          <p:nvPr>
            <p:ph type="body" idx="1"/>
          </p:nvPr>
        </p:nvSpPr>
        <p:spPr>
          <a:xfrm>
            <a:off x="311700" y="1091050"/>
            <a:ext cx="7114800" cy="3763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endParaRPr sz="1100" b="1">
              <a:latin typeface="Arial"/>
              <a:ea typeface="Arial"/>
              <a:cs typeface="Arial"/>
              <a:sym typeface="Arial"/>
            </a:endParaRPr>
          </a:p>
          <a:p>
            <a:pPr marL="457200" lvl="0" indent="-298450" algn="l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100"/>
              <a:buFont typeface="Arial"/>
              <a:buChar char="●"/>
            </a:pPr>
            <a:r>
              <a:rPr lang="en" sz="1100" b="1">
                <a:latin typeface="Arial"/>
                <a:ea typeface="Arial"/>
                <a:cs typeface="Arial"/>
                <a:sym typeface="Arial"/>
              </a:rPr>
              <a:t>Terraform State rm: </a:t>
            </a:r>
            <a:r>
              <a:rPr lang="en" sz="1100">
                <a:latin typeface="Arial"/>
                <a:ea typeface="Arial"/>
                <a:cs typeface="Arial"/>
                <a:sym typeface="Arial"/>
              </a:rPr>
              <a:t>The </a:t>
            </a:r>
            <a:r>
              <a:rPr lang="en" sz="11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terraform state rm</a:t>
            </a:r>
            <a:r>
              <a:rPr lang="en" sz="1100">
                <a:latin typeface="Arial"/>
                <a:ea typeface="Arial"/>
                <a:cs typeface="Arial"/>
                <a:sym typeface="Arial"/>
              </a:rPr>
              <a:t> command removes a resource from Terraform state file without destroying the resource itself. This makes Terraform "forget" the resource, effectively unmanaging it.</a:t>
            </a:r>
            <a:endParaRPr sz="1100">
              <a:latin typeface="Arial"/>
              <a:ea typeface="Arial"/>
              <a:cs typeface="Arial"/>
              <a:sym typeface="Arial"/>
            </a:endParaRPr>
          </a:p>
          <a:p>
            <a:pPr marL="457200" lvl="0" indent="0" algn="l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endParaRPr sz="1100">
              <a:latin typeface="Arial"/>
              <a:ea typeface="Arial"/>
              <a:cs typeface="Arial"/>
              <a:sym typeface="Arial"/>
            </a:endParaRPr>
          </a:p>
          <a:p>
            <a:pPr marL="457200" lvl="0" indent="-298450" algn="l" rtl="0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SzPts val="1100"/>
              <a:buFont typeface="Arial"/>
              <a:buChar char="●"/>
            </a:pPr>
            <a:r>
              <a:rPr lang="en" sz="1300" b="1">
                <a:latin typeface="Arial"/>
                <a:ea typeface="Arial"/>
                <a:cs typeface="Arial"/>
                <a:sym typeface="Arial"/>
              </a:rPr>
              <a:t>Basic Syntax</a:t>
            </a:r>
            <a:endParaRPr sz="1100">
              <a:latin typeface="Arial"/>
              <a:ea typeface="Arial"/>
              <a:cs typeface="Arial"/>
              <a:sym typeface="Arial"/>
            </a:endParaRPr>
          </a:p>
          <a:p>
            <a:pPr marL="457200" lvl="0" indent="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terraform state rm &lt;RESOURCE_ADDRESS&gt;</a:t>
            </a:r>
            <a:endParaRPr sz="1100">
              <a:solidFill>
                <a:srgbClr val="188038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marL="4572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100">
              <a:solidFill>
                <a:srgbClr val="188038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marL="4572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 b="1">
                <a:latin typeface="Arial"/>
                <a:ea typeface="Arial"/>
                <a:cs typeface="Arial"/>
                <a:sym typeface="Arial"/>
              </a:rPr>
              <a:t>Verify the Resource</a:t>
            </a:r>
            <a:endParaRPr sz="1100" b="1">
              <a:latin typeface="Arial"/>
              <a:ea typeface="Arial"/>
              <a:cs typeface="Arial"/>
              <a:sym typeface="Arial"/>
            </a:endParaRPr>
          </a:p>
          <a:p>
            <a:pPr marL="4572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terraform state list</a:t>
            </a:r>
            <a:endParaRPr sz="1100">
              <a:solidFill>
                <a:srgbClr val="188038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100">
              <a:latin typeface="Arial"/>
              <a:ea typeface="Arial"/>
              <a:cs typeface="Arial"/>
              <a:sym typeface="Arial"/>
            </a:endParaRPr>
          </a:p>
          <a:p>
            <a:pPr marL="45720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100">
              <a:solidFill>
                <a:srgbClr val="188038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marL="457200" lvl="0" indent="0" algn="l" rtl="0">
              <a:spcBef>
                <a:spcPts val="1200"/>
              </a:spcBef>
              <a:spcAft>
                <a:spcPts val="1200"/>
              </a:spcAft>
              <a:buNone/>
            </a:pPr>
            <a:r>
              <a:rPr lang="en" sz="900">
                <a:latin typeface="Arial"/>
                <a:ea typeface="Arial"/>
                <a:cs typeface="Arial"/>
                <a:sym typeface="Arial"/>
              </a:rPr>
              <a:t>.</a:t>
            </a:r>
            <a:endParaRPr sz="1100" b="1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" name="Google Shape;286;p50"/>
          <p:cNvSpPr txBox="1">
            <a:spLocks noGrp="1"/>
          </p:cNvSpPr>
          <p:nvPr>
            <p:ph type="title"/>
          </p:nvPr>
        </p:nvSpPr>
        <p:spPr>
          <a:xfrm>
            <a:off x="265500" y="1382350"/>
            <a:ext cx="4045200" cy="1333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Multi Environment IAC Management</a:t>
            </a:r>
            <a:endParaRPr/>
          </a:p>
        </p:txBody>
      </p:sp>
      <p:sp>
        <p:nvSpPr>
          <p:cNvPr id="287" name="Google Shape;287;p50"/>
          <p:cNvSpPr txBox="1">
            <a:spLocks noGrp="1"/>
          </p:cNvSpPr>
          <p:nvPr>
            <p:ph type="body" idx="2"/>
          </p:nvPr>
        </p:nvSpPr>
        <p:spPr>
          <a:xfrm>
            <a:off x="4939500" y="-139375"/>
            <a:ext cx="3837000" cy="5110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457200" lvl="0" indent="-311150" algn="l" rtl="0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 sz="1300" dirty="0"/>
              <a:t>Using separate tfvars</a:t>
            </a:r>
          </a:p>
          <a:p>
            <a:pPr marL="457200" lvl="0" indent="-311150" algn="l" rtl="0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 sz="1300" dirty="0"/>
              <a:t>Using Terraform Workspaces</a:t>
            </a:r>
            <a:endParaRPr sz="130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2" name="Google Shape;292;p5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613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Managing Multiple Env in Terraform with .tfvars</a:t>
            </a:r>
            <a:endParaRPr/>
          </a:p>
        </p:txBody>
      </p:sp>
      <p:sp>
        <p:nvSpPr>
          <p:cNvPr id="293" name="Google Shape;293;p51"/>
          <p:cNvSpPr txBox="1">
            <a:spLocks noGrp="1"/>
          </p:cNvSpPr>
          <p:nvPr>
            <p:ph type="body" idx="1"/>
          </p:nvPr>
        </p:nvSpPr>
        <p:spPr>
          <a:xfrm>
            <a:off x="311700" y="942425"/>
            <a:ext cx="7114800" cy="3763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endParaRPr sz="1100" b="1"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100">
                <a:latin typeface="Arial"/>
                <a:ea typeface="Arial"/>
                <a:cs typeface="Arial"/>
                <a:sym typeface="Arial"/>
              </a:rPr>
              <a:t>Terraform supports </a:t>
            </a:r>
            <a:r>
              <a:rPr lang="en" sz="1100" b="1">
                <a:latin typeface="Arial"/>
                <a:ea typeface="Arial"/>
                <a:cs typeface="Arial"/>
                <a:sym typeface="Arial"/>
              </a:rPr>
              <a:t>multi-environment workflows</a:t>
            </a:r>
            <a:r>
              <a:rPr lang="en" sz="1100">
                <a:latin typeface="Arial"/>
                <a:ea typeface="Arial"/>
                <a:cs typeface="Arial"/>
                <a:sym typeface="Arial"/>
              </a:rPr>
              <a:t>, where each environment (like </a:t>
            </a:r>
            <a:r>
              <a:rPr lang="en" sz="11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dev</a:t>
            </a:r>
            <a:r>
              <a:rPr lang="en" sz="1100">
                <a:latin typeface="Arial"/>
                <a:ea typeface="Arial"/>
                <a:cs typeface="Arial"/>
                <a:sym typeface="Arial"/>
              </a:rPr>
              <a:t>, </a:t>
            </a:r>
            <a:r>
              <a:rPr lang="en" sz="11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qa</a:t>
            </a:r>
            <a:r>
              <a:rPr lang="en" sz="1100">
                <a:latin typeface="Arial"/>
                <a:ea typeface="Arial"/>
                <a:cs typeface="Arial"/>
                <a:sym typeface="Arial"/>
              </a:rPr>
              <a:t>, and </a:t>
            </a:r>
            <a:r>
              <a:rPr lang="en" sz="11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prod</a:t>
            </a:r>
            <a:r>
              <a:rPr lang="en" sz="1100">
                <a:latin typeface="Arial"/>
                <a:ea typeface="Arial"/>
                <a:cs typeface="Arial"/>
                <a:sym typeface="Arial"/>
              </a:rPr>
              <a:t>) can have its own variable and backend configurations.</a:t>
            </a:r>
            <a:endParaRPr sz="1100"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100">
                <a:latin typeface="Arial"/>
                <a:ea typeface="Arial"/>
                <a:cs typeface="Arial"/>
                <a:sym typeface="Arial"/>
              </a:rPr>
              <a:t>Using </a:t>
            </a:r>
            <a:r>
              <a:rPr lang="en" sz="11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.tfvars</a:t>
            </a:r>
            <a:r>
              <a:rPr lang="en" sz="1100">
                <a:latin typeface="Arial"/>
                <a:ea typeface="Arial"/>
                <a:cs typeface="Arial"/>
                <a:sym typeface="Arial"/>
              </a:rPr>
              <a:t> files for environment-specific variables and </a:t>
            </a:r>
            <a:r>
              <a:rPr lang="en" sz="11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-backend-config</a:t>
            </a:r>
            <a:r>
              <a:rPr lang="en" sz="1100">
                <a:latin typeface="Arial"/>
                <a:ea typeface="Arial"/>
                <a:cs typeface="Arial"/>
                <a:sym typeface="Arial"/>
              </a:rPr>
              <a:t> files for environment-specific backend configurations, you can maintain isolated and reusable setups.</a:t>
            </a:r>
            <a:endParaRPr sz="1100"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9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project/</a:t>
            </a:r>
            <a:endParaRPr sz="900">
              <a:solidFill>
                <a:srgbClr val="188038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├── main.tf</a:t>
            </a:r>
            <a:endParaRPr sz="900">
              <a:solidFill>
                <a:srgbClr val="188038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├── variables.tf</a:t>
            </a:r>
            <a:endParaRPr sz="900">
              <a:solidFill>
                <a:srgbClr val="188038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├── outputs.tf</a:t>
            </a:r>
            <a:endParaRPr sz="900">
              <a:solidFill>
                <a:srgbClr val="188038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9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├── providers.tf</a:t>
            </a:r>
            <a:endParaRPr sz="900">
              <a:solidFill>
                <a:srgbClr val="188038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├── environment/</a:t>
            </a:r>
            <a:endParaRPr sz="900">
              <a:solidFill>
                <a:srgbClr val="188038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│   ├── dev/</a:t>
            </a:r>
            <a:endParaRPr sz="900">
              <a:solidFill>
                <a:srgbClr val="188038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│   │   ├── dev.tfvars</a:t>
            </a:r>
            <a:endParaRPr sz="900">
              <a:solidFill>
                <a:srgbClr val="188038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│   │   ├── dev_backend.tfvars</a:t>
            </a:r>
            <a:endParaRPr sz="900">
              <a:solidFill>
                <a:srgbClr val="188038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│   ├── qa/</a:t>
            </a:r>
            <a:endParaRPr sz="900">
              <a:solidFill>
                <a:srgbClr val="188038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│   │   ├── qa.tfvars</a:t>
            </a:r>
            <a:endParaRPr sz="900">
              <a:solidFill>
                <a:srgbClr val="188038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│   │   ├── qa_backend.tfvars</a:t>
            </a:r>
            <a:endParaRPr sz="900">
              <a:solidFill>
                <a:srgbClr val="188038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│   ├── prod/</a:t>
            </a:r>
            <a:endParaRPr sz="900">
              <a:solidFill>
                <a:srgbClr val="188038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│       ├── prod.tfvars</a:t>
            </a:r>
            <a:endParaRPr sz="900">
              <a:solidFill>
                <a:srgbClr val="188038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│       ├── prod_backend.tfvars</a:t>
            </a:r>
            <a:endParaRPr sz="1100">
              <a:solidFill>
                <a:srgbClr val="188038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marL="0" lvl="0" indent="0" algn="l" rtl="0">
              <a:spcBef>
                <a:spcPts val="1200"/>
              </a:spcBef>
              <a:spcAft>
                <a:spcPts val="1200"/>
              </a:spcAft>
              <a:buNone/>
            </a:pPr>
            <a:r>
              <a:rPr lang="en" sz="900">
                <a:latin typeface="Arial"/>
                <a:ea typeface="Arial"/>
                <a:cs typeface="Arial"/>
                <a:sym typeface="Arial"/>
              </a:rPr>
              <a:t>.</a:t>
            </a:r>
            <a:endParaRPr sz="1100" b="1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8" name="Google Shape;298;p52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613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Managing Multiple Env in Terraform with .tfvars</a:t>
            </a:r>
            <a:endParaRPr/>
          </a:p>
        </p:txBody>
      </p:sp>
      <p:sp>
        <p:nvSpPr>
          <p:cNvPr id="299" name="Google Shape;299;p52"/>
          <p:cNvSpPr txBox="1">
            <a:spLocks noGrp="1"/>
          </p:cNvSpPr>
          <p:nvPr>
            <p:ph type="body" idx="1"/>
          </p:nvPr>
        </p:nvSpPr>
        <p:spPr>
          <a:xfrm>
            <a:off x="311700" y="942425"/>
            <a:ext cx="7114800" cy="3763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endParaRPr sz="1100" b="1">
              <a:latin typeface="Arial"/>
              <a:ea typeface="Arial"/>
              <a:cs typeface="Arial"/>
              <a:sym typeface="Arial"/>
            </a:endParaRPr>
          </a:p>
          <a:p>
            <a:pPr marL="457200" lvl="0" indent="-298450" algn="l" rtl="0">
              <a:spcBef>
                <a:spcPts val="1200"/>
              </a:spcBef>
              <a:spcAft>
                <a:spcPts val="0"/>
              </a:spcAft>
              <a:buSzPts val="1100"/>
              <a:buFont typeface="Arial"/>
              <a:buChar char="●"/>
            </a:pPr>
            <a:r>
              <a:rPr lang="en" sz="1100" b="1">
                <a:latin typeface="Arial"/>
                <a:ea typeface="Arial"/>
                <a:cs typeface="Arial"/>
                <a:sym typeface="Arial"/>
              </a:rPr>
              <a:t>Run terraform init with the backend configuration file for the target environment:</a:t>
            </a:r>
            <a:endParaRPr sz="1100"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terraform init -backend-config=environment/dev/dev_backend.tfvars</a:t>
            </a:r>
            <a:endParaRPr sz="1100"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100">
                <a:latin typeface="Arial"/>
                <a:ea typeface="Arial"/>
                <a:cs typeface="Arial"/>
                <a:sym typeface="Arial"/>
              </a:rPr>
              <a:t>This dynamically sets the backend configuration for the </a:t>
            </a:r>
            <a:r>
              <a:rPr lang="en" sz="11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dev</a:t>
            </a:r>
            <a:r>
              <a:rPr lang="en" sz="1100">
                <a:latin typeface="Arial"/>
                <a:ea typeface="Arial"/>
                <a:cs typeface="Arial"/>
                <a:sym typeface="Arial"/>
              </a:rPr>
              <a:t> environment.</a:t>
            </a:r>
            <a:endParaRPr sz="1100">
              <a:latin typeface="Arial"/>
              <a:ea typeface="Arial"/>
              <a:cs typeface="Arial"/>
              <a:sym typeface="Arial"/>
            </a:endParaRPr>
          </a:p>
          <a:p>
            <a:pPr marL="457200" lvl="0" indent="-298450" algn="l" rtl="0">
              <a:spcBef>
                <a:spcPts val="1200"/>
              </a:spcBef>
              <a:spcAft>
                <a:spcPts val="0"/>
              </a:spcAft>
              <a:buSzPts val="1100"/>
              <a:buFont typeface="Arial"/>
              <a:buChar char="●"/>
            </a:pPr>
            <a:r>
              <a:rPr lang="en" sz="1100" b="1">
                <a:latin typeface="Arial"/>
                <a:ea typeface="Arial"/>
                <a:cs typeface="Arial"/>
                <a:sym typeface="Arial"/>
              </a:rPr>
              <a:t>Plan with Environment-Specific Variables</a:t>
            </a:r>
            <a:endParaRPr sz="1100" b="1"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100">
                <a:latin typeface="Arial"/>
                <a:ea typeface="Arial"/>
                <a:cs typeface="Arial"/>
                <a:sym typeface="Arial"/>
              </a:rPr>
              <a:t>Generate a plan using the environment-specific </a:t>
            </a:r>
            <a:r>
              <a:rPr lang="en" sz="11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.tfvars</a:t>
            </a:r>
            <a:r>
              <a:rPr lang="en" sz="1100">
                <a:latin typeface="Arial"/>
                <a:ea typeface="Arial"/>
                <a:cs typeface="Arial"/>
                <a:sym typeface="Arial"/>
              </a:rPr>
              <a:t> file:</a:t>
            </a:r>
            <a:endParaRPr sz="1100"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terraform plan -var-file=environment/dev/dev.tfvars</a:t>
            </a:r>
            <a:endParaRPr sz="1100">
              <a:latin typeface="Arial"/>
              <a:ea typeface="Arial"/>
              <a:cs typeface="Arial"/>
              <a:sym typeface="Arial"/>
            </a:endParaRPr>
          </a:p>
          <a:p>
            <a:pPr marL="457200" lvl="0" indent="-298450" algn="l" rtl="0">
              <a:spcBef>
                <a:spcPts val="1200"/>
              </a:spcBef>
              <a:spcAft>
                <a:spcPts val="0"/>
              </a:spcAft>
              <a:buSzPts val="1100"/>
              <a:buFont typeface="Arial"/>
              <a:buChar char="●"/>
            </a:pPr>
            <a:r>
              <a:rPr lang="en" sz="1100" b="1">
                <a:latin typeface="Arial"/>
                <a:ea typeface="Arial"/>
                <a:cs typeface="Arial"/>
                <a:sym typeface="Arial"/>
              </a:rPr>
              <a:t>Apply the Changes</a:t>
            </a:r>
            <a:endParaRPr sz="1100" b="1"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100">
                <a:latin typeface="Arial"/>
                <a:ea typeface="Arial"/>
                <a:cs typeface="Arial"/>
                <a:sym typeface="Arial"/>
              </a:rPr>
              <a:t>Apply the plan using the same </a:t>
            </a:r>
            <a:r>
              <a:rPr lang="en" sz="11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.tfvars</a:t>
            </a:r>
            <a:r>
              <a:rPr lang="en" sz="1100">
                <a:latin typeface="Arial"/>
                <a:ea typeface="Arial"/>
                <a:cs typeface="Arial"/>
                <a:sym typeface="Arial"/>
              </a:rPr>
              <a:t> file:</a:t>
            </a:r>
            <a:endParaRPr sz="1100"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1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terraform apply -var-file=environment/dev/dev.tfvars</a:t>
            </a:r>
            <a:endParaRPr sz="1100">
              <a:solidFill>
                <a:srgbClr val="188038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marL="0" lvl="0" indent="0" algn="l" rtl="0">
              <a:spcBef>
                <a:spcPts val="1200"/>
              </a:spcBef>
              <a:spcAft>
                <a:spcPts val="1200"/>
              </a:spcAft>
              <a:buNone/>
            </a:pPr>
            <a:endParaRPr sz="1100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4" name="Google Shape;304;p53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613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Managing Multiple Env with workspaces</a:t>
            </a:r>
            <a:endParaRPr/>
          </a:p>
        </p:txBody>
      </p:sp>
      <p:sp>
        <p:nvSpPr>
          <p:cNvPr id="305" name="Google Shape;305;p53"/>
          <p:cNvSpPr txBox="1">
            <a:spLocks noGrp="1"/>
          </p:cNvSpPr>
          <p:nvPr>
            <p:ph type="body" idx="1"/>
          </p:nvPr>
        </p:nvSpPr>
        <p:spPr>
          <a:xfrm>
            <a:off x="311699" y="942424"/>
            <a:ext cx="8399593" cy="4086776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100" dirty="0">
                <a:latin typeface="Arial"/>
                <a:ea typeface="Arial"/>
                <a:cs typeface="Arial"/>
                <a:sym typeface="Arial"/>
              </a:rPr>
              <a:t>Terraform workspaces are a built-in feature that allows you to manage multiple environments by isolating state files. Each workspace has its own state file, making it easy to manage resources for different environments like </a:t>
            </a:r>
            <a:r>
              <a:rPr lang="en" sz="1100" dirty="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dev</a:t>
            </a:r>
            <a:r>
              <a:rPr lang="en" sz="1100" dirty="0">
                <a:latin typeface="Arial"/>
                <a:ea typeface="Arial"/>
                <a:cs typeface="Arial"/>
                <a:sym typeface="Arial"/>
              </a:rPr>
              <a:t>, </a:t>
            </a:r>
            <a:r>
              <a:rPr lang="en" sz="1100" dirty="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qa</a:t>
            </a:r>
            <a:r>
              <a:rPr lang="en" sz="1100" dirty="0">
                <a:latin typeface="Arial"/>
                <a:ea typeface="Arial"/>
                <a:cs typeface="Arial"/>
                <a:sym typeface="Arial"/>
              </a:rPr>
              <a:t>, and </a:t>
            </a:r>
            <a:r>
              <a:rPr lang="en" sz="1100" dirty="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prod</a:t>
            </a:r>
            <a:endParaRPr sz="1100" dirty="0">
              <a:solidFill>
                <a:srgbClr val="188038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marL="457200" lvl="0" indent="-298450" algn="l" rtl="0">
              <a:spcBef>
                <a:spcPts val="1200"/>
              </a:spcBef>
              <a:spcAft>
                <a:spcPts val="0"/>
              </a:spcAft>
              <a:buSzPts val="1100"/>
              <a:buChar char="●"/>
            </a:pPr>
            <a:r>
              <a:rPr lang="en" sz="1100" dirty="0">
                <a:latin typeface="Arial"/>
                <a:ea typeface="Arial"/>
                <a:cs typeface="Arial"/>
                <a:sym typeface="Arial"/>
              </a:rPr>
              <a:t>Terraform starts with a default workspace named </a:t>
            </a:r>
            <a:r>
              <a:rPr lang="en" sz="1100" dirty="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default</a:t>
            </a:r>
            <a:r>
              <a:rPr lang="en" sz="1100" dirty="0">
                <a:latin typeface="Arial"/>
                <a:ea typeface="Arial"/>
                <a:cs typeface="Arial"/>
                <a:sym typeface="Arial"/>
              </a:rPr>
              <a:t>.</a:t>
            </a:r>
            <a:endParaRPr sz="1100" dirty="0">
              <a:latin typeface="Arial"/>
              <a:ea typeface="Arial"/>
              <a:cs typeface="Arial"/>
              <a:sym typeface="Arial"/>
            </a:endParaRPr>
          </a:p>
          <a:p>
            <a:pPr marL="457200" lvl="0" indent="-298450" algn="l" rtl="0">
              <a:spcBef>
                <a:spcPts val="1200"/>
              </a:spcBef>
              <a:spcAft>
                <a:spcPts val="0"/>
              </a:spcAft>
              <a:buSzPts val="1100"/>
              <a:buChar char="●"/>
            </a:pPr>
            <a:r>
              <a:rPr lang="en" sz="1100" dirty="0">
                <a:latin typeface="Arial"/>
                <a:ea typeface="Arial"/>
                <a:cs typeface="Arial"/>
                <a:sym typeface="Arial"/>
              </a:rPr>
              <a:t>Use the </a:t>
            </a:r>
            <a:r>
              <a:rPr lang="en" sz="1100" dirty="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terraform workspace new</a:t>
            </a:r>
            <a:r>
              <a:rPr lang="en" sz="1100" dirty="0">
                <a:latin typeface="Arial"/>
                <a:ea typeface="Arial"/>
                <a:cs typeface="Arial"/>
                <a:sym typeface="Arial"/>
              </a:rPr>
              <a:t> command to create workspaces for each environment.</a:t>
            </a:r>
            <a:endParaRPr sz="1100" dirty="0"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100" dirty="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terraform workspace new dev</a:t>
            </a:r>
            <a:endParaRPr sz="1100" dirty="0">
              <a:solidFill>
                <a:srgbClr val="188038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marL="457200" lvl="0" indent="-298450" algn="l" rtl="0">
              <a:spcBef>
                <a:spcPts val="1200"/>
              </a:spcBef>
              <a:spcAft>
                <a:spcPts val="0"/>
              </a:spcAft>
              <a:buSzPts val="1100"/>
              <a:buFont typeface="Arial"/>
              <a:buChar char="●"/>
            </a:pPr>
            <a:r>
              <a:rPr lang="en" sz="1100" dirty="0">
                <a:latin typeface="Arial"/>
                <a:ea typeface="Arial"/>
                <a:cs typeface="Arial"/>
                <a:sym typeface="Arial"/>
              </a:rPr>
              <a:t>Use the following command to see all available workspaces:</a:t>
            </a:r>
            <a:endParaRPr sz="1100" dirty="0"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100" dirty="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terraform workspace list</a:t>
            </a:r>
          </a:p>
          <a:p>
            <a:pPr indent="-298450">
              <a:spcBef>
                <a:spcPts val="1200"/>
              </a:spcBef>
              <a:buSzPts val="1100"/>
              <a:buFont typeface="Arial"/>
              <a:buChar char="●"/>
            </a:pPr>
            <a:r>
              <a:rPr lang="en-US" sz="1100" dirty="0">
                <a:latin typeface="Arial"/>
                <a:cs typeface="Arial"/>
                <a:sym typeface="Roboto Mono"/>
              </a:rPr>
              <a:t>Switch to another workspace:</a:t>
            </a:r>
          </a:p>
          <a:p>
            <a:pPr marL="0" indent="0">
              <a:spcBef>
                <a:spcPts val="1200"/>
              </a:spcBef>
              <a:buNone/>
            </a:pPr>
            <a:r>
              <a:rPr lang="en-US" sz="1100" dirty="0">
                <a:solidFill>
                  <a:srgbClr val="188038"/>
                </a:solidFill>
                <a:latin typeface="Roboto Mono"/>
                <a:ea typeface="Roboto Mono"/>
                <a:sym typeface="Roboto Mono"/>
              </a:rPr>
              <a:t>terraform workspace select default</a:t>
            </a:r>
            <a:endParaRPr sz="1100" dirty="0">
              <a:solidFill>
                <a:srgbClr val="188038"/>
              </a:solidFill>
              <a:latin typeface="Roboto Mono"/>
              <a:ea typeface="Roboto Mono"/>
              <a:sym typeface="Roboto Mono"/>
            </a:endParaRPr>
          </a:p>
          <a:p>
            <a:pPr indent="-298450">
              <a:spcBef>
                <a:spcPts val="1200"/>
              </a:spcBef>
              <a:buSzPts val="1100"/>
              <a:buFont typeface="Arial"/>
              <a:buChar char="●"/>
            </a:pPr>
            <a:r>
              <a:rPr lang="en-US" sz="1100" dirty="0">
                <a:latin typeface="Arial"/>
                <a:cs typeface="Arial"/>
                <a:sym typeface="Roboto Mono"/>
              </a:rPr>
              <a:t>Delete workspace:</a:t>
            </a:r>
          </a:p>
          <a:p>
            <a:pPr marL="0" indent="0">
              <a:spcBef>
                <a:spcPts val="1200"/>
              </a:spcBef>
              <a:buNone/>
            </a:pPr>
            <a:r>
              <a:rPr lang="en-US" sz="1100" dirty="0">
                <a:solidFill>
                  <a:srgbClr val="188038"/>
                </a:solidFill>
                <a:latin typeface="Roboto Mono"/>
                <a:ea typeface="Roboto Mono"/>
                <a:sym typeface="Roboto Mono"/>
              </a:rPr>
              <a:t>terraform workspace delete dev</a:t>
            </a:r>
          </a:p>
          <a:p>
            <a:pPr marL="0" indent="0">
              <a:spcBef>
                <a:spcPts val="1200"/>
              </a:spcBef>
              <a:buNone/>
            </a:pPr>
            <a:r>
              <a:rPr lang="en-US" sz="1100" dirty="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Variable: ${</a:t>
            </a:r>
            <a:r>
              <a:rPr lang="en-US" sz="1100" dirty="0" err="1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terraform.workspace</a:t>
            </a:r>
            <a:r>
              <a:rPr lang="en-US" sz="1100" dirty="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}</a:t>
            </a:r>
            <a:endParaRPr sz="1100" dirty="0">
              <a:solidFill>
                <a:srgbClr val="188038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marL="0" lvl="0" indent="0" algn="l" rtl="0">
              <a:spcBef>
                <a:spcPts val="1200"/>
              </a:spcBef>
              <a:spcAft>
                <a:spcPts val="1200"/>
              </a:spcAft>
              <a:buNone/>
            </a:pPr>
            <a:endParaRPr sz="1100" dirty="0">
              <a:solidFill>
                <a:srgbClr val="188038"/>
              </a:solidFill>
              <a:latin typeface="Roboto Mono"/>
              <a:ea typeface="Roboto Mono"/>
              <a:cs typeface="Roboto Mono"/>
              <a:sym typeface="Roboto Mono"/>
            </a:endParaRP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0" name="Google Shape;310;p54"/>
          <p:cNvSpPr txBox="1">
            <a:spLocks noGrp="1"/>
          </p:cNvSpPr>
          <p:nvPr>
            <p:ph type="title"/>
          </p:nvPr>
        </p:nvSpPr>
        <p:spPr>
          <a:xfrm>
            <a:off x="265500" y="1382350"/>
            <a:ext cx="4045200" cy="1333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Multi Provider setup</a:t>
            </a:r>
            <a:endParaRPr/>
          </a:p>
        </p:txBody>
      </p:sp>
      <p:sp>
        <p:nvSpPr>
          <p:cNvPr id="311" name="Google Shape;311;p54"/>
          <p:cNvSpPr txBox="1">
            <a:spLocks noGrp="1"/>
          </p:cNvSpPr>
          <p:nvPr>
            <p:ph type="body" idx="2"/>
          </p:nvPr>
        </p:nvSpPr>
        <p:spPr>
          <a:xfrm>
            <a:off x="4939500" y="-139375"/>
            <a:ext cx="3837000" cy="5110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457200" lvl="0" indent="-311150" algn="l" rtl="0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 sz="1300"/>
              <a:t>Need of multi provider setup</a:t>
            </a:r>
            <a:endParaRPr sz="1300"/>
          </a:p>
          <a:p>
            <a:pPr marL="457200" lvl="0" indent="-311150" algn="l" rtl="0">
              <a:spcBef>
                <a:spcPts val="1600"/>
              </a:spcBef>
              <a:spcAft>
                <a:spcPts val="1600"/>
              </a:spcAft>
              <a:buSzPts val="1300"/>
              <a:buChar char="●"/>
            </a:pPr>
            <a:r>
              <a:rPr lang="en" sz="1300"/>
              <a:t>How to use multi provider</a:t>
            </a:r>
            <a:endParaRPr sz="130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6" name="Google Shape;316;p5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613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Managing Multiple Providers in Terraform</a:t>
            </a:r>
            <a:endParaRPr/>
          </a:p>
        </p:txBody>
      </p:sp>
      <p:sp>
        <p:nvSpPr>
          <p:cNvPr id="317" name="Google Shape;317;p55"/>
          <p:cNvSpPr txBox="1">
            <a:spLocks noGrp="1"/>
          </p:cNvSpPr>
          <p:nvPr>
            <p:ph type="body" idx="1"/>
          </p:nvPr>
        </p:nvSpPr>
        <p:spPr>
          <a:xfrm>
            <a:off x="311700" y="942425"/>
            <a:ext cx="7114800" cy="3763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endParaRPr sz="1100" b="1">
              <a:latin typeface="Arial"/>
              <a:ea typeface="Arial"/>
              <a:cs typeface="Arial"/>
              <a:sym typeface="Arial"/>
            </a:endParaRPr>
          </a:p>
          <a:p>
            <a:pPr marL="457200" lvl="0" indent="-298450" algn="l" rtl="0">
              <a:spcBef>
                <a:spcPts val="1200"/>
              </a:spcBef>
              <a:spcAft>
                <a:spcPts val="0"/>
              </a:spcAft>
              <a:buSzPts val="1100"/>
              <a:buFont typeface="Arial"/>
              <a:buChar char="●"/>
            </a:pPr>
            <a:r>
              <a:rPr lang="en" sz="1100">
                <a:latin typeface="Arial"/>
                <a:ea typeface="Arial"/>
                <a:cs typeface="Arial"/>
                <a:sym typeface="Arial"/>
              </a:rPr>
              <a:t>Terraform provider aliases allow you to configure and use multiple instances of the same provider within the same configuration.</a:t>
            </a:r>
            <a:endParaRPr sz="1100">
              <a:latin typeface="Arial"/>
              <a:ea typeface="Arial"/>
              <a:cs typeface="Arial"/>
              <a:sym typeface="Arial"/>
            </a:endParaRPr>
          </a:p>
          <a:p>
            <a:pPr marL="457200" lvl="0" indent="-298450" algn="l" rtl="0">
              <a:spcBef>
                <a:spcPts val="0"/>
              </a:spcBef>
              <a:spcAft>
                <a:spcPts val="0"/>
              </a:spcAft>
              <a:buSzPts val="1100"/>
              <a:buFont typeface="Arial"/>
              <a:buChar char="●"/>
            </a:pPr>
            <a:r>
              <a:rPr lang="en" sz="1100">
                <a:latin typeface="Arial"/>
                <a:ea typeface="Arial"/>
                <a:cs typeface="Arial"/>
                <a:sym typeface="Arial"/>
              </a:rPr>
              <a:t>This is useful when you need to interact with </a:t>
            </a:r>
            <a:r>
              <a:rPr lang="en" sz="1100" b="1">
                <a:latin typeface="Arial"/>
                <a:ea typeface="Arial"/>
                <a:cs typeface="Arial"/>
                <a:sym typeface="Arial"/>
              </a:rPr>
              <a:t>Different accounts or regions</a:t>
            </a:r>
            <a:r>
              <a:rPr lang="en" sz="1100">
                <a:latin typeface="Arial"/>
                <a:ea typeface="Arial"/>
                <a:cs typeface="Arial"/>
                <a:sym typeface="Arial"/>
              </a:rPr>
              <a:t> of the same provider.</a:t>
            </a:r>
            <a:endParaRPr sz="1100">
              <a:latin typeface="Arial"/>
              <a:ea typeface="Arial"/>
              <a:cs typeface="Arial"/>
              <a:sym typeface="Arial"/>
            </a:endParaRPr>
          </a:p>
          <a:p>
            <a:pPr marL="457200" lvl="0" indent="-298450" algn="l" rtl="0">
              <a:spcBef>
                <a:spcPts val="0"/>
              </a:spcBef>
              <a:spcAft>
                <a:spcPts val="0"/>
              </a:spcAft>
              <a:buSzPts val="1100"/>
              <a:buFont typeface="Arial"/>
              <a:buChar char="●"/>
            </a:pPr>
            <a:r>
              <a:rPr lang="en" sz="1100">
                <a:latin typeface="Arial"/>
                <a:ea typeface="Arial"/>
                <a:cs typeface="Arial"/>
                <a:sym typeface="Arial"/>
              </a:rPr>
              <a:t>It help us to manage resources across multiple AWS accounts or regions in the same configuration.</a:t>
            </a:r>
            <a:endParaRPr sz="1100">
              <a:latin typeface="Arial"/>
              <a:ea typeface="Arial"/>
              <a:cs typeface="Arial"/>
              <a:sym typeface="Arial"/>
            </a:endParaRPr>
          </a:p>
          <a:p>
            <a:pPr marL="457200" lvl="0" indent="-298450" algn="l" rtl="0">
              <a:spcBef>
                <a:spcPts val="0"/>
              </a:spcBef>
              <a:spcAft>
                <a:spcPts val="0"/>
              </a:spcAft>
              <a:buSzPts val="1100"/>
              <a:buFont typeface="Arial"/>
              <a:buChar char="●"/>
            </a:pPr>
            <a:r>
              <a:rPr lang="en" sz="1100">
                <a:latin typeface="Arial"/>
                <a:ea typeface="Arial"/>
                <a:cs typeface="Arial"/>
                <a:sym typeface="Arial"/>
              </a:rPr>
              <a:t>To define an alias for a provider, use the </a:t>
            </a:r>
            <a:r>
              <a:rPr lang="en" sz="11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alias</a:t>
            </a:r>
            <a:r>
              <a:rPr lang="en" sz="1100">
                <a:latin typeface="Arial"/>
                <a:ea typeface="Arial"/>
                <a:cs typeface="Arial"/>
                <a:sym typeface="Arial"/>
              </a:rPr>
              <a:t> argument inside the provider block.</a:t>
            </a:r>
            <a:endParaRPr sz="1100">
              <a:latin typeface="Arial"/>
              <a:ea typeface="Arial"/>
              <a:cs typeface="Arial"/>
              <a:sym typeface="Arial"/>
            </a:endParaRPr>
          </a:p>
          <a:p>
            <a:pPr marL="45720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100" b="1">
                <a:latin typeface="Arial"/>
                <a:ea typeface="Arial"/>
                <a:cs typeface="Arial"/>
                <a:sym typeface="Arial"/>
              </a:rPr>
              <a:t>Example:</a:t>
            </a:r>
            <a:endParaRPr sz="1100"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9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provider "aws" {</a:t>
            </a:r>
            <a:endParaRPr sz="900">
              <a:solidFill>
                <a:srgbClr val="188038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  region = "us-east-1"</a:t>
            </a:r>
            <a:endParaRPr sz="900">
              <a:solidFill>
                <a:srgbClr val="188038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}</a:t>
            </a:r>
            <a:endParaRPr sz="900">
              <a:solidFill>
                <a:srgbClr val="188038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900">
              <a:solidFill>
                <a:srgbClr val="188038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provider "aws" {</a:t>
            </a:r>
            <a:endParaRPr sz="900">
              <a:solidFill>
                <a:srgbClr val="188038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  alias  = "us-west"</a:t>
            </a:r>
            <a:endParaRPr sz="900">
              <a:solidFill>
                <a:srgbClr val="188038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  region = "us-west-1"</a:t>
            </a:r>
            <a:endParaRPr sz="900">
              <a:solidFill>
                <a:srgbClr val="188038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}</a:t>
            </a:r>
            <a:endParaRPr sz="1100"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spcBef>
                <a:spcPts val="1200"/>
              </a:spcBef>
              <a:spcAft>
                <a:spcPts val="1200"/>
              </a:spcAft>
              <a:buNone/>
            </a:pPr>
            <a:endParaRPr sz="1100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2" name="Google Shape;322;p5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613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Managing Multiple Providers in Terraform</a:t>
            </a:r>
            <a:endParaRPr/>
          </a:p>
        </p:txBody>
      </p:sp>
      <p:sp>
        <p:nvSpPr>
          <p:cNvPr id="323" name="Google Shape;323;p56"/>
          <p:cNvSpPr txBox="1">
            <a:spLocks noGrp="1"/>
          </p:cNvSpPr>
          <p:nvPr>
            <p:ph type="body" idx="1"/>
          </p:nvPr>
        </p:nvSpPr>
        <p:spPr>
          <a:xfrm>
            <a:off x="311700" y="942425"/>
            <a:ext cx="7114800" cy="3763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endParaRPr sz="1100" b="1"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100">
                <a:latin typeface="Arial"/>
                <a:ea typeface="Arial"/>
                <a:cs typeface="Arial"/>
                <a:sym typeface="Arial"/>
              </a:rPr>
              <a:t>When referencing an aliased provider in a resource block, use the </a:t>
            </a:r>
            <a:r>
              <a:rPr lang="en" sz="11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provider</a:t>
            </a:r>
            <a:r>
              <a:rPr lang="en" sz="1100">
                <a:latin typeface="Arial"/>
                <a:ea typeface="Arial"/>
                <a:cs typeface="Arial"/>
                <a:sym typeface="Arial"/>
              </a:rPr>
              <a:t> argument.</a:t>
            </a:r>
            <a:endParaRPr sz="1100"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100" b="1">
                <a:latin typeface="Arial"/>
                <a:ea typeface="Arial"/>
                <a:cs typeface="Arial"/>
                <a:sym typeface="Arial"/>
              </a:rPr>
              <a:t>Example:</a:t>
            </a:r>
            <a:endParaRPr sz="1100"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# This uses the default AWS provider (us-east-1)</a:t>
            </a:r>
            <a:endParaRPr sz="1100">
              <a:solidFill>
                <a:srgbClr val="188038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resource "aws_s3_bucket" "default_region" {</a:t>
            </a:r>
            <a:endParaRPr sz="1100">
              <a:solidFill>
                <a:srgbClr val="188038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  bucket = "my-default-region-bucket"</a:t>
            </a:r>
            <a:endParaRPr sz="1100">
              <a:solidFill>
                <a:srgbClr val="188038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  acl    = "private"</a:t>
            </a:r>
            <a:endParaRPr sz="1100">
              <a:solidFill>
                <a:srgbClr val="188038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}</a:t>
            </a:r>
            <a:endParaRPr sz="1100">
              <a:solidFill>
                <a:srgbClr val="188038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100">
              <a:solidFill>
                <a:srgbClr val="188038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# This uses the aliased AWS provider (us-west-1)</a:t>
            </a:r>
            <a:endParaRPr sz="1100">
              <a:solidFill>
                <a:srgbClr val="188038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resource "aws_s3_bucket" "west_region" {</a:t>
            </a:r>
            <a:endParaRPr sz="1100">
              <a:solidFill>
                <a:srgbClr val="188038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  bucket   = "my-west-region-bucket"</a:t>
            </a:r>
            <a:endParaRPr sz="1100">
              <a:solidFill>
                <a:srgbClr val="188038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  acl      = "private"</a:t>
            </a:r>
            <a:endParaRPr sz="1100">
              <a:solidFill>
                <a:srgbClr val="188038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  provider = aws.us-west</a:t>
            </a:r>
            <a:endParaRPr sz="1100">
              <a:solidFill>
                <a:srgbClr val="188038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1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}</a:t>
            </a:r>
            <a:endParaRPr sz="1100">
              <a:solidFill>
                <a:srgbClr val="188038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100"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spcBef>
                <a:spcPts val="1200"/>
              </a:spcBef>
              <a:spcAft>
                <a:spcPts val="1200"/>
              </a:spcAft>
              <a:buNone/>
            </a:pPr>
            <a:endParaRPr sz="1100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8" name="Google Shape;328;p57"/>
          <p:cNvSpPr txBox="1">
            <a:spLocks noGrp="1"/>
          </p:cNvSpPr>
          <p:nvPr>
            <p:ph type="title"/>
          </p:nvPr>
        </p:nvSpPr>
        <p:spPr>
          <a:xfrm>
            <a:off x="265500" y="1382350"/>
            <a:ext cx="4045200" cy="1333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Terraform Provisioners</a:t>
            </a:r>
            <a:endParaRPr/>
          </a:p>
        </p:txBody>
      </p:sp>
      <p:sp>
        <p:nvSpPr>
          <p:cNvPr id="329" name="Google Shape;329;p57"/>
          <p:cNvSpPr txBox="1">
            <a:spLocks noGrp="1"/>
          </p:cNvSpPr>
          <p:nvPr>
            <p:ph type="body" idx="2"/>
          </p:nvPr>
        </p:nvSpPr>
        <p:spPr>
          <a:xfrm>
            <a:off x="4939500" y="-139375"/>
            <a:ext cx="3837000" cy="5110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457200" lvl="0" indent="-311150" algn="l" rtl="0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 sz="1300"/>
              <a:t>Introduction to Provisioners</a:t>
            </a:r>
            <a:endParaRPr sz="1300"/>
          </a:p>
          <a:p>
            <a:pPr marL="457200" lvl="0" indent="-311150" algn="l" rtl="0">
              <a:spcBef>
                <a:spcPts val="1600"/>
              </a:spcBef>
              <a:spcAft>
                <a:spcPts val="0"/>
              </a:spcAft>
              <a:buSzPts val="1300"/>
              <a:buChar char="●"/>
            </a:pPr>
            <a:r>
              <a:rPr lang="en" sz="1300"/>
              <a:t>File Provisioner</a:t>
            </a:r>
            <a:endParaRPr sz="1300"/>
          </a:p>
          <a:p>
            <a:pPr marL="457200" lvl="0" indent="-311150" algn="l" rtl="0">
              <a:spcBef>
                <a:spcPts val="1600"/>
              </a:spcBef>
              <a:spcAft>
                <a:spcPts val="0"/>
              </a:spcAft>
              <a:buSzPts val="1300"/>
              <a:buChar char="●"/>
            </a:pPr>
            <a:r>
              <a:rPr lang="en" sz="1300"/>
              <a:t>Local-exec Provisioner</a:t>
            </a:r>
            <a:endParaRPr sz="1300"/>
          </a:p>
          <a:p>
            <a:pPr marL="457200" lvl="0" indent="-311150" algn="l" rtl="0">
              <a:spcBef>
                <a:spcPts val="1600"/>
              </a:spcBef>
              <a:spcAft>
                <a:spcPts val="1600"/>
              </a:spcAft>
              <a:buSzPts val="1300"/>
              <a:buChar char="●"/>
            </a:pPr>
            <a:r>
              <a:rPr lang="en" sz="1300"/>
              <a:t>Remote-exec Provisioner</a:t>
            </a:r>
            <a:endParaRPr sz="1300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4" name="Google Shape;334;p58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613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Introduction to Provisioners</a:t>
            </a:r>
            <a:endParaRPr/>
          </a:p>
        </p:txBody>
      </p:sp>
      <p:sp>
        <p:nvSpPr>
          <p:cNvPr id="335" name="Google Shape;335;p58"/>
          <p:cNvSpPr txBox="1">
            <a:spLocks noGrp="1"/>
          </p:cNvSpPr>
          <p:nvPr>
            <p:ph type="body" idx="1"/>
          </p:nvPr>
        </p:nvSpPr>
        <p:spPr>
          <a:xfrm>
            <a:off x="311700" y="942425"/>
            <a:ext cx="7114800" cy="3763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endParaRPr sz="1100" b="1"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100">
                <a:latin typeface="Arial"/>
                <a:ea typeface="Arial"/>
                <a:cs typeface="Arial"/>
                <a:sym typeface="Arial"/>
              </a:rPr>
              <a:t>Provisioners in Terraform are used to execute scripts or commands on a local or remote machine after a resource is created, updated, or destroyed. They can perform actions such as installing software, configuring resources, or bootstrapping servers.</a:t>
            </a:r>
            <a:endParaRPr sz="1100"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spcBef>
                <a:spcPts val="1400"/>
              </a:spcBef>
              <a:spcAft>
                <a:spcPts val="0"/>
              </a:spcAft>
              <a:buNone/>
            </a:pPr>
            <a:r>
              <a:rPr lang="en" sz="1300" b="1">
                <a:latin typeface="Arial"/>
                <a:ea typeface="Arial"/>
                <a:cs typeface="Arial"/>
                <a:sym typeface="Arial"/>
              </a:rPr>
              <a:t>Types of Provisioners</a:t>
            </a:r>
            <a:endParaRPr sz="1300" b="1">
              <a:latin typeface="Arial"/>
              <a:ea typeface="Arial"/>
              <a:cs typeface="Arial"/>
              <a:sym typeface="Arial"/>
            </a:endParaRPr>
          </a:p>
          <a:p>
            <a:pPr marL="457200" lvl="0" indent="-298450" algn="l" rtl="0">
              <a:spcBef>
                <a:spcPts val="1200"/>
              </a:spcBef>
              <a:spcAft>
                <a:spcPts val="0"/>
              </a:spcAft>
              <a:buSzPts val="1100"/>
              <a:buFont typeface="Arial"/>
              <a:buAutoNum type="arabicPeriod"/>
            </a:pPr>
            <a:r>
              <a:rPr lang="en" sz="1100" b="1">
                <a:latin typeface="Arial"/>
                <a:ea typeface="Arial"/>
                <a:cs typeface="Arial"/>
                <a:sym typeface="Arial"/>
              </a:rPr>
              <a:t>Local-Exec Provisioner</a:t>
            </a:r>
            <a:br>
              <a:rPr lang="en" sz="1100" b="1">
                <a:latin typeface="Arial"/>
                <a:ea typeface="Arial"/>
                <a:cs typeface="Arial"/>
                <a:sym typeface="Arial"/>
              </a:rPr>
            </a:br>
            <a:r>
              <a:rPr lang="en" sz="1100">
                <a:latin typeface="Arial"/>
                <a:ea typeface="Arial"/>
                <a:cs typeface="Arial"/>
                <a:sym typeface="Arial"/>
              </a:rPr>
              <a:t>Executes commands locally on the machine running Terraform.</a:t>
            </a:r>
            <a:endParaRPr sz="1100" b="1">
              <a:latin typeface="Arial"/>
              <a:ea typeface="Arial"/>
              <a:cs typeface="Arial"/>
              <a:sym typeface="Arial"/>
            </a:endParaRPr>
          </a:p>
          <a:p>
            <a:pPr marL="457200" lvl="0" indent="-298450" algn="l" rtl="0">
              <a:spcBef>
                <a:spcPts val="0"/>
              </a:spcBef>
              <a:spcAft>
                <a:spcPts val="0"/>
              </a:spcAft>
              <a:buSzPts val="1100"/>
              <a:buFont typeface="Arial"/>
              <a:buAutoNum type="arabicPeriod"/>
            </a:pPr>
            <a:r>
              <a:rPr lang="en" sz="1100" b="1">
                <a:latin typeface="Arial"/>
                <a:ea typeface="Arial"/>
                <a:cs typeface="Arial"/>
                <a:sym typeface="Arial"/>
              </a:rPr>
              <a:t>File Provisioner</a:t>
            </a:r>
            <a:br>
              <a:rPr lang="en" sz="1100" b="1">
                <a:latin typeface="Arial"/>
                <a:ea typeface="Arial"/>
                <a:cs typeface="Arial"/>
                <a:sym typeface="Arial"/>
              </a:rPr>
            </a:br>
            <a:r>
              <a:rPr lang="en" sz="1100">
                <a:latin typeface="Arial"/>
                <a:ea typeface="Arial"/>
                <a:cs typeface="Arial"/>
                <a:sym typeface="Arial"/>
              </a:rPr>
              <a:t>Transfers files or directories from the local machine to the remote resource.</a:t>
            </a:r>
            <a:endParaRPr sz="1100">
              <a:latin typeface="Arial"/>
              <a:ea typeface="Arial"/>
              <a:cs typeface="Arial"/>
              <a:sym typeface="Arial"/>
            </a:endParaRPr>
          </a:p>
          <a:p>
            <a:pPr marL="457200" lvl="0" indent="-298450" algn="l" rtl="0">
              <a:spcBef>
                <a:spcPts val="0"/>
              </a:spcBef>
              <a:spcAft>
                <a:spcPts val="0"/>
              </a:spcAft>
              <a:buSzPts val="1100"/>
              <a:buFont typeface="Arial"/>
              <a:buAutoNum type="arabicPeriod"/>
            </a:pPr>
            <a:r>
              <a:rPr lang="en" sz="1100" b="1">
                <a:latin typeface="Arial"/>
                <a:ea typeface="Arial"/>
                <a:cs typeface="Arial"/>
                <a:sym typeface="Arial"/>
              </a:rPr>
              <a:t>Remote-Exec Provisioner</a:t>
            </a:r>
            <a:br>
              <a:rPr lang="en" sz="1100" b="1">
                <a:latin typeface="Arial"/>
                <a:ea typeface="Arial"/>
                <a:cs typeface="Arial"/>
                <a:sym typeface="Arial"/>
              </a:rPr>
            </a:br>
            <a:r>
              <a:rPr lang="en" sz="1100">
                <a:latin typeface="Arial"/>
                <a:ea typeface="Arial"/>
                <a:cs typeface="Arial"/>
                <a:sym typeface="Arial"/>
              </a:rPr>
              <a:t>Executes commands on the remote resource using SSH or WinRM.</a:t>
            </a:r>
            <a:endParaRPr sz="1100"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spcBef>
                <a:spcPts val="1200"/>
              </a:spcBef>
              <a:spcAft>
                <a:spcPts val="1200"/>
              </a:spcAft>
              <a:buNone/>
            </a:pPr>
            <a:endParaRPr sz="1100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0" name="Google Shape;340;p59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613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Local-Exec Provisioner</a:t>
            </a:r>
            <a:endParaRPr/>
          </a:p>
        </p:txBody>
      </p:sp>
      <p:sp>
        <p:nvSpPr>
          <p:cNvPr id="341" name="Google Shape;341;p59"/>
          <p:cNvSpPr txBox="1">
            <a:spLocks noGrp="1"/>
          </p:cNvSpPr>
          <p:nvPr>
            <p:ph type="body" idx="1"/>
          </p:nvPr>
        </p:nvSpPr>
        <p:spPr>
          <a:xfrm>
            <a:off x="311700" y="942425"/>
            <a:ext cx="7114800" cy="3763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100" b="1">
                <a:latin typeface="Arial"/>
                <a:ea typeface="Arial"/>
                <a:cs typeface="Arial"/>
                <a:sym typeface="Arial"/>
              </a:rPr>
              <a:t>Local-Exec Provisioner </a:t>
            </a:r>
            <a:r>
              <a:rPr lang="en" sz="1100">
                <a:latin typeface="Arial"/>
                <a:ea typeface="Arial"/>
                <a:cs typeface="Arial"/>
                <a:sym typeface="Arial"/>
              </a:rPr>
              <a:t>runs a command locally on the machine running Terraform.</a:t>
            </a:r>
            <a:endParaRPr sz="1100"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100" b="1">
                <a:latin typeface="Arial"/>
                <a:ea typeface="Arial"/>
                <a:cs typeface="Arial"/>
                <a:sym typeface="Arial"/>
              </a:rPr>
              <a:t>Example:</a:t>
            </a:r>
            <a:endParaRPr sz="1100"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resource "aws_instance" "example" {</a:t>
            </a:r>
            <a:endParaRPr sz="1100">
              <a:solidFill>
                <a:srgbClr val="188038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  ami           = "ami-0c55b159cbfafe1f0"</a:t>
            </a:r>
            <a:endParaRPr sz="1100">
              <a:solidFill>
                <a:srgbClr val="188038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  instance_type = "t2.micro"</a:t>
            </a:r>
            <a:endParaRPr sz="1100">
              <a:solidFill>
                <a:srgbClr val="188038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100">
              <a:solidFill>
                <a:srgbClr val="188038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  provisioner "local-exec" {</a:t>
            </a:r>
            <a:endParaRPr sz="1100">
              <a:solidFill>
                <a:srgbClr val="188038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    command = "echo ${self.public_ip} &gt;&gt; instance_ips.txt"</a:t>
            </a:r>
            <a:endParaRPr sz="1100">
              <a:solidFill>
                <a:srgbClr val="188038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  }</a:t>
            </a:r>
            <a:endParaRPr sz="1100">
              <a:solidFill>
                <a:srgbClr val="188038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1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}</a:t>
            </a:r>
            <a:endParaRPr sz="1100">
              <a:solidFill>
                <a:srgbClr val="188038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100" b="1"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endParaRPr sz="1100" b="1"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spcBef>
                <a:spcPts val="1200"/>
              </a:spcBef>
              <a:spcAft>
                <a:spcPts val="1200"/>
              </a:spcAft>
              <a:buNone/>
            </a:pPr>
            <a:endParaRPr sz="1100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6" name="Google Shape;346;p60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613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File Provisioner</a:t>
            </a:r>
            <a:endParaRPr/>
          </a:p>
        </p:txBody>
      </p:sp>
      <p:sp>
        <p:nvSpPr>
          <p:cNvPr id="347" name="Google Shape;347;p60"/>
          <p:cNvSpPr txBox="1">
            <a:spLocks noGrp="1"/>
          </p:cNvSpPr>
          <p:nvPr>
            <p:ph type="body" idx="1"/>
          </p:nvPr>
        </p:nvSpPr>
        <p:spPr>
          <a:xfrm>
            <a:off x="311700" y="942424"/>
            <a:ext cx="7114800" cy="4470497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endParaRPr sz="1100" b="1" dirty="0"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050" b="1" dirty="0">
                <a:latin typeface="Arial"/>
                <a:ea typeface="Arial"/>
                <a:cs typeface="Arial"/>
                <a:sym typeface="Arial"/>
              </a:rPr>
              <a:t>File Provisioner </a:t>
            </a:r>
            <a:r>
              <a:rPr lang="en" sz="1050" dirty="0">
                <a:latin typeface="Arial"/>
                <a:ea typeface="Arial"/>
                <a:cs typeface="Arial"/>
                <a:sym typeface="Arial"/>
              </a:rPr>
              <a:t>transfers files from the local machine to the remote instance.</a:t>
            </a:r>
            <a:endParaRPr sz="1050" dirty="0"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200"/>
              </a:spcBef>
              <a:spcAft>
                <a:spcPts val="0"/>
              </a:spcAft>
              <a:buNone/>
            </a:pPr>
            <a:r>
              <a:rPr lang="en" sz="1050" dirty="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resource "aws_instance" "example" {</a:t>
            </a:r>
            <a:endParaRPr sz="1050" dirty="0">
              <a:solidFill>
                <a:srgbClr val="188038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50" dirty="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  ami           = "ami-0c55b159cbfafe1f0"</a:t>
            </a:r>
            <a:endParaRPr sz="1050" dirty="0">
              <a:solidFill>
                <a:srgbClr val="188038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50" dirty="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  instance_type = "t2.micro"</a:t>
            </a:r>
            <a:endParaRPr sz="1050" dirty="0">
              <a:solidFill>
                <a:srgbClr val="188038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50" dirty="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  vpc_security_group_ids = [aws_security_group.allow_ssh.id]</a:t>
            </a:r>
            <a:endParaRPr sz="1050" dirty="0">
              <a:solidFill>
                <a:srgbClr val="188038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050" dirty="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  key_name      = aws_key_pair.my_key.key_name</a:t>
            </a:r>
            <a:endParaRPr sz="1050" dirty="0">
              <a:solidFill>
                <a:srgbClr val="188038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50" dirty="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  </a:t>
            </a:r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50" dirty="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  provisioner "file" {</a:t>
            </a:r>
            <a:endParaRPr sz="1050" dirty="0">
              <a:solidFill>
                <a:srgbClr val="188038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50" dirty="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    source      = "config/app.conf"   # Local file</a:t>
            </a:r>
            <a:endParaRPr sz="1050" dirty="0">
              <a:solidFill>
                <a:srgbClr val="188038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50" dirty="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    destination = "/etc/app.conf"     # Remote destination</a:t>
            </a:r>
            <a:endParaRPr sz="1050" dirty="0">
              <a:solidFill>
                <a:srgbClr val="188038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050" dirty="0">
              <a:solidFill>
                <a:srgbClr val="188038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50" dirty="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    connection {</a:t>
            </a:r>
            <a:endParaRPr sz="1050" dirty="0">
              <a:solidFill>
                <a:srgbClr val="188038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50" dirty="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      type        = "ssh"</a:t>
            </a:r>
            <a:endParaRPr sz="1050" dirty="0">
              <a:solidFill>
                <a:srgbClr val="188038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50" dirty="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      user        = "ubuntu"</a:t>
            </a:r>
            <a:endParaRPr sz="1050" dirty="0">
              <a:solidFill>
                <a:srgbClr val="188038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50" dirty="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      private_key = file("~/.ssh/id_rsa")</a:t>
            </a:r>
            <a:endParaRPr sz="1050" dirty="0">
              <a:solidFill>
                <a:srgbClr val="188038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50" dirty="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      host        = self.public_ip</a:t>
            </a:r>
            <a:endParaRPr sz="1050" dirty="0">
              <a:solidFill>
                <a:srgbClr val="188038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50" dirty="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    }</a:t>
            </a:r>
            <a:endParaRPr sz="1050" dirty="0">
              <a:solidFill>
                <a:srgbClr val="188038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50" dirty="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  }</a:t>
            </a:r>
            <a:endParaRPr sz="1050" dirty="0">
              <a:solidFill>
                <a:srgbClr val="188038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50" dirty="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}</a:t>
            </a:r>
            <a:endParaRPr lang="en-IN" sz="1100" dirty="0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2" name="Google Shape;352;p6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613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File Provisioner</a:t>
            </a:r>
            <a:endParaRPr/>
          </a:p>
        </p:txBody>
      </p:sp>
      <p:sp>
        <p:nvSpPr>
          <p:cNvPr id="353" name="Google Shape;353;p61"/>
          <p:cNvSpPr txBox="1">
            <a:spLocks noGrp="1"/>
          </p:cNvSpPr>
          <p:nvPr>
            <p:ph type="body" idx="1"/>
          </p:nvPr>
        </p:nvSpPr>
        <p:spPr>
          <a:xfrm>
            <a:off x="400050" y="935274"/>
            <a:ext cx="7826550" cy="4028611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endParaRPr sz="1100" dirty="0"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100" dirty="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resource "aws_key_pair" "my_key" {</a:t>
            </a:r>
            <a:endParaRPr sz="1100" dirty="0">
              <a:solidFill>
                <a:srgbClr val="188038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100" dirty="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  key_name   = "my_key"</a:t>
            </a:r>
            <a:endParaRPr sz="1100" dirty="0">
              <a:solidFill>
                <a:srgbClr val="188038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100" dirty="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  public_key = file("~/.ssh/id_rsa.pub")</a:t>
            </a:r>
            <a:endParaRPr sz="1100" dirty="0">
              <a:solidFill>
                <a:srgbClr val="188038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100" dirty="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}</a:t>
            </a:r>
            <a:endParaRPr sz="1100" dirty="0">
              <a:solidFill>
                <a:srgbClr val="188038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100" dirty="0">
              <a:solidFill>
                <a:srgbClr val="188038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100" dirty="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resource "aws_security_group" "allow_ssh" {</a:t>
            </a:r>
            <a:endParaRPr sz="1100" dirty="0">
              <a:solidFill>
                <a:srgbClr val="188038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100" dirty="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  name        = "allow_ssh_provisioner"</a:t>
            </a:r>
            <a:endParaRPr sz="1100" dirty="0">
              <a:solidFill>
                <a:srgbClr val="188038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100" dirty="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  description = "Allow SSH inbound traffic and all outbound traffic"</a:t>
            </a:r>
            <a:endParaRPr sz="1100" dirty="0">
              <a:solidFill>
                <a:srgbClr val="188038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100" dirty="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  ingress {</a:t>
            </a:r>
            <a:endParaRPr sz="1100" dirty="0">
              <a:solidFill>
                <a:srgbClr val="188038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100" dirty="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    from_port        = 22</a:t>
            </a:r>
            <a:endParaRPr sz="1100" dirty="0">
              <a:solidFill>
                <a:srgbClr val="188038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100" dirty="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    to_port          = 22</a:t>
            </a:r>
            <a:endParaRPr sz="1100" dirty="0">
              <a:solidFill>
                <a:srgbClr val="188038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100" dirty="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    protocol         = "tcp"</a:t>
            </a:r>
            <a:endParaRPr sz="1100" dirty="0">
              <a:solidFill>
                <a:srgbClr val="188038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100" dirty="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    cidr_blocks      = ["0.0.0.0/0"]</a:t>
            </a:r>
            <a:endParaRPr sz="1100" dirty="0">
              <a:solidFill>
                <a:srgbClr val="188038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100" dirty="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  }</a:t>
            </a:r>
            <a:endParaRPr sz="1100" dirty="0">
              <a:solidFill>
                <a:srgbClr val="188038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100" dirty="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  tags = {</a:t>
            </a:r>
            <a:endParaRPr sz="1100" dirty="0">
              <a:solidFill>
                <a:srgbClr val="188038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100" dirty="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    Name = "allow_tls"</a:t>
            </a:r>
            <a:endParaRPr sz="1100" dirty="0">
              <a:solidFill>
                <a:srgbClr val="188038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100" dirty="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  }</a:t>
            </a:r>
            <a:endParaRPr sz="1100" dirty="0">
              <a:solidFill>
                <a:srgbClr val="188038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100" dirty="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}</a:t>
            </a:r>
            <a:endParaRPr sz="1100" dirty="0">
              <a:solidFill>
                <a:srgbClr val="188038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100" dirty="0">
              <a:solidFill>
                <a:srgbClr val="188038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marL="0" lvl="0" indent="0" algn="l" rtl="0">
              <a:spcBef>
                <a:spcPts val="1200"/>
              </a:spcBef>
              <a:spcAft>
                <a:spcPts val="1200"/>
              </a:spcAft>
              <a:buNone/>
            </a:pPr>
            <a:endParaRPr sz="1100" dirty="0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" name="Google Shape;358;p62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613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Remote-Exec Provisioner</a:t>
            </a:r>
            <a:endParaRPr/>
          </a:p>
        </p:txBody>
      </p:sp>
      <p:sp>
        <p:nvSpPr>
          <p:cNvPr id="359" name="Google Shape;359;p62"/>
          <p:cNvSpPr txBox="1">
            <a:spLocks noGrp="1"/>
          </p:cNvSpPr>
          <p:nvPr>
            <p:ph type="body" idx="1"/>
          </p:nvPr>
        </p:nvSpPr>
        <p:spPr>
          <a:xfrm>
            <a:off x="311700" y="942424"/>
            <a:ext cx="7114800" cy="4119433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100" b="1" dirty="0">
                <a:latin typeface="Arial"/>
                <a:ea typeface="Arial"/>
                <a:cs typeface="Arial"/>
                <a:sym typeface="Arial"/>
              </a:rPr>
              <a:t>Remote-Exec Provisioner </a:t>
            </a:r>
            <a:r>
              <a:rPr lang="en" sz="1100" dirty="0">
                <a:latin typeface="Arial"/>
                <a:ea typeface="Arial"/>
                <a:cs typeface="Arial"/>
                <a:sym typeface="Arial"/>
              </a:rPr>
              <a:t>runs commands on the remote instance after it is created.</a:t>
            </a:r>
            <a:endParaRPr sz="1100" dirty="0"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200"/>
              </a:spcBef>
              <a:spcAft>
                <a:spcPts val="0"/>
              </a:spcAft>
              <a:buNone/>
            </a:pPr>
            <a:r>
              <a:rPr lang="en" sz="1100" dirty="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resource "aws_instance" "example" {</a:t>
            </a:r>
            <a:endParaRPr sz="1100" dirty="0">
              <a:solidFill>
                <a:srgbClr val="188038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 dirty="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  ami           = "ami-0c55b159cbfafe1f0"</a:t>
            </a:r>
            <a:endParaRPr sz="1100" dirty="0">
              <a:solidFill>
                <a:srgbClr val="188038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 dirty="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  instance_type = "t2.micro"</a:t>
            </a:r>
            <a:endParaRPr sz="1100" dirty="0">
              <a:solidFill>
                <a:srgbClr val="188038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100" dirty="0">
              <a:solidFill>
                <a:srgbClr val="188038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 dirty="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  provisioner "remote-exec" {</a:t>
            </a:r>
            <a:endParaRPr sz="1100" dirty="0">
              <a:solidFill>
                <a:srgbClr val="188038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 dirty="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    inline = [</a:t>
            </a:r>
            <a:endParaRPr sz="1100" dirty="0">
              <a:solidFill>
                <a:srgbClr val="188038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 dirty="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      "sudo apt update",</a:t>
            </a:r>
            <a:endParaRPr sz="1100" dirty="0">
              <a:solidFill>
                <a:srgbClr val="188038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 dirty="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      "sudo apt install -y nginx",</a:t>
            </a:r>
            <a:endParaRPr sz="1100" dirty="0">
              <a:solidFill>
                <a:srgbClr val="188038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 dirty="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      "sudo mv /tmp/message.txt /var/www/html/index.html",</a:t>
            </a:r>
            <a:endParaRPr sz="1100" dirty="0">
              <a:solidFill>
                <a:srgbClr val="188038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 dirty="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      "sudo systemctl restart nginx"</a:t>
            </a:r>
            <a:endParaRPr sz="1100" dirty="0">
              <a:solidFill>
                <a:srgbClr val="188038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 dirty="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    ]</a:t>
            </a:r>
            <a:endParaRPr sz="1100" dirty="0">
              <a:solidFill>
                <a:srgbClr val="188038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100" dirty="0">
              <a:solidFill>
                <a:srgbClr val="188038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 dirty="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    connection {</a:t>
            </a:r>
            <a:endParaRPr sz="1100" dirty="0">
              <a:solidFill>
                <a:srgbClr val="188038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 dirty="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      type        = "ssh"</a:t>
            </a:r>
            <a:endParaRPr sz="1100" dirty="0">
              <a:solidFill>
                <a:srgbClr val="188038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 dirty="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      user        = "ubuntu"</a:t>
            </a:r>
            <a:endParaRPr sz="1100" dirty="0">
              <a:solidFill>
                <a:srgbClr val="188038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 dirty="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      private_key = file("~/.ssh/id_rsa")</a:t>
            </a:r>
            <a:endParaRPr sz="1100" dirty="0">
              <a:solidFill>
                <a:srgbClr val="188038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 dirty="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      host        = self.public_ip</a:t>
            </a:r>
            <a:endParaRPr sz="1100" dirty="0">
              <a:solidFill>
                <a:srgbClr val="188038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 dirty="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    }</a:t>
            </a:r>
            <a:endParaRPr sz="1100" dirty="0">
              <a:solidFill>
                <a:srgbClr val="188038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 dirty="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  }</a:t>
            </a:r>
            <a:endParaRPr sz="1100" dirty="0">
              <a:solidFill>
                <a:srgbClr val="188038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 dirty="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}</a:t>
            </a:r>
            <a:endParaRPr sz="1100" dirty="0">
              <a:solidFill>
                <a:srgbClr val="188038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endParaRPr sz="1100" b="1" dirty="0"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spcBef>
                <a:spcPts val="1200"/>
              </a:spcBef>
              <a:spcAft>
                <a:spcPts val="1200"/>
              </a:spcAft>
              <a:buNone/>
            </a:pPr>
            <a:endParaRPr sz="1100" dirty="0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4" name="Google Shape;364;p63"/>
          <p:cNvSpPr txBox="1">
            <a:spLocks noGrp="1"/>
          </p:cNvSpPr>
          <p:nvPr>
            <p:ph type="title"/>
          </p:nvPr>
        </p:nvSpPr>
        <p:spPr>
          <a:xfrm>
            <a:off x="265500" y="1382350"/>
            <a:ext cx="4045200" cy="1333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Misc. Topics</a:t>
            </a:r>
            <a:endParaRPr/>
          </a:p>
        </p:txBody>
      </p:sp>
      <p:sp>
        <p:nvSpPr>
          <p:cNvPr id="365" name="Google Shape;365;p63"/>
          <p:cNvSpPr txBox="1">
            <a:spLocks noGrp="1"/>
          </p:cNvSpPr>
          <p:nvPr>
            <p:ph type="body" idx="2"/>
          </p:nvPr>
        </p:nvSpPr>
        <p:spPr>
          <a:xfrm>
            <a:off x="4939500" y="-139375"/>
            <a:ext cx="3837000" cy="5110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457200" lvl="0" indent="-311150" algn="l" rtl="0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 sz="1300"/>
              <a:t>Data sources</a:t>
            </a:r>
            <a:endParaRPr sz="1300"/>
          </a:p>
          <a:p>
            <a:pPr marL="457200" lvl="0" indent="-311150" algn="l" rtl="0">
              <a:spcBef>
                <a:spcPts val="1600"/>
              </a:spcBef>
              <a:spcAft>
                <a:spcPts val="0"/>
              </a:spcAft>
              <a:buSzPts val="1300"/>
              <a:buChar char="●"/>
            </a:pPr>
            <a:r>
              <a:rPr lang="en" sz="1300"/>
              <a:t>Locals</a:t>
            </a:r>
            <a:endParaRPr sz="1300"/>
          </a:p>
          <a:p>
            <a:pPr marL="457200" lvl="0" indent="-311150" algn="l" rtl="0">
              <a:spcBef>
                <a:spcPts val="1600"/>
              </a:spcBef>
              <a:spcAft>
                <a:spcPts val="0"/>
              </a:spcAft>
              <a:buSzPts val="1300"/>
              <a:buChar char="●"/>
            </a:pPr>
            <a:r>
              <a:rPr lang="en" sz="1300"/>
              <a:t>Terraform taint/untaint</a:t>
            </a:r>
            <a:endParaRPr sz="1300"/>
          </a:p>
          <a:p>
            <a:pPr marL="457200" lvl="0" indent="-311150" algn="l" rtl="0">
              <a:spcBef>
                <a:spcPts val="1600"/>
              </a:spcBef>
              <a:spcAft>
                <a:spcPts val="1600"/>
              </a:spcAft>
              <a:buSzPts val="1300"/>
              <a:buChar char="●"/>
            </a:pPr>
            <a:r>
              <a:rPr lang="en" sz="1300"/>
              <a:t>Terraform fmt, validate</a:t>
            </a:r>
            <a:endParaRPr sz="1300"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0" name="Google Shape;370;p6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613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Data Sources</a:t>
            </a:r>
            <a:endParaRPr/>
          </a:p>
        </p:txBody>
      </p:sp>
      <p:sp>
        <p:nvSpPr>
          <p:cNvPr id="371" name="Google Shape;371;p64"/>
          <p:cNvSpPr txBox="1">
            <a:spLocks noGrp="1"/>
          </p:cNvSpPr>
          <p:nvPr>
            <p:ph type="body" idx="1"/>
          </p:nvPr>
        </p:nvSpPr>
        <p:spPr>
          <a:xfrm>
            <a:off x="311700" y="942425"/>
            <a:ext cx="7114800" cy="3763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100" dirty="0">
                <a:latin typeface="Arial"/>
                <a:ea typeface="Arial"/>
                <a:cs typeface="Arial"/>
                <a:sym typeface="Arial"/>
              </a:rPr>
              <a:t>Data sources allow you to fetch existing information from your cloud infrastructure or other external systems without creating or modifying resources.</a:t>
            </a:r>
            <a:endParaRPr sz="1100" b="1" dirty="0">
              <a:latin typeface="Arial"/>
              <a:ea typeface="Arial"/>
              <a:cs typeface="Arial"/>
              <a:sym typeface="Arial"/>
            </a:endParaRPr>
          </a:p>
          <a:p>
            <a:pPr marL="457200" lvl="0" indent="-298450" algn="l" rtl="0">
              <a:spcBef>
                <a:spcPts val="1200"/>
              </a:spcBef>
              <a:spcAft>
                <a:spcPts val="0"/>
              </a:spcAft>
              <a:buSzPts val="1100"/>
              <a:buFont typeface="Arial"/>
              <a:buChar char="●"/>
            </a:pPr>
            <a:r>
              <a:rPr lang="en" sz="1100" dirty="0">
                <a:latin typeface="Arial"/>
                <a:ea typeface="Arial"/>
                <a:cs typeface="Arial"/>
                <a:sym typeface="Arial"/>
              </a:rPr>
              <a:t>Retrieve the ID of an existing AWS VPC to associate a new resource with it.</a:t>
            </a:r>
            <a:endParaRPr sz="1100" dirty="0"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100" dirty="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# Fetch an existing VPC by its name</a:t>
            </a:r>
            <a:endParaRPr sz="1100" dirty="0">
              <a:solidFill>
                <a:srgbClr val="188038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 dirty="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data "aws_vpc" "example" {</a:t>
            </a:r>
            <a:endParaRPr sz="1100" dirty="0">
              <a:solidFill>
                <a:srgbClr val="188038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 dirty="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  filter {</a:t>
            </a:r>
            <a:endParaRPr sz="1100" dirty="0">
              <a:solidFill>
                <a:srgbClr val="188038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 dirty="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    name   = "tag:Name"</a:t>
            </a:r>
            <a:endParaRPr sz="1100" dirty="0">
              <a:solidFill>
                <a:srgbClr val="188038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 dirty="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    values = ["example-vpc"]</a:t>
            </a:r>
            <a:endParaRPr sz="1100" dirty="0">
              <a:solidFill>
                <a:srgbClr val="188038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 dirty="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  }</a:t>
            </a:r>
            <a:endParaRPr sz="1100" dirty="0">
              <a:solidFill>
                <a:srgbClr val="188038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 dirty="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}</a:t>
            </a:r>
            <a:endParaRPr sz="1100" dirty="0">
              <a:solidFill>
                <a:srgbClr val="188038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100" dirty="0">
              <a:solidFill>
                <a:srgbClr val="188038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 dirty="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# Use the VPC ID in a new resource</a:t>
            </a:r>
            <a:endParaRPr sz="1100" dirty="0">
              <a:solidFill>
                <a:srgbClr val="188038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 dirty="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resource "aws_subnet" "example" {</a:t>
            </a:r>
            <a:endParaRPr sz="1100" dirty="0">
              <a:solidFill>
                <a:srgbClr val="188038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 dirty="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  vpc_id     = data.aws_vpc.example.id</a:t>
            </a:r>
            <a:endParaRPr sz="1100" dirty="0">
              <a:solidFill>
                <a:srgbClr val="188038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 dirty="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  cidr_block = "10.0.1.0/24"</a:t>
            </a:r>
            <a:endParaRPr sz="1100" dirty="0">
              <a:solidFill>
                <a:srgbClr val="188038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 dirty="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}</a:t>
            </a:r>
            <a:endParaRPr sz="1100" dirty="0"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spcBef>
                <a:spcPts val="1200"/>
              </a:spcBef>
              <a:spcAft>
                <a:spcPts val="1200"/>
              </a:spcAft>
              <a:buNone/>
            </a:pPr>
            <a:endParaRPr sz="1100" dirty="0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6" name="Google Shape;376;p6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613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Locals</a:t>
            </a:r>
            <a:endParaRPr/>
          </a:p>
        </p:txBody>
      </p:sp>
      <p:sp>
        <p:nvSpPr>
          <p:cNvPr id="377" name="Google Shape;377;p65"/>
          <p:cNvSpPr txBox="1">
            <a:spLocks noGrp="1"/>
          </p:cNvSpPr>
          <p:nvPr>
            <p:ph type="body" idx="1"/>
          </p:nvPr>
        </p:nvSpPr>
        <p:spPr>
          <a:xfrm>
            <a:off x="311700" y="942425"/>
            <a:ext cx="7114800" cy="3763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100" dirty="0">
                <a:latin typeface="Arial"/>
                <a:ea typeface="Arial"/>
                <a:cs typeface="Arial"/>
                <a:sym typeface="Arial"/>
              </a:rPr>
              <a:t>Locals are named values or expressions that can be referenced multiple times in a configuration to avoid repetition.</a:t>
            </a:r>
            <a:endParaRPr sz="1100" dirty="0"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100" b="1" dirty="0">
                <a:latin typeface="Arial"/>
                <a:ea typeface="Arial"/>
                <a:cs typeface="Arial"/>
                <a:sym typeface="Arial"/>
              </a:rPr>
              <a:t>Example:</a:t>
            </a:r>
            <a:r>
              <a:rPr lang="en" sz="1100" dirty="0">
                <a:latin typeface="Arial"/>
                <a:ea typeface="Arial"/>
                <a:cs typeface="Arial"/>
                <a:sym typeface="Arial"/>
              </a:rPr>
              <a:t> Define commonly used tags for resources in one place.</a:t>
            </a:r>
            <a:endParaRPr sz="1100" dirty="0"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100" dirty="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locals {</a:t>
            </a:r>
            <a:endParaRPr sz="1100" dirty="0">
              <a:solidFill>
                <a:srgbClr val="188038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 dirty="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  common_tags = {</a:t>
            </a:r>
            <a:endParaRPr sz="1100" dirty="0">
              <a:solidFill>
                <a:srgbClr val="188038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 dirty="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    Environment = "dev"</a:t>
            </a:r>
            <a:endParaRPr sz="1100" dirty="0">
              <a:solidFill>
                <a:srgbClr val="188038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 dirty="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    Owner       = "team-terraform"</a:t>
            </a:r>
            <a:endParaRPr sz="1100" dirty="0">
              <a:solidFill>
                <a:srgbClr val="188038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 dirty="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  }</a:t>
            </a:r>
            <a:endParaRPr sz="1100" dirty="0">
              <a:solidFill>
                <a:srgbClr val="188038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 dirty="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}</a:t>
            </a:r>
            <a:endParaRPr sz="1100" dirty="0">
              <a:solidFill>
                <a:srgbClr val="188038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100" dirty="0">
              <a:solidFill>
                <a:srgbClr val="188038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 dirty="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resource "aws_instance" "example" {</a:t>
            </a:r>
            <a:endParaRPr sz="1100" dirty="0">
              <a:solidFill>
                <a:srgbClr val="188038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 dirty="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  ami           = "ami-0c55b159cbfafe1f0"</a:t>
            </a:r>
            <a:endParaRPr sz="1100" dirty="0">
              <a:solidFill>
                <a:srgbClr val="188038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 dirty="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  instance_type = "t2.micro"</a:t>
            </a:r>
            <a:endParaRPr sz="1100" dirty="0">
              <a:solidFill>
                <a:srgbClr val="188038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100" dirty="0">
              <a:solidFill>
                <a:srgbClr val="188038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 dirty="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  tags = local.common_tags</a:t>
            </a:r>
            <a:endParaRPr sz="1100" dirty="0">
              <a:solidFill>
                <a:srgbClr val="188038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 dirty="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}</a:t>
            </a:r>
            <a:endParaRPr sz="1100" dirty="0">
              <a:solidFill>
                <a:srgbClr val="188038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100" dirty="0"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spcBef>
                <a:spcPts val="1200"/>
              </a:spcBef>
              <a:spcAft>
                <a:spcPts val="1200"/>
              </a:spcAft>
              <a:buNone/>
            </a:pPr>
            <a:endParaRPr sz="1100" dirty="0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2" name="Google Shape;382;p6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613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Terraform Taint/Untaint</a:t>
            </a:r>
            <a:endParaRPr/>
          </a:p>
        </p:txBody>
      </p:sp>
      <p:sp>
        <p:nvSpPr>
          <p:cNvPr id="383" name="Google Shape;383;p66"/>
          <p:cNvSpPr txBox="1">
            <a:spLocks noGrp="1"/>
          </p:cNvSpPr>
          <p:nvPr>
            <p:ph type="body" idx="1"/>
          </p:nvPr>
        </p:nvSpPr>
        <p:spPr>
          <a:xfrm>
            <a:off x="311700" y="942425"/>
            <a:ext cx="7114800" cy="3763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100" b="1" dirty="0">
                <a:latin typeface="Arial"/>
                <a:ea typeface="Arial"/>
                <a:cs typeface="Arial"/>
                <a:sym typeface="Arial"/>
              </a:rPr>
              <a:t>Terraform Taint </a:t>
            </a:r>
            <a:r>
              <a:rPr lang="en" sz="1100" dirty="0">
                <a:latin typeface="Arial"/>
                <a:ea typeface="Arial"/>
                <a:cs typeface="Arial"/>
                <a:sym typeface="Arial"/>
              </a:rPr>
              <a:t>force Terraform to destroy and recreate a resource without changing the configuration.</a:t>
            </a:r>
            <a:endParaRPr sz="1100" dirty="0"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100" b="1" dirty="0">
                <a:latin typeface="Arial"/>
                <a:ea typeface="Arial"/>
                <a:cs typeface="Arial"/>
                <a:sym typeface="Arial"/>
              </a:rPr>
              <a:t>Taint a Resource:</a:t>
            </a:r>
            <a:endParaRPr sz="1100" dirty="0"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100" dirty="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terraform taint aws_instance.example</a:t>
            </a:r>
            <a:endParaRPr sz="1100" dirty="0">
              <a:solidFill>
                <a:srgbClr val="188038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100" dirty="0">
                <a:latin typeface="Arial"/>
                <a:ea typeface="Arial"/>
                <a:cs typeface="Arial"/>
                <a:sym typeface="Arial"/>
              </a:rPr>
              <a:t>Marks the resource </a:t>
            </a:r>
            <a:r>
              <a:rPr lang="en" sz="1100" dirty="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aws_instance.example</a:t>
            </a:r>
            <a:r>
              <a:rPr lang="en" sz="1100" dirty="0">
                <a:latin typeface="Arial"/>
                <a:ea typeface="Arial"/>
                <a:cs typeface="Arial"/>
                <a:sym typeface="Arial"/>
              </a:rPr>
              <a:t> for recreation in the next apply.</a:t>
            </a:r>
            <a:endParaRPr sz="1100" dirty="0"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100" b="1" dirty="0">
                <a:latin typeface="Arial"/>
                <a:ea typeface="Arial"/>
                <a:cs typeface="Arial"/>
                <a:sym typeface="Arial"/>
              </a:rPr>
              <a:t>Untaint a Resource:</a:t>
            </a:r>
            <a:endParaRPr sz="1100" b="1" dirty="0"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100" dirty="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terraform untaint aws_instance.example</a:t>
            </a:r>
            <a:endParaRPr sz="1100" dirty="0">
              <a:solidFill>
                <a:srgbClr val="188038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100" dirty="0">
                <a:latin typeface="Arial"/>
                <a:ea typeface="Arial"/>
                <a:cs typeface="Arial"/>
                <a:sym typeface="Arial"/>
              </a:rPr>
              <a:t>Removes the taint and prevents recreation during the next apply.</a:t>
            </a:r>
            <a:endParaRPr sz="1100" dirty="0"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100" b="1" dirty="0">
                <a:latin typeface="Arial"/>
                <a:ea typeface="Arial"/>
                <a:cs typeface="Arial"/>
                <a:sym typeface="Arial"/>
              </a:rPr>
              <a:t>Use Case Example:</a:t>
            </a:r>
            <a:endParaRPr sz="1100" b="1" dirty="0">
              <a:latin typeface="Arial"/>
              <a:ea typeface="Arial"/>
              <a:cs typeface="Arial"/>
              <a:sym typeface="Arial"/>
            </a:endParaRPr>
          </a:p>
          <a:p>
            <a:pPr marL="457200" lvl="0" indent="-298450" algn="l" rtl="0">
              <a:spcBef>
                <a:spcPts val="1200"/>
              </a:spcBef>
              <a:spcAft>
                <a:spcPts val="0"/>
              </a:spcAft>
              <a:buSzPts val="1100"/>
              <a:buFont typeface="Arial"/>
              <a:buChar char="●"/>
            </a:pPr>
            <a:r>
              <a:rPr lang="en" sz="1100" dirty="0">
                <a:latin typeface="Arial"/>
                <a:ea typeface="Arial"/>
                <a:cs typeface="Arial"/>
                <a:sym typeface="Arial"/>
              </a:rPr>
              <a:t>If a resource is in an inconsistent state but the configuration hasn't changed, tainting it ensures it's rebuilt.</a:t>
            </a:r>
            <a:endParaRPr sz="1100" dirty="0"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spcBef>
                <a:spcPts val="1200"/>
              </a:spcBef>
              <a:spcAft>
                <a:spcPts val="1200"/>
              </a:spcAft>
              <a:buNone/>
            </a:pPr>
            <a:endParaRPr sz="1100" dirty="0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8" name="Google Shape;388;p67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613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Terraform fmt and validate</a:t>
            </a:r>
            <a:endParaRPr/>
          </a:p>
        </p:txBody>
      </p:sp>
      <p:sp>
        <p:nvSpPr>
          <p:cNvPr id="389" name="Google Shape;389;p67"/>
          <p:cNvSpPr txBox="1">
            <a:spLocks noGrp="1"/>
          </p:cNvSpPr>
          <p:nvPr>
            <p:ph type="body" idx="1"/>
          </p:nvPr>
        </p:nvSpPr>
        <p:spPr>
          <a:xfrm>
            <a:off x="311700" y="942425"/>
            <a:ext cx="7114800" cy="3763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100" b="1">
                <a:latin typeface="Arial"/>
                <a:ea typeface="Arial"/>
                <a:cs typeface="Arial"/>
                <a:sym typeface="Arial"/>
              </a:rPr>
              <a:t>Terraform fmt (Format) </a:t>
            </a:r>
            <a:r>
              <a:rPr lang="en" sz="1100">
                <a:latin typeface="Arial"/>
                <a:ea typeface="Arial"/>
                <a:cs typeface="Arial"/>
                <a:sym typeface="Arial"/>
              </a:rPr>
              <a:t>automatically formats Terraform files to follow the canonical style.</a:t>
            </a:r>
            <a:br>
              <a:rPr lang="en" sz="1100">
                <a:latin typeface="Arial"/>
                <a:ea typeface="Arial"/>
                <a:cs typeface="Arial"/>
                <a:sym typeface="Arial"/>
              </a:rPr>
            </a:br>
            <a:r>
              <a:rPr lang="en" sz="1100">
                <a:latin typeface="Arial"/>
                <a:ea typeface="Arial"/>
                <a:cs typeface="Arial"/>
                <a:sym typeface="Arial"/>
              </a:rPr>
              <a:t> Syntax: </a:t>
            </a:r>
            <a:r>
              <a:rPr lang="en" sz="11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terraform fmt</a:t>
            </a:r>
            <a:endParaRPr sz="1100">
              <a:latin typeface="Arial"/>
              <a:ea typeface="Arial"/>
              <a:cs typeface="Arial"/>
              <a:sym typeface="Arial"/>
            </a:endParaRPr>
          </a:p>
          <a:p>
            <a:pPr marL="457200" lvl="0" indent="0" algn="l" rtl="0">
              <a:spcBef>
                <a:spcPts val="1200"/>
              </a:spcBef>
              <a:spcAft>
                <a:spcPts val="0"/>
              </a:spcAft>
              <a:buNone/>
            </a:pPr>
            <a:endParaRPr sz="1100"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100" b="1">
                <a:latin typeface="Arial"/>
                <a:ea typeface="Arial"/>
                <a:cs typeface="Arial"/>
                <a:sym typeface="Arial"/>
              </a:rPr>
              <a:t>Terraform validate </a:t>
            </a:r>
            <a:r>
              <a:rPr lang="en" sz="1100">
                <a:latin typeface="Arial"/>
                <a:ea typeface="Arial"/>
                <a:cs typeface="Arial"/>
                <a:sym typeface="Arial"/>
              </a:rPr>
              <a:t>validates the syntax and semantics of Terraform configurations.</a:t>
            </a:r>
            <a:br>
              <a:rPr lang="en" sz="1100">
                <a:latin typeface="Arial"/>
                <a:ea typeface="Arial"/>
                <a:cs typeface="Arial"/>
                <a:sym typeface="Arial"/>
              </a:rPr>
            </a:br>
            <a:r>
              <a:rPr lang="en" sz="1100">
                <a:latin typeface="Arial"/>
                <a:ea typeface="Arial"/>
                <a:cs typeface="Arial"/>
                <a:sym typeface="Arial"/>
              </a:rPr>
              <a:t>Syntax: </a:t>
            </a:r>
            <a:r>
              <a:rPr lang="en" sz="11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terraform validate</a:t>
            </a:r>
            <a:endParaRPr sz="1100" b="1"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spcBef>
                <a:spcPts val="1200"/>
              </a:spcBef>
              <a:spcAft>
                <a:spcPts val="1200"/>
              </a:spcAft>
              <a:buNone/>
            </a:pPr>
            <a:endParaRPr sz="1100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87">
          <a:extLst>
            <a:ext uri="{FF2B5EF4-FFF2-40B4-BE49-F238E27FC236}">
              <a16:creationId xmlns:a16="http://schemas.microsoft.com/office/drawing/2014/main" id="{0B7F3C9C-F387-570C-4667-4BD6D35403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8" name="Google Shape;388;p67">
            <a:extLst>
              <a:ext uri="{FF2B5EF4-FFF2-40B4-BE49-F238E27FC236}">
                <a16:creationId xmlns:a16="http://schemas.microsoft.com/office/drawing/2014/main" id="{1096D744-0FBF-1C3B-65B8-293D5B5A3BC2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11700" y="175604"/>
            <a:ext cx="8520600" cy="613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Explicit Dependency</a:t>
            </a:r>
            <a:endParaRPr dirty="0"/>
          </a:p>
        </p:txBody>
      </p:sp>
      <p:sp>
        <p:nvSpPr>
          <p:cNvPr id="389" name="Google Shape;389;p67">
            <a:extLst>
              <a:ext uri="{FF2B5EF4-FFF2-40B4-BE49-F238E27FC236}">
                <a16:creationId xmlns:a16="http://schemas.microsoft.com/office/drawing/2014/main" id="{6E3F3959-D8A2-04A6-C5B1-DCE45960A1F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311700" y="788804"/>
            <a:ext cx="8456743" cy="4273053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indent="0">
              <a:spcBef>
                <a:spcPts val="1200"/>
              </a:spcBef>
              <a:buNone/>
            </a:pPr>
            <a:r>
              <a:rPr lang="en-US" sz="1100" dirty="0">
                <a:latin typeface="Arial"/>
                <a:cs typeface="Arial"/>
                <a:sym typeface="Arial"/>
              </a:rPr>
              <a:t>Sometimes there are </a:t>
            </a:r>
            <a:r>
              <a:rPr lang="en-US" sz="1100" b="1" dirty="0">
                <a:latin typeface="Arial"/>
                <a:cs typeface="Arial"/>
                <a:sym typeface="Arial"/>
              </a:rPr>
              <a:t>dependencies</a:t>
            </a:r>
            <a:r>
              <a:rPr lang="en-US" sz="1100" dirty="0">
                <a:latin typeface="Arial"/>
                <a:cs typeface="Arial"/>
                <a:sym typeface="Arial"/>
              </a:rPr>
              <a:t> between resources that are not visible to Terraform. Using the </a:t>
            </a:r>
            <a:r>
              <a:rPr lang="en-US" sz="1100" b="1" dirty="0">
                <a:latin typeface="Arial"/>
                <a:cs typeface="Arial"/>
                <a:sym typeface="Arial"/>
              </a:rPr>
              <a:t>depends_on</a:t>
            </a:r>
            <a:r>
              <a:rPr lang="en-US" sz="1100" dirty="0">
                <a:latin typeface="Arial"/>
                <a:cs typeface="Arial"/>
                <a:sym typeface="Arial"/>
              </a:rPr>
              <a:t> argument, we can explicitly specify our dependencies to terraform and make sure that they are provisioned &amp; destroyed in that order.</a:t>
            </a:r>
            <a:endParaRPr lang="en-IN" sz="1100" dirty="0">
              <a:latin typeface="Arial"/>
              <a:cs typeface="Arial"/>
              <a:sym typeface="Arial"/>
            </a:endParaRPr>
          </a:p>
          <a:p>
            <a:pPr marL="0" indent="0">
              <a:spcBef>
                <a:spcPts val="1200"/>
              </a:spcBef>
              <a:buNone/>
            </a:pPr>
            <a:r>
              <a:rPr lang="en-IN" sz="1000" dirty="0">
                <a:solidFill>
                  <a:srgbClr val="188038"/>
                </a:solidFill>
                <a:latin typeface="Roboto Mono"/>
                <a:ea typeface="Roboto Mono"/>
                <a:sym typeface="Arial"/>
              </a:rPr>
              <a:t>resource "aws_s3_bucket" "example" {}</a:t>
            </a:r>
          </a:p>
          <a:p>
            <a:pPr marL="0" indent="0">
              <a:spcBef>
                <a:spcPts val="1200"/>
              </a:spcBef>
              <a:buNone/>
            </a:pPr>
            <a:r>
              <a:rPr lang="en-IN" sz="1000" dirty="0">
                <a:solidFill>
                  <a:srgbClr val="188038"/>
                </a:solidFill>
                <a:latin typeface="Roboto Mono"/>
                <a:ea typeface="Roboto Mono"/>
                <a:sym typeface="Arial"/>
              </a:rPr>
              <a:t>resource "</a:t>
            </a:r>
            <a:r>
              <a:rPr lang="en-IN" sz="1000" dirty="0" err="1">
                <a:solidFill>
                  <a:srgbClr val="188038"/>
                </a:solidFill>
                <a:latin typeface="Roboto Mono"/>
                <a:ea typeface="Roboto Mono"/>
                <a:sym typeface="Arial"/>
              </a:rPr>
              <a:t>aws_instance</a:t>
            </a:r>
            <a:r>
              <a:rPr lang="en-IN" sz="1000" dirty="0">
                <a:solidFill>
                  <a:srgbClr val="188038"/>
                </a:solidFill>
                <a:latin typeface="Roboto Mono"/>
                <a:ea typeface="Roboto Mono"/>
                <a:sym typeface="Arial"/>
              </a:rPr>
              <a:t>" "</a:t>
            </a:r>
            <a:r>
              <a:rPr lang="en-IN" sz="1000" dirty="0" err="1">
                <a:solidFill>
                  <a:srgbClr val="188038"/>
                </a:solidFill>
                <a:latin typeface="Roboto Mono"/>
                <a:ea typeface="Roboto Mono"/>
                <a:sym typeface="Arial"/>
              </a:rPr>
              <a:t>example_c</a:t>
            </a:r>
            <a:r>
              <a:rPr lang="en-IN" sz="1000" dirty="0">
                <a:solidFill>
                  <a:srgbClr val="188038"/>
                </a:solidFill>
                <a:latin typeface="Roboto Mono"/>
                <a:ea typeface="Roboto Mono"/>
                <a:sym typeface="Arial"/>
              </a:rPr>
              <a:t>" {</a:t>
            </a:r>
          </a:p>
          <a:p>
            <a:pPr marL="0" indent="0">
              <a:spcBef>
                <a:spcPts val="1200"/>
              </a:spcBef>
              <a:buNone/>
            </a:pPr>
            <a:r>
              <a:rPr lang="en-IN" sz="1000" dirty="0">
                <a:solidFill>
                  <a:srgbClr val="188038"/>
                </a:solidFill>
                <a:latin typeface="Roboto Mono"/>
                <a:ea typeface="Roboto Mono"/>
                <a:sym typeface="Arial"/>
              </a:rPr>
              <a:t>  </a:t>
            </a:r>
            <a:r>
              <a:rPr lang="en-IN" sz="1000" dirty="0" err="1">
                <a:solidFill>
                  <a:srgbClr val="188038"/>
                </a:solidFill>
                <a:latin typeface="Roboto Mono"/>
                <a:ea typeface="Roboto Mono"/>
                <a:sym typeface="Arial"/>
              </a:rPr>
              <a:t>ami</a:t>
            </a:r>
            <a:r>
              <a:rPr lang="en-IN" sz="1000" dirty="0">
                <a:solidFill>
                  <a:srgbClr val="188038"/>
                </a:solidFill>
                <a:latin typeface="Roboto Mono"/>
                <a:ea typeface="Roboto Mono"/>
                <a:sym typeface="Arial"/>
              </a:rPr>
              <a:t>           = data.aws_ami.amazon_linux.id</a:t>
            </a:r>
          </a:p>
          <a:p>
            <a:pPr marL="0" indent="0">
              <a:spcBef>
                <a:spcPts val="1200"/>
              </a:spcBef>
              <a:buNone/>
            </a:pPr>
            <a:r>
              <a:rPr lang="en-IN" sz="1000" dirty="0">
                <a:solidFill>
                  <a:srgbClr val="188038"/>
                </a:solidFill>
                <a:latin typeface="Roboto Mono"/>
                <a:ea typeface="Roboto Mono"/>
                <a:sym typeface="Arial"/>
              </a:rPr>
              <a:t>  </a:t>
            </a:r>
            <a:r>
              <a:rPr lang="en-IN" sz="1000" dirty="0" err="1">
                <a:solidFill>
                  <a:srgbClr val="188038"/>
                </a:solidFill>
                <a:latin typeface="Roboto Mono"/>
                <a:ea typeface="Roboto Mono"/>
                <a:sym typeface="Arial"/>
              </a:rPr>
              <a:t>instance_type</a:t>
            </a:r>
            <a:r>
              <a:rPr lang="en-IN" sz="1000" dirty="0">
                <a:solidFill>
                  <a:srgbClr val="188038"/>
                </a:solidFill>
                <a:latin typeface="Roboto Mono"/>
                <a:ea typeface="Roboto Mono"/>
                <a:sym typeface="Arial"/>
              </a:rPr>
              <a:t> = "t2.micro"</a:t>
            </a:r>
          </a:p>
          <a:p>
            <a:pPr marL="0" indent="0">
              <a:spcBef>
                <a:spcPts val="1200"/>
              </a:spcBef>
              <a:buNone/>
            </a:pPr>
            <a:r>
              <a:rPr lang="en-IN" sz="1000" dirty="0">
                <a:solidFill>
                  <a:srgbClr val="188038"/>
                </a:solidFill>
                <a:latin typeface="Roboto Mono"/>
                <a:ea typeface="Roboto Mono"/>
                <a:sym typeface="Arial"/>
              </a:rPr>
              <a:t>  depends_on = [aws_s3_bucket.example]</a:t>
            </a:r>
          </a:p>
          <a:p>
            <a:pPr marL="0" indent="0">
              <a:spcBef>
                <a:spcPts val="1200"/>
              </a:spcBef>
              <a:buNone/>
            </a:pPr>
            <a:r>
              <a:rPr lang="en-IN" sz="1000" dirty="0">
                <a:solidFill>
                  <a:srgbClr val="188038"/>
                </a:solidFill>
                <a:latin typeface="Roboto Mono"/>
                <a:ea typeface="Roboto Mono"/>
                <a:sym typeface="Arial"/>
              </a:rPr>
              <a:t>}</a:t>
            </a:r>
          </a:p>
          <a:p>
            <a:pPr marL="0" indent="0">
              <a:spcBef>
                <a:spcPts val="1200"/>
              </a:spcBef>
              <a:buNone/>
            </a:pPr>
            <a:r>
              <a:rPr lang="en-IN" sz="1000" dirty="0">
                <a:solidFill>
                  <a:srgbClr val="188038"/>
                </a:solidFill>
                <a:latin typeface="Roboto Mono"/>
                <a:ea typeface="Roboto Mono"/>
                <a:sym typeface="Arial"/>
              </a:rPr>
              <a:t>module "</a:t>
            </a:r>
            <a:r>
              <a:rPr lang="en-IN" sz="1000" dirty="0" err="1">
                <a:solidFill>
                  <a:srgbClr val="188038"/>
                </a:solidFill>
                <a:latin typeface="Roboto Mono"/>
                <a:ea typeface="Roboto Mono"/>
                <a:sym typeface="Arial"/>
              </a:rPr>
              <a:t>example_sqs_queue</a:t>
            </a:r>
            <a:r>
              <a:rPr lang="en-IN" sz="1000" dirty="0">
                <a:solidFill>
                  <a:srgbClr val="188038"/>
                </a:solidFill>
                <a:latin typeface="Roboto Mono"/>
                <a:ea typeface="Roboto Mono"/>
                <a:sym typeface="Arial"/>
              </a:rPr>
              <a:t>" {</a:t>
            </a:r>
          </a:p>
          <a:p>
            <a:pPr marL="0" indent="0">
              <a:spcBef>
                <a:spcPts val="1200"/>
              </a:spcBef>
              <a:buNone/>
            </a:pPr>
            <a:r>
              <a:rPr lang="en-IN" sz="1000" dirty="0">
                <a:solidFill>
                  <a:srgbClr val="188038"/>
                </a:solidFill>
                <a:latin typeface="Roboto Mono"/>
                <a:ea typeface="Roboto Mono"/>
                <a:sym typeface="Arial"/>
              </a:rPr>
              <a:t>  source  = "terraform-</a:t>
            </a:r>
            <a:r>
              <a:rPr lang="en-IN" sz="1000" dirty="0" err="1">
                <a:solidFill>
                  <a:srgbClr val="188038"/>
                </a:solidFill>
                <a:latin typeface="Roboto Mono"/>
                <a:ea typeface="Roboto Mono"/>
                <a:sym typeface="Arial"/>
              </a:rPr>
              <a:t>aws</a:t>
            </a:r>
            <a:r>
              <a:rPr lang="en-IN" sz="1000" dirty="0">
                <a:solidFill>
                  <a:srgbClr val="188038"/>
                </a:solidFill>
                <a:latin typeface="Roboto Mono"/>
                <a:ea typeface="Roboto Mono"/>
                <a:sym typeface="Arial"/>
              </a:rPr>
              <a:t>-modules/</a:t>
            </a:r>
            <a:r>
              <a:rPr lang="en-IN" sz="1000" dirty="0" err="1">
                <a:solidFill>
                  <a:srgbClr val="188038"/>
                </a:solidFill>
                <a:latin typeface="Roboto Mono"/>
                <a:ea typeface="Roboto Mono"/>
                <a:sym typeface="Arial"/>
              </a:rPr>
              <a:t>sqs</a:t>
            </a:r>
            <a:r>
              <a:rPr lang="en-IN" sz="1000" dirty="0">
                <a:solidFill>
                  <a:srgbClr val="188038"/>
                </a:solidFill>
                <a:latin typeface="Roboto Mono"/>
                <a:ea typeface="Roboto Mono"/>
                <a:sym typeface="Arial"/>
              </a:rPr>
              <a:t>/</a:t>
            </a:r>
            <a:r>
              <a:rPr lang="en-IN" sz="1000" dirty="0" err="1">
                <a:solidFill>
                  <a:srgbClr val="188038"/>
                </a:solidFill>
                <a:latin typeface="Roboto Mono"/>
                <a:ea typeface="Roboto Mono"/>
                <a:sym typeface="Arial"/>
              </a:rPr>
              <a:t>aws</a:t>
            </a:r>
            <a:r>
              <a:rPr lang="en-IN" sz="1000" dirty="0">
                <a:solidFill>
                  <a:srgbClr val="188038"/>
                </a:solidFill>
                <a:latin typeface="Roboto Mono"/>
                <a:ea typeface="Roboto Mono"/>
                <a:sym typeface="Arial"/>
              </a:rPr>
              <a:t>"</a:t>
            </a:r>
          </a:p>
          <a:p>
            <a:pPr marL="0" indent="0">
              <a:spcBef>
                <a:spcPts val="1200"/>
              </a:spcBef>
              <a:buNone/>
            </a:pPr>
            <a:r>
              <a:rPr lang="en-IN" sz="1000" dirty="0">
                <a:solidFill>
                  <a:srgbClr val="188038"/>
                </a:solidFill>
                <a:latin typeface="Roboto Mono"/>
                <a:ea typeface="Roboto Mono"/>
                <a:sym typeface="Arial"/>
              </a:rPr>
              <a:t>  version = "3.3.0"</a:t>
            </a:r>
          </a:p>
          <a:p>
            <a:pPr marL="0" indent="0">
              <a:spcBef>
                <a:spcPts val="1200"/>
              </a:spcBef>
              <a:buNone/>
            </a:pPr>
            <a:r>
              <a:rPr lang="en-IN" sz="1000" dirty="0">
                <a:solidFill>
                  <a:srgbClr val="188038"/>
                </a:solidFill>
                <a:latin typeface="Roboto Mono"/>
                <a:ea typeface="Roboto Mono"/>
                <a:sym typeface="Arial"/>
              </a:rPr>
              <a:t>  depends_on = [aws_s3_bucket.example, </a:t>
            </a:r>
            <a:r>
              <a:rPr lang="en-IN" sz="1000" dirty="0" err="1">
                <a:solidFill>
                  <a:srgbClr val="188038"/>
                </a:solidFill>
                <a:latin typeface="Roboto Mono"/>
                <a:ea typeface="Roboto Mono"/>
                <a:sym typeface="Arial"/>
              </a:rPr>
              <a:t>aws_instance.example_c</a:t>
            </a:r>
            <a:r>
              <a:rPr lang="en-IN" sz="1000" dirty="0">
                <a:solidFill>
                  <a:srgbClr val="188038"/>
                </a:solidFill>
                <a:latin typeface="Roboto Mono"/>
                <a:ea typeface="Roboto Mono"/>
                <a:sym typeface="Arial"/>
              </a:rPr>
              <a:t>]</a:t>
            </a:r>
          </a:p>
          <a:p>
            <a:pPr marL="0" indent="0">
              <a:spcBef>
                <a:spcPts val="1200"/>
              </a:spcBef>
              <a:buNone/>
            </a:pPr>
            <a:r>
              <a:rPr lang="en-IN" sz="1000" dirty="0">
                <a:solidFill>
                  <a:srgbClr val="188038"/>
                </a:solidFill>
                <a:latin typeface="Roboto Mono"/>
                <a:ea typeface="Roboto Mono"/>
                <a:sym typeface="Arial"/>
              </a:rPr>
              <a:t>}</a:t>
            </a:r>
            <a:endParaRPr sz="1100" dirty="0">
              <a:solidFill>
                <a:srgbClr val="188038"/>
              </a:solidFill>
              <a:latin typeface="Roboto Mono"/>
              <a:ea typeface="Roboto Mono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969765634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87">
          <a:extLst>
            <a:ext uri="{FF2B5EF4-FFF2-40B4-BE49-F238E27FC236}">
              <a16:creationId xmlns:a16="http://schemas.microsoft.com/office/drawing/2014/main" id="{FB612692-AA4D-8784-FC5C-17CBA23935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8" name="Google Shape;388;p67">
            <a:extLst>
              <a:ext uri="{FF2B5EF4-FFF2-40B4-BE49-F238E27FC236}">
                <a16:creationId xmlns:a16="http://schemas.microsoft.com/office/drawing/2014/main" id="{8DEB082B-8A2B-4539-A1B3-0A87A07C103B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11700" y="224589"/>
            <a:ext cx="8520600" cy="613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en" dirty="0"/>
              <a:t>Troubleshoot: </a:t>
            </a:r>
            <a:r>
              <a:rPr lang="en-IN" dirty="0"/>
              <a:t>State Lock Errors</a:t>
            </a:r>
            <a:endParaRPr dirty="0"/>
          </a:p>
        </p:txBody>
      </p:sp>
      <p:sp>
        <p:nvSpPr>
          <p:cNvPr id="389" name="Google Shape;389;p67">
            <a:extLst>
              <a:ext uri="{FF2B5EF4-FFF2-40B4-BE49-F238E27FC236}">
                <a16:creationId xmlns:a16="http://schemas.microsoft.com/office/drawing/2014/main" id="{FD79381C-07DC-D40E-1029-9B86500A4F0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311700" y="801999"/>
            <a:ext cx="8636358" cy="4341501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>
              <a:buNone/>
            </a:pPr>
            <a:r>
              <a:rPr lang="en-US" sz="900" b="1" dirty="0">
                <a:latin typeface="Arial"/>
                <a:cs typeface="Arial"/>
              </a:rPr>
              <a:t>Error: </a:t>
            </a:r>
            <a:r>
              <a:rPr lang="en-US" sz="900" dirty="0">
                <a:latin typeface="Arial"/>
                <a:cs typeface="Arial"/>
              </a:rPr>
              <a:t>A state lock error occurs when you try to run a command like terraform apply while another Terraform process already holds a lock on the state file. This is a safety mechanism to prevent concurrent operations from corrupting your state.</a:t>
            </a:r>
          </a:p>
          <a:p>
            <a:pPr marL="0" lvl="0" indent="0">
              <a:buNone/>
            </a:pPr>
            <a:endParaRPr lang="en-US" sz="900" dirty="0">
              <a:latin typeface="Arial"/>
              <a:cs typeface="Arial"/>
            </a:endParaRPr>
          </a:p>
          <a:p>
            <a:pPr marL="0" lvl="0" indent="0">
              <a:buNone/>
            </a:pPr>
            <a:r>
              <a:rPr lang="en-US" sz="900" b="1" dirty="0">
                <a:latin typeface="Arial"/>
                <a:cs typeface="Arial"/>
                <a:sym typeface="Arial"/>
              </a:rPr>
              <a:t>Why it happens: </a:t>
            </a:r>
            <a:r>
              <a:rPr lang="en-US" sz="900" dirty="0">
                <a:latin typeface="Arial"/>
                <a:cs typeface="Arial"/>
                <a:sym typeface="Arial"/>
              </a:rPr>
              <a:t>A legitimate process is running, or a previous process crashed without releasing the lock, creating a "stale lock.“</a:t>
            </a:r>
          </a:p>
          <a:p>
            <a:pPr marL="0" lvl="0" indent="0">
              <a:buNone/>
            </a:pPr>
            <a:endParaRPr lang="en-US" sz="900" b="1" dirty="0">
              <a:latin typeface="Arial"/>
              <a:cs typeface="Arial"/>
              <a:sym typeface="Arial"/>
            </a:endParaRPr>
          </a:p>
          <a:p>
            <a:pPr marL="0" lvl="0" indent="0">
              <a:buNone/>
            </a:pPr>
            <a:r>
              <a:rPr lang="en-US" sz="900" b="1" dirty="0">
                <a:latin typeface="Arial"/>
                <a:cs typeface="Arial"/>
                <a:sym typeface="Arial"/>
              </a:rPr>
              <a:t>The Error Message: </a:t>
            </a:r>
            <a:r>
              <a:rPr lang="en-US" sz="900" dirty="0">
                <a:latin typeface="Arial"/>
                <a:cs typeface="Arial"/>
                <a:sym typeface="Arial"/>
              </a:rPr>
              <a:t>You will see a clear error indicating who holds the lock.</a:t>
            </a:r>
          </a:p>
          <a:p>
            <a:pPr marL="0" lvl="0" indent="0">
              <a:buNone/>
            </a:pPr>
            <a:r>
              <a:rPr lang="en-IN" sz="800" dirty="0">
                <a:solidFill>
                  <a:srgbClr val="188038"/>
                </a:solidFill>
                <a:latin typeface="Roboto Mono"/>
                <a:ea typeface="Roboto Mono"/>
                <a:sym typeface="Arial"/>
              </a:rPr>
              <a:t>Error: Error acquiring the state lock</a:t>
            </a:r>
          </a:p>
          <a:p>
            <a:pPr marL="0" lvl="0" indent="0">
              <a:buNone/>
            </a:pPr>
            <a:endParaRPr lang="en-IN" sz="800" dirty="0">
              <a:solidFill>
                <a:srgbClr val="188038"/>
              </a:solidFill>
              <a:latin typeface="Roboto Mono"/>
              <a:ea typeface="Roboto Mono"/>
              <a:sym typeface="Arial"/>
            </a:endParaRPr>
          </a:p>
          <a:p>
            <a:pPr marL="0" lvl="0" indent="0">
              <a:buNone/>
            </a:pPr>
            <a:r>
              <a:rPr lang="en-IN" sz="800" dirty="0">
                <a:solidFill>
                  <a:srgbClr val="188038"/>
                </a:solidFill>
                <a:latin typeface="Roboto Mono"/>
                <a:ea typeface="Roboto Mono"/>
                <a:sym typeface="Arial"/>
              </a:rPr>
              <a:t>Error message: a state lock is held</a:t>
            </a:r>
          </a:p>
          <a:p>
            <a:pPr marL="0" lvl="0" indent="0">
              <a:buNone/>
            </a:pPr>
            <a:r>
              <a:rPr lang="en-IN" sz="800" dirty="0">
                <a:solidFill>
                  <a:srgbClr val="188038"/>
                </a:solidFill>
                <a:latin typeface="Roboto Mono"/>
                <a:ea typeface="Roboto Mono"/>
                <a:sym typeface="Arial"/>
              </a:rPr>
              <a:t>Lock Info:</a:t>
            </a:r>
          </a:p>
          <a:p>
            <a:pPr marL="0" lvl="0" indent="0">
              <a:buNone/>
            </a:pPr>
            <a:r>
              <a:rPr lang="en-IN" sz="800" dirty="0">
                <a:solidFill>
                  <a:srgbClr val="188038"/>
                </a:solidFill>
                <a:latin typeface="Roboto Mono"/>
                <a:ea typeface="Roboto Mono"/>
                <a:sym typeface="Arial"/>
              </a:rPr>
              <a:t>  ID:        1a2b3c4d-5e6f-7a8b-9c0d-1e2f3a4b5c6d</a:t>
            </a:r>
          </a:p>
          <a:p>
            <a:pPr marL="0" lvl="0" indent="0">
              <a:buNone/>
            </a:pPr>
            <a:r>
              <a:rPr lang="en-IN" sz="800" dirty="0">
                <a:solidFill>
                  <a:srgbClr val="188038"/>
                </a:solidFill>
                <a:latin typeface="Roboto Mono"/>
                <a:ea typeface="Roboto Mono"/>
                <a:sym typeface="Arial"/>
              </a:rPr>
              <a:t>  Path:      my-terraform-bucket/web-app/</a:t>
            </a:r>
            <a:r>
              <a:rPr lang="en-IN" sz="800" dirty="0" err="1">
                <a:solidFill>
                  <a:srgbClr val="188038"/>
                </a:solidFill>
                <a:latin typeface="Roboto Mono"/>
                <a:ea typeface="Roboto Mono"/>
                <a:sym typeface="Arial"/>
              </a:rPr>
              <a:t>terraform.tfstate</a:t>
            </a:r>
            <a:endParaRPr lang="en-IN" sz="800" dirty="0">
              <a:solidFill>
                <a:srgbClr val="188038"/>
              </a:solidFill>
              <a:latin typeface="Roboto Mono"/>
              <a:ea typeface="Roboto Mono"/>
              <a:sym typeface="Arial"/>
            </a:endParaRPr>
          </a:p>
          <a:p>
            <a:pPr marL="0" lvl="0" indent="0">
              <a:buNone/>
            </a:pPr>
            <a:r>
              <a:rPr lang="en-IN" sz="800" dirty="0">
                <a:solidFill>
                  <a:srgbClr val="188038"/>
                </a:solidFill>
                <a:latin typeface="Roboto Mono"/>
                <a:ea typeface="Roboto Mono"/>
                <a:sym typeface="Arial"/>
              </a:rPr>
              <a:t>  Operation: Plan</a:t>
            </a:r>
          </a:p>
          <a:p>
            <a:pPr marL="0" lvl="0" indent="0">
              <a:buNone/>
            </a:pPr>
            <a:r>
              <a:rPr lang="en-IN" sz="800" dirty="0">
                <a:solidFill>
                  <a:srgbClr val="188038"/>
                </a:solidFill>
                <a:latin typeface="Roboto Mono"/>
                <a:ea typeface="Roboto Mono"/>
                <a:sym typeface="Arial"/>
              </a:rPr>
              <a:t>  Who:       </a:t>
            </a:r>
            <a:r>
              <a:rPr lang="en-IN" sz="800" dirty="0" err="1">
                <a:solidFill>
                  <a:srgbClr val="188038"/>
                </a:solidFill>
                <a:latin typeface="Roboto Mono"/>
                <a:ea typeface="Roboto Mono"/>
                <a:sym typeface="Arial"/>
              </a:rPr>
              <a:t>user@machine-name</a:t>
            </a:r>
            <a:endParaRPr lang="en-IN" sz="800" dirty="0">
              <a:solidFill>
                <a:srgbClr val="188038"/>
              </a:solidFill>
              <a:latin typeface="Roboto Mono"/>
              <a:ea typeface="Roboto Mono"/>
              <a:sym typeface="Arial"/>
            </a:endParaRPr>
          </a:p>
          <a:p>
            <a:pPr marL="0" lvl="0" indent="0">
              <a:buNone/>
            </a:pPr>
            <a:r>
              <a:rPr lang="en-IN" sz="800" dirty="0">
                <a:solidFill>
                  <a:srgbClr val="188038"/>
                </a:solidFill>
                <a:latin typeface="Roboto Mono"/>
                <a:ea typeface="Roboto Mono"/>
                <a:sym typeface="Arial"/>
              </a:rPr>
              <a:t>  When:      2023-10-27T10:30:00Z</a:t>
            </a:r>
          </a:p>
          <a:p>
            <a:pPr marL="0" lvl="0" indent="0">
              <a:buNone/>
            </a:pPr>
            <a:endParaRPr lang="en-IN" sz="800" dirty="0">
              <a:solidFill>
                <a:srgbClr val="188038"/>
              </a:solidFill>
              <a:latin typeface="Roboto Mono"/>
              <a:ea typeface="Roboto Mono"/>
              <a:sym typeface="Arial"/>
            </a:endParaRPr>
          </a:p>
          <a:p>
            <a:pPr marL="0" lvl="0" indent="0">
              <a:buNone/>
            </a:pPr>
            <a:r>
              <a:rPr lang="en-IN" sz="800" dirty="0">
                <a:solidFill>
                  <a:srgbClr val="188038"/>
                </a:solidFill>
                <a:latin typeface="Roboto Mono"/>
                <a:ea typeface="Roboto Mono"/>
                <a:sym typeface="Arial"/>
              </a:rPr>
              <a:t>Terraform state has been locked by </a:t>
            </a:r>
            <a:r>
              <a:rPr lang="en-IN" sz="800" dirty="0" err="1">
                <a:solidFill>
                  <a:srgbClr val="188038"/>
                </a:solidFill>
                <a:latin typeface="Roboto Mono"/>
                <a:ea typeface="Roboto Mono"/>
                <a:sym typeface="Arial"/>
              </a:rPr>
              <a:t>user@machine-name</a:t>
            </a:r>
            <a:r>
              <a:rPr lang="en-IN" sz="800" dirty="0">
                <a:solidFill>
                  <a:srgbClr val="188038"/>
                </a:solidFill>
                <a:latin typeface="Roboto Mono"/>
                <a:ea typeface="Roboto Mono"/>
                <a:sym typeface="Arial"/>
              </a:rPr>
              <a:t>.</a:t>
            </a:r>
          </a:p>
          <a:p>
            <a:pPr marL="0" lvl="0" indent="0">
              <a:buNone/>
            </a:pPr>
            <a:endParaRPr lang="en-IN" sz="900" dirty="0">
              <a:solidFill>
                <a:srgbClr val="188038"/>
              </a:solidFill>
              <a:latin typeface="Roboto Mono"/>
              <a:ea typeface="Roboto Mono"/>
              <a:sym typeface="Arial"/>
            </a:endParaRPr>
          </a:p>
          <a:p>
            <a:pPr marL="0" lvl="0" indent="0">
              <a:buNone/>
            </a:pPr>
            <a:r>
              <a:rPr lang="en-IN" sz="900" b="1" dirty="0">
                <a:latin typeface="Arial"/>
                <a:cs typeface="Arial"/>
                <a:sym typeface="Arial"/>
              </a:rPr>
              <a:t>How to Resolve this error:</a:t>
            </a:r>
          </a:p>
          <a:p>
            <a:pPr marL="0" lvl="0" indent="0">
              <a:buNone/>
            </a:pPr>
            <a:r>
              <a:rPr lang="en-US" sz="900" b="1" dirty="0">
                <a:latin typeface="Arial"/>
                <a:cs typeface="Arial"/>
                <a:sym typeface="Arial"/>
              </a:rPr>
              <a:t>Step 1: </a:t>
            </a:r>
            <a:r>
              <a:rPr lang="en-US" sz="900" dirty="0">
                <a:latin typeface="Arial"/>
                <a:cs typeface="Arial"/>
                <a:sym typeface="Arial"/>
              </a:rPr>
              <a:t>Wait and Check with Your Team</a:t>
            </a:r>
          </a:p>
          <a:p>
            <a:pPr marL="0" lvl="0" indent="0">
              <a:buNone/>
            </a:pPr>
            <a:r>
              <a:rPr lang="en-US" sz="900" b="1" dirty="0">
                <a:latin typeface="Arial"/>
                <a:cs typeface="Arial"/>
                <a:sym typeface="Arial"/>
              </a:rPr>
              <a:t>Step 2: </a:t>
            </a:r>
            <a:r>
              <a:rPr lang="en-US" sz="900" dirty="0">
                <a:latin typeface="Arial"/>
                <a:cs typeface="Arial"/>
                <a:sym typeface="Arial"/>
              </a:rPr>
              <a:t>Investigate the Lock Info: If no one is actively running Terraform, the lock is likely "stale" from a crashed or interrupted process. Look at the Who and When fields in the error message </a:t>
            </a:r>
          </a:p>
          <a:p>
            <a:pPr marL="0" indent="0">
              <a:buNone/>
            </a:pPr>
            <a:r>
              <a:rPr lang="en-US" sz="900" b="1" dirty="0">
                <a:latin typeface="Arial"/>
                <a:cs typeface="Arial"/>
                <a:sym typeface="Arial"/>
              </a:rPr>
              <a:t>Step 3: </a:t>
            </a:r>
            <a:r>
              <a:rPr lang="en-US" sz="900" dirty="0">
                <a:latin typeface="Arial"/>
                <a:cs typeface="Arial"/>
                <a:sym typeface="Arial"/>
              </a:rPr>
              <a:t>Force Unlock the State (Use with Extreme Caution): If you are 100% certain that no other process is running and the lock is stale, you can manually remove it.</a:t>
            </a:r>
          </a:p>
          <a:p>
            <a:pPr marL="0" lvl="0" indent="0">
              <a:buNone/>
            </a:pPr>
            <a:r>
              <a:rPr lang="en-US" sz="900" b="1" dirty="0">
                <a:latin typeface="Arial"/>
                <a:cs typeface="Arial"/>
                <a:sym typeface="Arial"/>
              </a:rPr>
              <a:t>Action:</a:t>
            </a:r>
            <a:r>
              <a:rPr lang="en-US" sz="900" dirty="0">
                <a:latin typeface="Arial"/>
                <a:cs typeface="Arial"/>
                <a:sym typeface="Arial"/>
              </a:rPr>
              <a:t> Use the force-unlock command with the Lock ID from the error message.</a:t>
            </a:r>
          </a:p>
          <a:p>
            <a:pPr marL="0" lvl="0" indent="0">
              <a:buNone/>
            </a:pPr>
            <a:r>
              <a:rPr lang="en-IN" sz="900" dirty="0">
                <a:solidFill>
                  <a:srgbClr val="188038"/>
                </a:solidFill>
                <a:latin typeface="Roboto Mono"/>
                <a:ea typeface="Roboto Mono"/>
                <a:sym typeface="Arial"/>
              </a:rPr>
              <a:t>terraform force-unlock 1a2b3c4d-5e6f-7a8b-9c0d-1e2f3a4b5c6d</a:t>
            </a:r>
          </a:p>
          <a:p>
            <a:pPr marL="0" lvl="0" indent="0">
              <a:buNone/>
            </a:pPr>
            <a:endParaRPr lang="en-IN" sz="900" dirty="0">
              <a:solidFill>
                <a:srgbClr val="188038"/>
              </a:solidFill>
              <a:latin typeface="Roboto Mono"/>
              <a:ea typeface="Roboto Mono"/>
              <a:sym typeface="Arial"/>
            </a:endParaRPr>
          </a:p>
          <a:p>
            <a:pPr marL="0" lvl="0" indent="0">
              <a:buNone/>
            </a:pPr>
            <a:r>
              <a:rPr lang="en-US" sz="900" b="1" i="1" dirty="0">
                <a:latin typeface="Arial"/>
                <a:cs typeface="Arial"/>
                <a:sym typeface="Arial"/>
              </a:rPr>
              <a:t>Warning: Never use force-unlock if you are not sure the lock is stale. Forcibly unlocking a state file while another process is writing to it is the fastest way to corrupt your state and cause major infrastructure problems</a:t>
            </a:r>
            <a:r>
              <a:rPr lang="en-US" sz="900" b="1" dirty="0">
                <a:latin typeface="Arial"/>
                <a:cs typeface="Arial"/>
                <a:sym typeface="Arial"/>
              </a:rPr>
              <a:t>.</a:t>
            </a:r>
            <a:endParaRPr sz="900" b="1" dirty="0">
              <a:latin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4125399974"/>
      </p:ext>
    </p:extLst>
  </p:cSld>
  <p:clrMapOvr>
    <a:masterClrMapping/>
  </p:clrMapOvr>
</p:sld>
</file>

<file path=ppt/theme/theme1.xml><?xml version="1.0" encoding="utf-8"?>
<a:theme xmlns:a="http://schemas.openxmlformats.org/drawingml/2006/main" name="Paperback">
  <a:themeElements>
    <a:clrScheme name="Paperback">
      <a:dk1>
        <a:srgbClr val="000000"/>
      </a:dk1>
      <a:lt1>
        <a:srgbClr val="FFFFFF"/>
      </a:lt1>
      <a:dk2>
        <a:srgbClr val="00695C"/>
      </a:dk2>
      <a:lt2>
        <a:srgbClr val="26A69A"/>
      </a:lt2>
      <a:accent1>
        <a:srgbClr val="FFFBF0"/>
      </a:accent1>
      <a:accent2>
        <a:srgbClr val="B7B7B7"/>
      </a:accent2>
      <a:accent3>
        <a:srgbClr val="FB8C00"/>
      </a:accent3>
      <a:accent4>
        <a:srgbClr val="80CBC4"/>
      </a:accent4>
      <a:accent5>
        <a:srgbClr val="AF4345"/>
      </a:accent5>
      <a:accent6>
        <a:srgbClr val="F58F8F"/>
      </a:accent6>
      <a:hlink>
        <a:srgbClr val="AF4345"/>
      </a:hlink>
      <a:folHlink>
        <a:srgbClr val="AF4345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3772</TotalTime>
  <Words>3697</Words>
  <Application>Microsoft Office PowerPoint</Application>
  <PresentationFormat>On-screen Show (16:9)</PresentationFormat>
  <Paragraphs>530</Paragraphs>
  <Slides>50</Slides>
  <Notes>50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50</vt:i4>
      </vt:variant>
    </vt:vector>
  </HeadingPairs>
  <TitlesOfParts>
    <vt:vector size="54" baseType="lpstr">
      <vt:lpstr>Old Standard TT</vt:lpstr>
      <vt:lpstr>Roboto Mono</vt:lpstr>
      <vt:lpstr>Arial</vt:lpstr>
      <vt:lpstr>Paperback</vt:lpstr>
      <vt:lpstr>Provisioning Automation with Terraform</vt:lpstr>
      <vt:lpstr>Agenda</vt:lpstr>
      <vt:lpstr>Introduction</vt:lpstr>
      <vt:lpstr>What is IAC</vt:lpstr>
      <vt:lpstr>Infrastructure as Code</vt:lpstr>
      <vt:lpstr>Infrastructure as Code</vt:lpstr>
      <vt:lpstr>What is Terraform</vt:lpstr>
      <vt:lpstr>What is Terraform</vt:lpstr>
      <vt:lpstr>Terraform Lifecycle</vt:lpstr>
      <vt:lpstr>Setting up Terraform</vt:lpstr>
      <vt:lpstr>Terraform Installation</vt:lpstr>
      <vt:lpstr>Basics of Terraform</vt:lpstr>
      <vt:lpstr>Terraform Inputs/Outputs</vt:lpstr>
      <vt:lpstr>Terraform Variables</vt:lpstr>
      <vt:lpstr>Terraform Variable Assignment</vt:lpstr>
      <vt:lpstr>Terraform Outputs</vt:lpstr>
      <vt:lpstr>Terraform Conditionals and Looping</vt:lpstr>
      <vt:lpstr>Terraform looping</vt:lpstr>
      <vt:lpstr>Count meta-argument</vt:lpstr>
      <vt:lpstr>for-each meta-argument</vt:lpstr>
      <vt:lpstr>Terraform Conditionals</vt:lpstr>
      <vt:lpstr>Terraform Modules</vt:lpstr>
      <vt:lpstr>Terraform Modules</vt:lpstr>
      <vt:lpstr>Terraform Modules Usage</vt:lpstr>
      <vt:lpstr>Terraform State Management</vt:lpstr>
      <vt:lpstr>Terraform State Remote Management</vt:lpstr>
      <vt:lpstr>Terraform State Remote Management</vt:lpstr>
      <vt:lpstr>Terraform State Locking</vt:lpstr>
      <vt:lpstr>Manage a manually created resource using TF</vt:lpstr>
      <vt:lpstr>Unmanage a TF created resource </vt:lpstr>
      <vt:lpstr>Multi Environment IAC Management</vt:lpstr>
      <vt:lpstr>Managing Multiple Env in Terraform with .tfvars</vt:lpstr>
      <vt:lpstr>Managing Multiple Env in Terraform with .tfvars</vt:lpstr>
      <vt:lpstr>Managing Multiple Env with workspaces</vt:lpstr>
      <vt:lpstr>Multi Provider setup</vt:lpstr>
      <vt:lpstr>Managing Multiple Providers in Terraform</vt:lpstr>
      <vt:lpstr>Managing Multiple Providers in Terraform</vt:lpstr>
      <vt:lpstr>Terraform Provisioners</vt:lpstr>
      <vt:lpstr>Introduction to Provisioners</vt:lpstr>
      <vt:lpstr>Local-Exec Provisioner</vt:lpstr>
      <vt:lpstr>File Provisioner</vt:lpstr>
      <vt:lpstr>File Provisioner</vt:lpstr>
      <vt:lpstr>Remote-Exec Provisioner</vt:lpstr>
      <vt:lpstr>Misc. Topics</vt:lpstr>
      <vt:lpstr>Data Sources</vt:lpstr>
      <vt:lpstr>Locals</vt:lpstr>
      <vt:lpstr>Terraform Taint/Untaint</vt:lpstr>
      <vt:lpstr>Terraform fmt and validate</vt:lpstr>
      <vt:lpstr>Explicit Dependency</vt:lpstr>
      <vt:lpstr>Troubleshoot: State Lock Errors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KubeCraft Technologies</cp:lastModifiedBy>
  <cp:revision>25</cp:revision>
  <dcterms:modified xsi:type="dcterms:W3CDTF">2025-11-02T08:35:05Z</dcterms:modified>
</cp:coreProperties>
</file>