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0" r:id="rId3"/>
    <p:sldId id="262" r:id="rId4"/>
    <p:sldId id="322" r:id="rId5"/>
    <p:sldId id="264" r:id="rId6"/>
    <p:sldId id="323" r:id="rId7"/>
    <p:sldId id="333" r:id="rId8"/>
    <p:sldId id="297" r:id="rId9"/>
    <p:sldId id="313" r:id="rId10"/>
    <p:sldId id="324" r:id="rId11"/>
    <p:sldId id="325" r:id="rId12"/>
    <p:sldId id="334" r:id="rId13"/>
    <p:sldId id="315" r:id="rId14"/>
    <p:sldId id="337" r:id="rId15"/>
    <p:sldId id="317" r:id="rId16"/>
    <p:sldId id="316" r:id="rId17"/>
    <p:sldId id="328" r:id="rId18"/>
    <p:sldId id="335" r:id="rId19"/>
    <p:sldId id="33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5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4A65-1FA7-291B-CE8C-5E6D2048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FDADB-2DCA-C35F-B7C3-7968810E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AFEAB-3CEB-BA30-11AC-5EE8D793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3666-AA39-F7C0-B759-50412EAB7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73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93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8" y="2068973"/>
            <a:ext cx="8218711" cy="2372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AWS API &amp; Event Driven Architecture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3901" y="2068286"/>
            <a:ext cx="969041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API &amp; Event-Driven Architecture Fundamentals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API-driven vs Event-driven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when to use synchronous vs asynchronous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Explore common API &amp; EDA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 how to implement these patterns on 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anti-patterns &amp; best practices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dirty="0"/>
              <a:t>The Evolution of Modern Architecture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444" y="1830418"/>
            <a:ext cx="2922814" cy="250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Monolith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Single deployable unit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Tightly coupled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Scalability limited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Long release cycles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F470D-79A9-3F0D-B9CC-AB75D33FC69A}"/>
              </a:ext>
            </a:extLst>
          </p:cNvPr>
          <p:cNvSpPr txBox="1"/>
          <p:nvPr/>
        </p:nvSpPr>
        <p:spPr>
          <a:xfrm>
            <a:off x="4212773" y="1830418"/>
            <a:ext cx="3624941" cy="281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Microservices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Independent deployable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Technology flexibility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Can communicate via APIs or events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Reduces blast radius but introduces distributed complexity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09AD2-3A4E-474B-E527-6F46F65B11F4}"/>
              </a:ext>
            </a:extLst>
          </p:cNvPr>
          <p:cNvSpPr txBox="1"/>
          <p:nvPr/>
        </p:nvSpPr>
        <p:spPr>
          <a:xfrm>
            <a:off x="8278584" y="1830418"/>
            <a:ext cx="3145972" cy="240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Event-Driven Microservices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Services communicate through asynchronous events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Highly decoupled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Reactive, scalable, resilient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A3AA-F167-E46B-4064-40796873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10BFB-421B-9B3D-8F1B-287EFB6CE91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Introduction to API Architecture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C1910-DB13-D4BF-A923-7AB7AA0730FC}"/>
              </a:ext>
            </a:extLst>
          </p:cNvPr>
          <p:cNvSpPr txBox="1"/>
          <p:nvPr/>
        </p:nvSpPr>
        <p:spPr>
          <a:xfrm>
            <a:off x="816428" y="1319435"/>
            <a:ext cx="10657114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an API?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Application Programming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Contract between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Enables communication between systems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Synchronous request-response pattern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Client waits for immediate response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3B3E2-D5CF-608D-0261-79A540E7E875}"/>
              </a:ext>
            </a:extLst>
          </p:cNvPr>
          <p:cNvSpPr txBox="1"/>
          <p:nvPr/>
        </p:nvSpPr>
        <p:spPr>
          <a:xfrm>
            <a:off x="947057" y="4376058"/>
            <a:ext cx="8218714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Basic Flow:</a:t>
            </a:r>
          </a:p>
          <a:p>
            <a:endParaRPr lang="en-IN" dirty="0"/>
          </a:p>
          <a:p>
            <a:r>
              <a:rPr lang="en-IN" dirty="0"/>
              <a:t>Client -&gt; API Endpoint -&gt; Backend Logic -&gt; Database -&gt; Response</a:t>
            </a:r>
          </a:p>
        </p:txBody>
      </p:sp>
    </p:spTree>
    <p:extLst>
      <p:ext uri="{BB962C8B-B14F-4D97-AF65-F5344CB8AC3E}">
        <p14:creationId xmlns:p14="http://schemas.microsoft.com/office/powerpoint/2010/main" val="314721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Common API Architecture Patterns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557561" y="1240971"/>
            <a:ext cx="532072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Pattern 1: Basic Request-Response</a:t>
            </a:r>
          </a:p>
          <a:p>
            <a:endParaRPr lang="en-IN" b="1" dirty="0"/>
          </a:p>
          <a:p>
            <a:r>
              <a:rPr lang="en-IN" sz="1600" dirty="0"/>
              <a:t>Client -&gt; API Endpoint -&gt; Service -&gt; DB -&gt; Response</a:t>
            </a:r>
          </a:p>
          <a:p>
            <a:endParaRPr lang="en-US" sz="1200" dirty="0"/>
          </a:p>
          <a:p>
            <a:r>
              <a:rPr lang="en-IN" sz="1600" b="1" dirty="0"/>
              <a:t>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Client waits for immediate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Tight coupling between client and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Simple to understand and implement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Ideal for user-facing real-time interactions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Use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 login/authentication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Fetching user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Search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pricing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CRUD operations on business entities</a:t>
            </a:r>
            <a:endParaRPr lang="en-IN" sz="1600" dirty="0"/>
          </a:p>
          <a:p>
            <a:endParaRPr lang="en-IN" sz="1200" dirty="0"/>
          </a:p>
          <a:p>
            <a:endParaRPr lang="en-I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62102-B192-F928-322E-9E6E8FCAFF3C}"/>
              </a:ext>
            </a:extLst>
          </p:cNvPr>
          <p:cNvSpPr txBox="1"/>
          <p:nvPr/>
        </p:nvSpPr>
        <p:spPr>
          <a:xfrm>
            <a:off x="6411686" y="1240971"/>
            <a:ext cx="53207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Pattern 2: API Gateway Aggregation</a:t>
            </a:r>
          </a:p>
          <a:p>
            <a:endParaRPr lang="en-US" b="1" dirty="0"/>
          </a:p>
          <a:p>
            <a:r>
              <a:rPr lang="en-IN" sz="1600" dirty="0"/>
              <a:t>Multiple Clients -&gt; API Gateway -&gt; Multiple Backend Services</a:t>
            </a:r>
          </a:p>
          <a:p>
            <a:endParaRPr lang="en-IN" sz="1600" dirty="0"/>
          </a:p>
          <a:p>
            <a:r>
              <a:rPr lang="en-IN" sz="1600" b="1" dirty="0"/>
              <a:t>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Single unified entry point for all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Handles authentication/authorization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Rate limiting, throttling, caching, request/response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Decouples clients from the underlying microservices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Use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Mobile apps needing aggregated backend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APIs consumed by external partners/vendors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Microservices-based applications with many backend services</a:t>
            </a:r>
            <a:endParaRPr lang="en-I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E3DF-5513-0F51-CD5F-21DE2D80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6C64E7-0445-D594-251B-383D90533798}"/>
              </a:ext>
            </a:extLst>
          </p:cNvPr>
          <p:cNvSpPr txBox="1"/>
          <p:nvPr/>
        </p:nvSpPr>
        <p:spPr>
          <a:xfrm>
            <a:off x="457201" y="274321"/>
            <a:ext cx="9786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API Architecture on AWS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C71F4-52BC-AE84-65EA-A9412E4002AE}"/>
              </a:ext>
            </a:extLst>
          </p:cNvPr>
          <p:cNvSpPr txBox="1"/>
          <p:nvPr/>
        </p:nvSpPr>
        <p:spPr>
          <a:xfrm>
            <a:off x="533400" y="1164134"/>
            <a:ext cx="3535469" cy="451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IN" b="1" dirty="0"/>
              <a:t>ALB -&gt; EKS/ECS/EC2 -&gt; RDS / DynamoDB</a:t>
            </a:r>
          </a:p>
          <a:p>
            <a:pPr marL="342900" indent="-342900">
              <a:buAutoNum type="arabicParenR"/>
            </a:pPr>
            <a:endParaRPr lang="en-IN" sz="1400" b="1" dirty="0"/>
          </a:p>
          <a:p>
            <a:pPr>
              <a:lnSpc>
                <a:spcPct val="150000"/>
              </a:lnSpc>
            </a:pPr>
            <a:r>
              <a:rPr lang="en-IN" sz="1600" dirty="0"/>
              <a:t>Client -&gt; ALB -&gt; EKS / ECS tasks / EC2 -&gt; RDS / DynamoDB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Characteristics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Path or host-based routing (ALB)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Works natively with container workloads (ECS/EKS)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Sticky sessions, WAF, and built-in auth (ALB) available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Fully API-driven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9D4B4-1C8F-B33C-2455-9800E504F439}"/>
              </a:ext>
            </a:extLst>
          </p:cNvPr>
          <p:cNvSpPr txBox="1"/>
          <p:nvPr/>
        </p:nvSpPr>
        <p:spPr>
          <a:xfrm>
            <a:off x="4626429" y="1164134"/>
            <a:ext cx="3156857" cy="4093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2) API Gateway -&gt; Lambda (Serverless pattern)</a:t>
            </a:r>
          </a:p>
          <a:p>
            <a:endParaRPr lang="en-IN" sz="1050" dirty="0"/>
          </a:p>
          <a:p>
            <a:pPr>
              <a:lnSpc>
                <a:spcPct val="150000"/>
              </a:lnSpc>
            </a:pPr>
            <a:r>
              <a:rPr lang="en-IN" sz="1600" dirty="0"/>
              <a:t>Client -&gt; API Gateway -&gt; Lambda -&gt; DB/Services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Characteristics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Fully serverless, no infra to manage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Built-in throttling, auth, request/response transforms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Pay-per-invocation billing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85597-9AEB-3919-A38E-D6C7E843E965}"/>
              </a:ext>
            </a:extLst>
          </p:cNvPr>
          <p:cNvSpPr txBox="1"/>
          <p:nvPr/>
        </p:nvSpPr>
        <p:spPr>
          <a:xfrm>
            <a:off x="8340846" y="1164134"/>
            <a:ext cx="3156857" cy="5571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3) API Gateway -&gt; ALB / NLB -&gt; EC2 / ECS / EKS</a:t>
            </a:r>
          </a:p>
          <a:p>
            <a:endParaRPr lang="en-IN" sz="1050" b="1" dirty="0"/>
          </a:p>
          <a:p>
            <a:pPr>
              <a:lnSpc>
                <a:spcPct val="150000"/>
              </a:lnSpc>
            </a:pPr>
            <a:r>
              <a:rPr lang="en-IN" sz="1600" dirty="0"/>
              <a:t>Client -&gt; API Gateway (Rest API) -&gt; ALB/NLB -&gt; EC2 / ECS / EKS -&gt; DB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Characteristics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API Gateway stays the public entry (auth, throttling, analytics)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ALB / NLB perform the actual service routing inside VPC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Combine API Gateway features (authorization, stages, throttling) with LBs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Keep backend services private (not exposed directly)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9702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434DB-3CB5-E6BF-FC59-5855E1662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0F6F85-BA85-8ED1-E7C2-9C642F03FA07}"/>
              </a:ext>
            </a:extLst>
          </p:cNvPr>
          <p:cNvSpPr txBox="1"/>
          <p:nvPr/>
        </p:nvSpPr>
        <p:spPr>
          <a:xfrm>
            <a:off x="457201" y="274321"/>
            <a:ext cx="9786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/>
              <a:t>Production-Grade API Architecture on AWS</a:t>
            </a:r>
            <a:endParaRPr lang="en-US" sz="3600" dirty="0"/>
          </a:p>
        </p:txBody>
      </p:sp>
      <p:pic>
        <p:nvPicPr>
          <p:cNvPr id="7" name="Picture 6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93F313B8-0CCE-3377-734F-9CC858DA2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4"/>
          <a:stretch>
            <a:fillRect/>
          </a:stretch>
        </p:blipFill>
        <p:spPr>
          <a:xfrm>
            <a:off x="696686" y="1295399"/>
            <a:ext cx="3853543" cy="5156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ED61CF-B04D-52AC-866A-B914B58A97E9}"/>
              </a:ext>
            </a:extLst>
          </p:cNvPr>
          <p:cNvSpPr txBox="1"/>
          <p:nvPr/>
        </p:nvSpPr>
        <p:spPr>
          <a:xfrm>
            <a:off x="5453743" y="1175657"/>
            <a:ext cx="5704114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Characteristics:</a:t>
            </a:r>
          </a:p>
          <a:p>
            <a:endParaRPr lang="en-US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CloudFront</a:t>
            </a:r>
            <a:r>
              <a:rPr lang="en-US" dirty="0"/>
              <a:t> improves global performance and caches API responses when applicable.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API Gateway or ALB</a:t>
            </a:r>
            <a:r>
              <a:rPr lang="en-US" dirty="0"/>
              <a:t> serves as the unified API front door depending on use case (serverless vs containers).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Cognito</a:t>
            </a:r>
            <a:r>
              <a:rPr lang="en-US" dirty="0"/>
              <a:t> provides secure user authentication (OAuth2, JWT tokens).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WAF</a:t>
            </a:r>
            <a:r>
              <a:rPr lang="en-US" dirty="0"/>
              <a:t> protects against common web attacks (OWASP Top 10).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Lambda Authorizers</a:t>
            </a:r>
            <a:r>
              <a:rPr lang="en-US" dirty="0"/>
              <a:t> or custom auth services allow fine-grained authorization logic.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Microservices</a:t>
            </a:r>
            <a:r>
              <a:rPr lang="en-US" dirty="0"/>
              <a:t> can run on Lambda, ECS/Fargate, or EKS based on compute needs.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Databases</a:t>
            </a:r>
            <a:r>
              <a:rPr lang="en-US" dirty="0"/>
              <a:t> store application state, using DynamoDB for serverless or RDS for relational workloads.</a:t>
            </a:r>
          </a:p>
        </p:txBody>
      </p:sp>
    </p:spTree>
    <p:extLst>
      <p:ext uri="{BB962C8B-B14F-4D97-AF65-F5344CB8AC3E}">
        <p14:creationId xmlns:p14="http://schemas.microsoft.com/office/powerpoint/2010/main" val="2023419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3ABD-CDFE-468A-71A1-775989AA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0CBD49-4F8A-5A0E-D9DC-53AB1CF12AB0}"/>
              </a:ext>
            </a:extLst>
          </p:cNvPr>
          <p:cNvSpPr txBox="1"/>
          <p:nvPr/>
        </p:nvSpPr>
        <p:spPr>
          <a:xfrm>
            <a:off x="936172" y="274321"/>
            <a:ext cx="10069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Introduction to Event-Driven Architecture (EDA)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790A-5A6E-D622-522F-1ADDBB7B4207}"/>
              </a:ext>
            </a:extLst>
          </p:cNvPr>
          <p:cNvSpPr txBox="1"/>
          <p:nvPr/>
        </p:nvSpPr>
        <p:spPr>
          <a:xfrm>
            <a:off x="936172" y="1358537"/>
            <a:ext cx="908086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Event-Driven Architecture?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Systems communicate through events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Producers emit events, consumers react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Decoupled components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Asynchronous by nature</a:t>
            </a:r>
          </a:p>
          <a:p>
            <a:br>
              <a:rPr lang="en-US" sz="1400" dirty="0"/>
            </a:br>
            <a:r>
              <a:rPr lang="en-US" b="1" dirty="0"/>
              <a:t>Core Concepts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Event</a:t>
            </a:r>
            <a:r>
              <a:rPr lang="en-US" sz="1600" dirty="0"/>
              <a:t> an immutable fact (“</a:t>
            </a:r>
            <a:r>
              <a:rPr lang="en-US" sz="1600" dirty="0" err="1"/>
              <a:t>OrderPlaced</a:t>
            </a:r>
            <a:r>
              <a:rPr lang="en-US" sz="1600" dirty="0"/>
              <a:t>”, “</a:t>
            </a:r>
            <a:r>
              <a:rPr lang="en-US" sz="1600" dirty="0" err="1"/>
              <a:t>UserRegistered</a:t>
            </a:r>
            <a:r>
              <a:rPr lang="en-US" sz="1600" dirty="0"/>
              <a:t>”)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Producer</a:t>
            </a:r>
            <a:r>
              <a:rPr lang="en-US" sz="1600" dirty="0"/>
              <a:t> emits event, unaware of consumers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Consumer</a:t>
            </a:r>
            <a:r>
              <a:rPr lang="en-US" sz="1600" dirty="0"/>
              <a:t> listens &amp; reacts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Event Bus/Broker</a:t>
            </a:r>
            <a:r>
              <a:rPr lang="en-US" sz="1600" dirty="0"/>
              <a:t> routes events (</a:t>
            </a:r>
            <a:r>
              <a:rPr lang="en-US" sz="1600" dirty="0" err="1"/>
              <a:t>EventBridge</a:t>
            </a:r>
            <a:r>
              <a:rPr lang="en-US" sz="1600" dirty="0"/>
              <a:t>, SNS, SQS)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198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C1AD-FF22-CA6A-A7CE-3A658742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9344D9-E5B3-1520-30F1-70FD6F4560E6}"/>
              </a:ext>
            </a:extLst>
          </p:cNvPr>
          <p:cNvSpPr txBox="1"/>
          <p:nvPr/>
        </p:nvSpPr>
        <p:spPr>
          <a:xfrm>
            <a:off x="859971" y="274321"/>
            <a:ext cx="10036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Benefits of Event-Driven Architecture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2BDDD-E106-BEFB-F00E-C189E48FCD3E}"/>
              </a:ext>
            </a:extLst>
          </p:cNvPr>
          <p:cNvSpPr txBox="1"/>
          <p:nvPr/>
        </p:nvSpPr>
        <p:spPr>
          <a:xfrm>
            <a:off x="1045030" y="894573"/>
            <a:ext cx="9470571" cy="5224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Loose Coupling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Services don't need to know about each other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Easy to add/remove consumers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Changes don't cascade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Scalability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Scale producers and consumers independently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Handle traffic spikes with queues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Parallel processing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Resilience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Failures isolated to individual components, No cascading failures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Retry mechanisms built-in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Flexibility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Easy to add new features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Multiple consumers can react differently</a:t>
            </a:r>
          </a:p>
        </p:txBody>
      </p:sp>
    </p:spTree>
    <p:extLst>
      <p:ext uri="{BB962C8B-B14F-4D97-AF65-F5344CB8AC3E}">
        <p14:creationId xmlns:p14="http://schemas.microsoft.com/office/powerpoint/2010/main" val="171058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16FB6-8C11-413E-1391-10A1F744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D8AF3-1980-8607-621C-B17110F7FCFC}"/>
              </a:ext>
            </a:extLst>
          </p:cNvPr>
          <p:cNvSpPr txBox="1"/>
          <p:nvPr/>
        </p:nvSpPr>
        <p:spPr>
          <a:xfrm>
            <a:off x="457201" y="274321"/>
            <a:ext cx="10395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Common Event-Driven Architecture Patterns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2A0BF-69C7-2954-3DE3-C3D778770480}"/>
              </a:ext>
            </a:extLst>
          </p:cNvPr>
          <p:cNvSpPr txBox="1"/>
          <p:nvPr/>
        </p:nvSpPr>
        <p:spPr>
          <a:xfrm>
            <a:off x="535790" y="1099456"/>
            <a:ext cx="503769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 1. Pub/Sub (Publish-Subscribe) Pattern: </a:t>
            </a:r>
            <a:r>
              <a:rPr lang="en-US" sz="1600" b="1" dirty="0"/>
              <a:t>Notify multiple services of an event.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US" sz="1600" dirty="0"/>
              <a:t>Publisher -&gt; Topic/Event Bus -&gt; Multiple Subscribers</a:t>
            </a:r>
            <a:endParaRPr lang="en-IN" sz="1600" dirty="0"/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Characteristics: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One-to-many communication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Publishers don't know subscribers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All subscribers receive all messages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Real-time delivery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Example: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dirty="0"/>
              <a:t>Order Service (Producer) publishes “</a:t>
            </a:r>
            <a:r>
              <a:rPr lang="en-IN" sz="1600" b="1" dirty="0" err="1"/>
              <a:t>OrderPlaced</a:t>
            </a:r>
            <a:r>
              <a:rPr lang="en-IN" sz="1600" b="1" dirty="0"/>
              <a:t>”</a:t>
            </a:r>
            <a:r>
              <a:rPr lang="en-IN" sz="1600" dirty="0"/>
              <a:t> event &amp; subscribers receives it and work as per their business </a:t>
            </a:r>
            <a:r>
              <a:rPr lang="en-IN" sz="1600" dirty="0" err="1"/>
              <a:t>req</a:t>
            </a:r>
            <a:r>
              <a:rPr lang="en-IN" sz="1600" dirty="0"/>
              <a:t>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Inventory Service (updates stock)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Email Service (sends confirmation)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Analytics Service (tracks metrics)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Shipping Service (creates label)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38611-226E-7793-F63F-CA2BB5B8CD51}"/>
              </a:ext>
            </a:extLst>
          </p:cNvPr>
          <p:cNvSpPr txBox="1"/>
          <p:nvPr/>
        </p:nvSpPr>
        <p:spPr>
          <a:xfrm>
            <a:off x="6411686" y="1099456"/>
            <a:ext cx="4876800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2. Fan-Out Pattern: </a:t>
            </a:r>
            <a:r>
              <a:rPr lang="en-US" sz="1600" b="1" dirty="0"/>
              <a:t>Execute multiple parallel processing tasks from one event.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dirty="0"/>
              <a:t>Single Event -&gt; Multiple Parallel Processors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Characteristics</a:t>
            </a:r>
            <a:r>
              <a:rPr lang="en-IN" sz="1600" dirty="0"/>
              <a:t>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Parallel processing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Independent consumers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Each consumer has own queue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No blocking</a:t>
            </a:r>
            <a:br>
              <a:rPr lang="en-IN" sz="1600" dirty="0"/>
            </a:b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Example: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Image Upload Event triggers following processing in parallel: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Thumbnail Generator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Metadata Extractor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Virus Scanner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ML Image Classifier</a:t>
            </a:r>
          </a:p>
        </p:txBody>
      </p:sp>
    </p:spTree>
    <p:extLst>
      <p:ext uri="{BB962C8B-B14F-4D97-AF65-F5344CB8AC3E}">
        <p14:creationId xmlns:p14="http://schemas.microsoft.com/office/powerpoint/2010/main" val="4035669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33AE2-F6CB-9012-C9F4-E517FDCC5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FAA5B-4EEA-B082-D3AC-1C6C97C3FC45}"/>
              </a:ext>
            </a:extLst>
          </p:cNvPr>
          <p:cNvSpPr txBox="1"/>
          <p:nvPr/>
        </p:nvSpPr>
        <p:spPr>
          <a:xfrm>
            <a:off x="457201" y="274321"/>
            <a:ext cx="9786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EDA Reference Architectures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5F385-6290-D7E3-744E-D570A50831B4}"/>
              </a:ext>
            </a:extLst>
          </p:cNvPr>
          <p:cNvSpPr txBox="1"/>
          <p:nvPr/>
        </p:nvSpPr>
        <p:spPr>
          <a:xfrm>
            <a:off x="555171" y="1305342"/>
            <a:ext cx="52033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1) Central Event Bus Architecture (</a:t>
            </a:r>
            <a:r>
              <a:rPr lang="en-IN" sz="1600" b="1" dirty="0" err="1"/>
              <a:t>EventBridge</a:t>
            </a:r>
            <a:r>
              <a:rPr lang="en-IN" sz="1600" b="1" dirty="0"/>
              <a:t>)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Flow:</a:t>
            </a:r>
            <a:br>
              <a:rPr lang="en-IN" sz="1600" dirty="0"/>
            </a:br>
            <a:r>
              <a:rPr lang="en-IN" sz="1600" dirty="0"/>
              <a:t>Producers -&gt; </a:t>
            </a:r>
            <a:r>
              <a:rPr lang="en-IN" sz="1600" b="1" dirty="0" err="1"/>
              <a:t>EventBridge</a:t>
            </a:r>
            <a:r>
              <a:rPr lang="en-IN" sz="1600" b="1" dirty="0"/>
              <a:t> Bus</a:t>
            </a:r>
            <a:r>
              <a:rPr lang="en-IN" sz="1600" dirty="0"/>
              <a:t> -&gt; Rules / Filtering -&gt; Consumers (Lambda, Step Functions, SQS, API Destinations, etc.)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Characteristics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Centralized event routing and governance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Supports event filtering, transformation, schema registry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Loose coupling between producers and consumers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Native integration with most AWS services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Enables multi-account event ingestion using </a:t>
            </a:r>
            <a:r>
              <a:rPr lang="en-IN" sz="1600" dirty="0" err="1"/>
              <a:t>EventBridge</a:t>
            </a:r>
            <a:r>
              <a:rPr lang="en-IN" sz="1600" dirty="0"/>
              <a:t> Bus policies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Ideal for large-scale enterprise event-driven 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99FAD-D083-3C71-B9DD-09514091DE25}"/>
              </a:ext>
            </a:extLst>
          </p:cNvPr>
          <p:cNvSpPr txBox="1"/>
          <p:nvPr/>
        </p:nvSpPr>
        <p:spPr>
          <a:xfrm>
            <a:off x="6291943" y="1305342"/>
            <a:ext cx="555715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2) SNS -&gt; SQS Fan-Out Pattern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Flow:</a:t>
            </a:r>
            <a:br>
              <a:rPr lang="en-IN" sz="1600" dirty="0"/>
            </a:br>
            <a:r>
              <a:rPr lang="en-IN" sz="1600" dirty="0"/>
              <a:t>SNS Topic -&gt; </a:t>
            </a:r>
            <a:r>
              <a:rPr lang="en-IN" sz="1600" b="1" dirty="0"/>
              <a:t>Multiple SQS Queues</a:t>
            </a:r>
            <a:r>
              <a:rPr lang="en-IN" sz="1600" dirty="0"/>
              <a:t> -&gt; Multiple Consumers (Lambda / ECS / EKS)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Characteristics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Classic fan-out pattern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High throughput and simple to implement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Reliable delivery with SQS decoupling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Each consumer gets its own copy of the event (guaranteed isolation)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Supports retries, buffering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Ideal for parallel processing, broadcast notifications, async workloads</a:t>
            </a:r>
          </a:p>
        </p:txBody>
      </p:sp>
    </p:spTree>
    <p:extLst>
      <p:ext uri="{BB962C8B-B14F-4D97-AF65-F5344CB8AC3E}">
        <p14:creationId xmlns:p14="http://schemas.microsoft.com/office/powerpoint/2010/main" val="734958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A570A-0AAD-54DB-66B2-BE77D3FA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F7AC7E-D7C7-4FBA-D4A5-CC31B194B8DE}"/>
              </a:ext>
            </a:extLst>
          </p:cNvPr>
          <p:cNvSpPr txBox="1"/>
          <p:nvPr/>
        </p:nvSpPr>
        <p:spPr>
          <a:xfrm>
            <a:off x="457201" y="274321"/>
            <a:ext cx="9786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Cont..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2C916-CF1C-FBD7-4811-5B4A68839EAE}"/>
              </a:ext>
            </a:extLst>
          </p:cNvPr>
          <p:cNvSpPr txBox="1"/>
          <p:nvPr/>
        </p:nvSpPr>
        <p:spPr>
          <a:xfrm>
            <a:off x="555171" y="1305342"/>
            <a:ext cx="5203372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3) </a:t>
            </a:r>
            <a:r>
              <a:rPr lang="en-US" sz="1600" b="1" dirty="0"/>
              <a:t>Pub/Sub Pattern with SNS (Notification Pattern)</a:t>
            </a:r>
            <a:endParaRPr lang="en-IN" sz="1600" b="1" dirty="0"/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Flow:</a:t>
            </a:r>
            <a:br>
              <a:rPr lang="en-IN" sz="1600" dirty="0"/>
            </a:br>
            <a:r>
              <a:rPr lang="en-IN" sz="1600" dirty="0"/>
              <a:t>Producer (Lambda Order Service) -&gt; publishes "</a:t>
            </a:r>
            <a:r>
              <a:rPr lang="en-IN" sz="1600" dirty="0" err="1"/>
              <a:t>OrderPlaced</a:t>
            </a:r>
            <a:r>
              <a:rPr lang="en-IN" sz="1600" dirty="0"/>
              <a:t>“ event to SNS Topic -&gt; All subscribers (Inventory Service Lambda, Email Service Lambda, Analytics Service Lambda) receives the event</a:t>
            </a: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Characteristics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Broadcast that something happened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Services need the same message but with different logic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Real-time processing is acceptable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59671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36D6-65DE-7793-3270-BE0CE3D6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C38FF3-8066-6023-FA36-B021542126E2}"/>
              </a:ext>
            </a:extLst>
          </p:cNvPr>
          <p:cNvSpPr txBox="1"/>
          <p:nvPr/>
        </p:nvSpPr>
        <p:spPr>
          <a:xfrm>
            <a:off x="859971" y="274321"/>
            <a:ext cx="10450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dirty="0"/>
              <a:t>Knowledge Check - When to Use Each Pattern</a:t>
            </a:r>
            <a:endParaRPr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DBC45F-3F8A-C924-39C1-D71CA7FC7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934330"/>
              </p:ext>
            </p:extLst>
          </p:nvPr>
        </p:nvGraphicFramePr>
        <p:xfrm>
          <a:off x="1139371" y="1557865"/>
          <a:ext cx="10450283" cy="447115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38575">
                  <a:extLst>
                    <a:ext uri="{9D8B030D-6E8A-4147-A177-3AD203B41FA5}">
                      <a16:colId xmlns:a16="http://schemas.microsoft.com/office/drawing/2014/main" val="1733487124"/>
                    </a:ext>
                  </a:extLst>
                </a:gridCol>
                <a:gridCol w="2341174">
                  <a:extLst>
                    <a:ext uri="{9D8B030D-6E8A-4147-A177-3AD203B41FA5}">
                      <a16:colId xmlns:a16="http://schemas.microsoft.com/office/drawing/2014/main" val="3553954310"/>
                    </a:ext>
                  </a:extLst>
                </a:gridCol>
                <a:gridCol w="2885267">
                  <a:extLst>
                    <a:ext uri="{9D8B030D-6E8A-4147-A177-3AD203B41FA5}">
                      <a16:colId xmlns:a16="http://schemas.microsoft.com/office/drawing/2014/main" val="2143963288"/>
                    </a:ext>
                  </a:extLst>
                </a:gridCol>
                <a:gridCol w="2885267">
                  <a:extLst>
                    <a:ext uri="{9D8B030D-6E8A-4147-A177-3AD203B41FA5}">
                      <a16:colId xmlns:a16="http://schemas.microsoft.com/office/drawing/2014/main" val="3204419562"/>
                    </a:ext>
                  </a:extLst>
                </a:gridCol>
              </a:tblGrid>
              <a:tr h="455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lt1"/>
                          </a:solidFill>
                          <a:effectLst/>
                        </a:rPr>
                        <a:t>Requirement</a:t>
                      </a:r>
                      <a:endParaRPr lang="en-IN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lt1"/>
                          </a:solidFill>
                          <a:effectLst/>
                        </a:rPr>
                        <a:t>API (Sync)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lt1"/>
                          </a:solidFill>
                          <a:effectLst/>
                        </a:rPr>
                        <a:t>Event-Driven (Async)</a:t>
                      </a:r>
                      <a:endParaRPr lang="en-IN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Hybrid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607419"/>
                  </a:ext>
                </a:extLst>
              </a:tr>
              <a:tr h="455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Need immediate response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865411"/>
                  </a:ext>
                </a:extLst>
              </a:tr>
              <a:tr h="455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Long-running process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/>
                        <a:t>(&gt;30s)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Sync ack + async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916823"/>
                  </a:ext>
                </a:extLst>
              </a:tr>
              <a:tr h="455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Multiple consumers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Possible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API + internal events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469830"/>
                  </a:ext>
                </a:extLst>
              </a:tr>
              <a:tr h="455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Simple CRUD 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Overkill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29405"/>
                  </a:ext>
                </a:extLst>
              </a:tr>
              <a:tr h="455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Loose coupling needed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346680"/>
                  </a:ext>
                </a:extLst>
              </a:tr>
              <a:tr h="455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Real-time updates 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WebSocket +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960947"/>
                  </a:ext>
                </a:extLst>
              </a:tr>
              <a:tr h="455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Background processing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938262"/>
                  </a:ext>
                </a:extLst>
              </a:tr>
              <a:tr h="455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DB Transaction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Overkill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979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7917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B804-321A-E601-4688-73AC3C85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C6262-A703-21BB-C5E8-8A0419EB9341}"/>
              </a:ext>
            </a:extLst>
          </p:cNvPr>
          <p:cNvSpPr txBox="1"/>
          <p:nvPr/>
        </p:nvSpPr>
        <p:spPr>
          <a:xfrm>
            <a:off x="859971" y="274321"/>
            <a:ext cx="10450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Synchronous vs Asynchronous Pattern Decision Guide</a:t>
            </a:r>
            <a:endParaRPr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1E1E1E-5CE9-6312-D1D7-3E0F69F37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368600"/>
              </p:ext>
            </p:extLst>
          </p:nvPr>
        </p:nvGraphicFramePr>
        <p:xfrm>
          <a:off x="859971" y="1160137"/>
          <a:ext cx="10776860" cy="5558937"/>
        </p:xfrm>
        <a:graphic>
          <a:graphicData uri="http://schemas.openxmlformats.org/drawingml/2006/table">
            <a:tbl>
              <a:tblPr firstRow="1" firstCol="1">
                <a:tableStyleId>{69012ECD-51FC-41F1-AA8D-1B2483CD663E}</a:tableStyleId>
              </a:tblPr>
              <a:tblGrid>
                <a:gridCol w="2754086">
                  <a:extLst>
                    <a:ext uri="{9D8B030D-6E8A-4147-A177-3AD203B41FA5}">
                      <a16:colId xmlns:a16="http://schemas.microsoft.com/office/drawing/2014/main" val="274997008"/>
                    </a:ext>
                  </a:extLst>
                </a:gridCol>
                <a:gridCol w="2373086">
                  <a:extLst>
                    <a:ext uri="{9D8B030D-6E8A-4147-A177-3AD203B41FA5}">
                      <a16:colId xmlns:a16="http://schemas.microsoft.com/office/drawing/2014/main" val="1815313822"/>
                    </a:ext>
                  </a:extLst>
                </a:gridCol>
                <a:gridCol w="2275114">
                  <a:extLst>
                    <a:ext uri="{9D8B030D-6E8A-4147-A177-3AD203B41FA5}">
                      <a16:colId xmlns:a16="http://schemas.microsoft.com/office/drawing/2014/main" val="199482192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475171084"/>
                    </a:ext>
                  </a:extLst>
                </a:gridCol>
                <a:gridCol w="1393374">
                  <a:extLst>
                    <a:ext uri="{9D8B030D-6E8A-4147-A177-3AD203B41FA5}">
                      <a16:colId xmlns:a16="http://schemas.microsoft.com/office/drawing/2014/main" val="844854849"/>
                    </a:ext>
                  </a:extLst>
                </a:gridCol>
              </a:tblGrid>
              <a:tr h="414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Scenario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Synchronous (API/Request-Response)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Asynchronous (Event-Driven)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Hybrid (Best Practice)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Recommended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204945286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User needs immediate result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 Return data directly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Can't wait for result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987125546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Quick operation (&lt;3 sec)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Simple, direct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Unnecessary complexity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636946752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Medium operation (3-30 sec)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User waits (bad UX)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✅ Return job ID, process later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Ack + async process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Hybrid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079075459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Long operation (&gt;30 sec)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Timeout issues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Background processing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Job ID + status polling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Hybrid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253150554"/>
                  </a:ext>
                </a:extLst>
              </a:tr>
              <a:tr h="414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Simple CRUD (Create/Read/Update/Delete)</a:t>
                      </a:r>
                      <a:endParaRPr lang="en-US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User needs confirmation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Overkill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345159393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Multiple systems need same data</a:t>
                      </a:r>
                      <a:endParaRPr lang="en-US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Must call each system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Publish once, N subscribers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API + publish event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Async</a:t>
                      </a:r>
                      <a:r>
                        <a:rPr lang="en-IN" sz="1200" dirty="0"/>
                        <a:t> or </a:t>
                      </a:r>
                      <a:r>
                        <a:rPr lang="en-IN" sz="1200" b="1" dirty="0"/>
                        <a:t>Hybrid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706167501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Loose coupling required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Caller knows callee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Decoupled via events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119373620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Tight coupling acceptable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Direct call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Unnecessary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705248568"/>
                  </a:ext>
                </a:extLst>
              </a:tr>
              <a:tr h="34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Order/sequence matters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✅ Step 1 → Step 2 → Step 3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 Event ordering (SQS FIFO)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Sync orchestration + async steps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Any</a:t>
                      </a:r>
                      <a:r>
                        <a:rPr lang="en-IN" sz="1200"/>
                        <a:t> (depends)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425276366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Parallel processing needed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Sequential only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Fan-out pattern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Trigger parallel async tasks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07597054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User needs real-time updates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Polling (inefficient)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Push via WebSocket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WebSocket + async events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Hybrid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689052319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Background job (user doesn't wait)</a:t>
                      </a:r>
                      <a:endParaRPr lang="en-US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Wrong pattern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Perfect fit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272864154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Retry needed on failure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Client must retry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Queue handles retries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Best of both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904245731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Transaction (single database)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ACID transaction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Overkill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59285474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Predictable, steady load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Simple, direct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Added complexity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Sync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791949372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Cost optimization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Must handle all traffic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Process at own pace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Buffer with queue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1547006"/>
                  </a:ext>
                </a:extLst>
              </a:tr>
              <a:tr h="24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Guaranteed delivery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Network issues lose data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Persisted in queue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503788360"/>
                  </a:ext>
                </a:extLst>
              </a:tr>
              <a:tr h="34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Immediate consistency required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✅ See result immediately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❌ Eventually consistent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Sync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980846296"/>
                  </a:ext>
                </a:extLst>
              </a:tr>
              <a:tr h="34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Eventual consistency acceptable</a:t>
                      </a:r>
                      <a:endParaRPr lang="en-IN" sz="12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⚠️ Unnecessary wait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Process when ready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Async</a:t>
                      </a:r>
                      <a:endParaRPr lang="en-IN" sz="1200" dirty="0"/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300529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603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B48EA-D8CD-C3BA-3F5C-91203A2B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0C0B8-5A41-320E-B4F6-F53684024BFB}"/>
              </a:ext>
            </a:extLst>
          </p:cNvPr>
          <p:cNvSpPr txBox="1"/>
          <p:nvPr/>
        </p:nvSpPr>
        <p:spPr>
          <a:xfrm>
            <a:off x="859971" y="274321"/>
            <a:ext cx="6994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Anti-Patterns to Avoid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9BE61-B132-D611-DFED-A20E48061F01}"/>
              </a:ext>
            </a:extLst>
          </p:cNvPr>
          <p:cNvSpPr txBox="1"/>
          <p:nvPr/>
        </p:nvSpPr>
        <p:spPr>
          <a:xfrm>
            <a:off x="936172" y="1098229"/>
            <a:ext cx="8512627" cy="5224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Using events for everything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Simple queries don't need events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Adds unnecessary complexity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Harder to debug</a:t>
            </a:r>
          </a:p>
          <a:p>
            <a:pPr>
              <a:lnSpc>
                <a:spcPct val="150000"/>
              </a:lnSpc>
            </a:pPr>
            <a:br>
              <a:rPr lang="en-IN" sz="1600" dirty="0"/>
            </a:br>
            <a:r>
              <a:rPr lang="en-IN" sz="1600" b="1" dirty="0"/>
              <a:t>Using synchronous APIs for long processes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Timeouts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Poor user experience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Resource waste</a:t>
            </a:r>
          </a:p>
          <a:p>
            <a:pPr>
              <a:lnSpc>
                <a:spcPct val="150000"/>
              </a:lnSpc>
            </a:pPr>
            <a:br>
              <a:rPr lang="en-IN" sz="1600" dirty="0"/>
            </a:br>
            <a:r>
              <a:rPr lang="en-IN" sz="1600" b="1" dirty="0"/>
              <a:t>Mixing patterns without clear boundaries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Confusing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Hard to maintain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Debugging nightmare</a:t>
            </a:r>
          </a:p>
        </p:txBody>
      </p:sp>
    </p:spTree>
    <p:extLst>
      <p:ext uri="{BB962C8B-B14F-4D97-AF65-F5344CB8AC3E}">
        <p14:creationId xmlns:p14="http://schemas.microsoft.com/office/powerpoint/2010/main" val="3673385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710D2-43C1-5562-41F2-12F28454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792B3F-DE23-A3C7-4A5F-49C2C944DA50}"/>
              </a:ext>
            </a:extLst>
          </p:cNvPr>
          <p:cNvSpPr txBox="1"/>
          <p:nvPr/>
        </p:nvSpPr>
        <p:spPr>
          <a:xfrm>
            <a:off x="859971" y="274321"/>
            <a:ext cx="10689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 - Suggest Possible Architecture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B69FC-478C-7E96-11A9-9E98C4590DB4}"/>
              </a:ext>
            </a:extLst>
          </p:cNvPr>
          <p:cNvSpPr txBox="1"/>
          <p:nvPr/>
        </p:nvSpPr>
        <p:spPr>
          <a:xfrm>
            <a:off x="859971" y="1740487"/>
            <a:ext cx="3603171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Hybrid Order Workflow</a:t>
            </a:r>
          </a:p>
          <a:p>
            <a:pPr marL="342900" indent="-342900">
              <a:buAutoNum type="arabicParenR"/>
            </a:pPr>
            <a:endParaRPr lang="en-IN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User places order (API synchronous) -&gt; Return order confirmation immediately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IN" sz="1600" dirty="0"/>
              <a:t>Microservices in EKS / ECS 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IN" sz="1600" dirty="0"/>
              <a:t>Order placed event from order MS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en-IN" sz="1600" dirty="0"/>
              <a:t>Either SQS / SNS captures the event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Order placed event emitted (Event-driven)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Inventory service updates stock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Payment service processes payment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Shipping service creates label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Email service sends confirmation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E3AFE-7200-6147-90B9-C24C3BB9C993}"/>
              </a:ext>
            </a:extLst>
          </p:cNvPr>
          <p:cNvSpPr txBox="1"/>
          <p:nvPr/>
        </p:nvSpPr>
        <p:spPr>
          <a:xfrm>
            <a:off x="4789713" y="1692310"/>
            <a:ext cx="343988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Event-Driven Workflow</a:t>
            </a:r>
            <a:br>
              <a:rPr lang="en-IN" sz="1600" dirty="0"/>
            </a:br>
            <a:endParaRPr lang="en-IN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User creates post -&gt; Event: "</a:t>
            </a:r>
            <a:r>
              <a:rPr lang="en-IN" sz="1600" dirty="0" err="1"/>
              <a:t>PostCreated</a:t>
            </a:r>
            <a:r>
              <a:rPr lang="en-IN" sz="1600" dirty="0"/>
              <a:t>"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Multiple consumers react: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Feed service updates followers' feeds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Notification service alerts mentioned users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Moderation service scans content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Search service indexes post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E3AA1-104D-6B50-97B1-7115B3C04448}"/>
              </a:ext>
            </a:extLst>
          </p:cNvPr>
          <p:cNvSpPr txBox="1"/>
          <p:nvPr/>
        </p:nvSpPr>
        <p:spPr>
          <a:xfrm>
            <a:off x="8632372" y="1692310"/>
            <a:ext cx="269965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API Workflow</a:t>
            </a:r>
            <a:br>
              <a:rPr lang="en-IN" sz="1600" dirty="0"/>
            </a:br>
            <a:endParaRPr lang="en-IN" sz="16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User requests profile data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API returns data immediately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No background processing needed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600" dirty="0"/>
              <a:t>Simple, fast, predictable</a:t>
            </a:r>
          </a:p>
        </p:txBody>
      </p:sp>
    </p:spTree>
    <p:extLst>
      <p:ext uri="{BB962C8B-B14F-4D97-AF65-F5344CB8AC3E}">
        <p14:creationId xmlns:p14="http://schemas.microsoft.com/office/powerpoint/2010/main" val="859054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3C956-B182-5B20-5CA3-3F12A3A53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BFD7E-4179-E62E-FCAF-F317115F6964}"/>
              </a:ext>
            </a:extLst>
          </p:cNvPr>
          <p:cNvSpPr txBox="1"/>
          <p:nvPr/>
        </p:nvSpPr>
        <p:spPr>
          <a:xfrm>
            <a:off x="859971" y="274321"/>
            <a:ext cx="9900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Sample Solution: Hybrid Order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ED8D3-CC2D-99D9-E5F1-3CF72113EBD5}"/>
              </a:ext>
            </a:extLst>
          </p:cNvPr>
          <p:cNvSpPr txBox="1"/>
          <p:nvPr/>
        </p:nvSpPr>
        <p:spPr>
          <a:xfrm>
            <a:off x="764524" y="1383870"/>
            <a:ext cx="5159828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A: Serverless hybrid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Flow 1 - Synchronous (Immediate Order Confirmation):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Client -&gt; API Gateway -&gt; Lambda (validate + persist order)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Lambda writes to DynamoDB/RDS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Lambda Returns confirmation to user 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Flow 2 - Asynchronous (Background Processing):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Lambda publishes </a:t>
            </a:r>
            <a:r>
              <a:rPr lang="en-US" sz="1400" dirty="0" err="1"/>
              <a:t>OrderPlaced</a:t>
            </a:r>
            <a:r>
              <a:rPr lang="en-US" sz="1400" dirty="0"/>
              <a:t> event to SNS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SNS fans out the event to multiple SQS queues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Each SQS queue triggers its own Lambda consumer: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SQS Queue: Inventory -&gt; Inventory Lambda (reserve stock)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SQS Queue: Payment -&gt; Payment Lambda (process payment)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SQS Queue: Shipping -&gt; Shipping Lambda (create label)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Email Notifications -&gt; SNS Email (direct push)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Each SQS queue has its own Lambda -&gt; enabling independent scaling and retries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SNS Email push is supported</a:t>
            </a:r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51A99-17EF-D0BE-3694-243A584129D0}"/>
              </a:ext>
            </a:extLst>
          </p:cNvPr>
          <p:cNvSpPr txBox="1"/>
          <p:nvPr/>
        </p:nvSpPr>
        <p:spPr>
          <a:xfrm>
            <a:off x="6401465" y="1383870"/>
            <a:ext cx="4855027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B: Container-based hybrid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Flow 1- Synchronous: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Client -&gt; ALB -&gt; EKS orders service -&gt; 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ALB routes requests to the orders service running on EKS.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Orders service validates and persists the order in RDS, then returns confirmation immediately.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Flow 2 – Asynchronous: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EKS Orders Service -&gt; put </a:t>
            </a:r>
            <a:r>
              <a:rPr lang="en-US" sz="1400" dirty="0" err="1"/>
              <a:t>OrderPlaced</a:t>
            </a:r>
            <a:r>
              <a:rPr lang="en-US" sz="1400" dirty="0"/>
              <a:t> event -&gt; </a:t>
            </a:r>
            <a:r>
              <a:rPr lang="en-US" sz="1400" dirty="0" err="1"/>
              <a:t>EventBridge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EventBridge</a:t>
            </a:r>
            <a:r>
              <a:rPr lang="en-US" sz="1400" dirty="0"/>
              <a:t> rules -&gt; SQS (Inventory) / SQS (Payment) / SQS (Shipping)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Each SQS -&gt; Worker pods on EKS consume and process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Optional: </a:t>
            </a:r>
            <a:r>
              <a:rPr lang="en-US" sz="1400" dirty="0" err="1"/>
              <a:t>EventBridge</a:t>
            </a:r>
            <a:r>
              <a:rPr lang="en-US" sz="1400" dirty="0"/>
              <a:t> -&gt; Lambda for Email or Analytics target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819019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A9BC-59C2-6140-5848-CA824215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E4AD8C-309D-785A-3AD8-33E34F481E3F}"/>
              </a:ext>
            </a:extLst>
          </p:cNvPr>
          <p:cNvSpPr txBox="1"/>
          <p:nvPr/>
        </p:nvSpPr>
        <p:spPr>
          <a:xfrm>
            <a:off x="859971" y="274321"/>
            <a:ext cx="9900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Sample Solution: Event Driven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2296-049A-8B1E-50CF-B245780A20A6}"/>
              </a:ext>
            </a:extLst>
          </p:cNvPr>
          <p:cNvSpPr txBox="1"/>
          <p:nvPr/>
        </p:nvSpPr>
        <p:spPr>
          <a:xfrm>
            <a:off x="764524" y="1383870"/>
            <a:ext cx="5159828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A: </a:t>
            </a:r>
            <a:r>
              <a:rPr lang="en-IN" sz="1600" b="1" dirty="0" err="1"/>
              <a:t>EventBridge</a:t>
            </a:r>
            <a:r>
              <a:rPr lang="en-IN" sz="1600" b="1" dirty="0"/>
              <a:t> Centric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Flow:</a:t>
            </a:r>
            <a:endParaRPr lang="en-IN" sz="1400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Client -&gt; API Gateway -&gt; Lambda (create post record in DB) -&gt; publish </a:t>
            </a:r>
            <a:r>
              <a:rPr lang="en-IN" sz="1400" dirty="0" err="1"/>
              <a:t>PostCreated</a:t>
            </a:r>
            <a:r>
              <a:rPr lang="en-IN" sz="1400" dirty="0"/>
              <a:t> to </a:t>
            </a:r>
            <a:r>
              <a:rPr lang="en-IN" sz="1400" dirty="0" err="1"/>
              <a:t>EventBridge</a:t>
            </a:r>
            <a:endParaRPr lang="en-IN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 err="1"/>
              <a:t>EventBridge</a:t>
            </a:r>
            <a:r>
              <a:rPr lang="en-IN" sz="1400" dirty="0"/>
              <a:t> rules -&gt; targets: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-&gt; Lambda Feed Service (updates followers feeds)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-&gt; Lambda Notification Service (push)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-&gt; Lambda Moderation Service (content scan)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Event: Lambda emits a </a:t>
            </a:r>
            <a:r>
              <a:rPr lang="en-US" sz="1400" b="1" dirty="0" err="1"/>
              <a:t>PostCreated</a:t>
            </a:r>
            <a:r>
              <a:rPr lang="en-US" sz="1400" dirty="0"/>
              <a:t> event to </a:t>
            </a:r>
            <a:r>
              <a:rPr lang="en-US" sz="1400" b="1" dirty="0" err="1"/>
              <a:t>EventBridge</a:t>
            </a:r>
            <a:r>
              <a:rPr lang="en-US" sz="1400" dirty="0"/>
              <a:t> with detail containing </a:t>
            </a:r>
            <a:r>
              <a:rPr lang="en-US" sz="1400" dirty="0" err="1"/>
              <a:t>postId</a:t>
            </a:r>
            <a:r>
              <a:rPr lang="en-US" sz="1400" dirty="0"/>
              <a:t>, </a:t>
            </a:r>
            <a:r>
              <a:rPr lang="en-US" sz="1400" dirty="0" err="1"/>
              <a:t>authorId</a:t>
            </a:r>
            <a:r>
              <a:rPr lang="en-US" sz="1400" dirty="0"/>
              <a:t>, content, mentions, tags, </a:t>
            </a:r>
            <a:r>
              <a:rPr lang="en-US" sz="1400" dirty="0" err="1"/>
              <a:t>createdAt</a:t>
            </a:r>
            <a:r>
              <a:rPr lang="en-US" sz="1400" dirty="0"/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EventBridge</a:t>
            </a:r>
            <a:r>
              <a:rPr lang="en-US" sz="1400" dirty="0"/>
              <a:t> rules evaluate the event payload (source, detail-type, detail fields) and route to multiple targets.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Multiple Lambda targets for Feed, Notification, Moderation: immediate processing.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E6667-4CAE-7E69-B1EC-A63BC6B4F189}"/>
              </a:ext>
            </a:extLst>
          </p:cNvPr>
          <p:cNvSpPr txBox="1"/>
          <p:nvPr/>
        </p:nvSpPr>
        <p:spPr>
          <a:xfrm>
            <a:off x="6401465" y="1383870"/>
            <a:ext cx="485502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Option B: SNS to SQS fan-out</a:t>
            </a:r>
            <a:endParaRPr lang="en-IN" sz="1600" b="1" dirty="0"/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Flow: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 err="1"/>
              <a:t>PostCreated</a:t>
            </a:r>
            <a:r>
              <a:rPr lang="en-IN" sz="1400" dirty="0"/>
              <a:t> -&gt; SNS Topic -&gt; multiple SQS queues -&gt; separate Lambda / ECS workers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  -&gt; SQS </a:t>
            </a:r>
            <a:r>
              <a:rPr lang="en-IN" sz="1400" dirty="0" err="1"/>
              <a:t>FeedQueue</a:t>
            </a:r>
            <a:r>
              <a:rPr lang="en-IN" sz="1400" dirty="0"/>
              <a:t> -&gt; Feed Worker (Lambda/ECS)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  -&gt; SQS </a:t>
            </a:r>
            <a:r>
              <a:rPr lang="en-IN" sz="1400" dirty="0" err="1"/>
              <a:t>NotificationQueue</a:t>
            </a:r>
            <a:r>
              <a:rPr lang="en-IN" sz="1400" dirty="0"/>
              <a:t> -&gt; Notification Worker</a:t>
            </a:r>
          </a:p>
          <a:p>
            <a:pPr lvl="1">
              <a:spcBef>
                <a:spcPts val="600"/>
              </a:spcBef>
            </a:pPr>
            <a:r>
              <a:rPr lang="en-IN" sz="1400" dirty="0"/>
              <a:t>  -&gt; SQS </a:t>
            </a:r>
            <a:r>
              <a:rPr lang="en-IN" sz="1400" dirty="0" err="1"/>
              <a:t>ModerationQueue</a:t>
            </a:r>
            <a:r>
              <a:rPr lang="en-IN" sz="1400" dirty="0"/>
              <a:t> -&gt; Moderation Worker (may run ML)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SNS</a:t>
            </a:r>
            <a:r>
              <a:rPr lang="en-US" sz="1400" dirty="0"/>
              <a:t> receives the </a:t>
            </a:r>
            <a:r>
              <a:rPr lang="en-US" sz="1400" b="1" dirty="0" err="1"/>
              <a:t>PostCreated</a:t>
            </a:r>
            <a:r>
              <a:rPr lang="en-US" sz="1400" dirty="0"/>
              <a:t> publish call and </a:t>
            </a:r>
            <a:r>
              <a:rPr lang="en-US" sz="1400" b="1" dirty="0"/>
              <a:t>fans out </a:t>
            </a:r>
            <a:r>
              <a:rPr lang="en-US" sz="1400" dirty="0"/>
              <a:t>copies to each subscribed </a:t>
            </a:r>
            <a:r>
              <a:rPr lang="en-US" sz="1400" b="1" dirty="0"/>
              <a:t>SQS queue</a:t>
            </a:r>
            <a:r>
              <a:rPr lang="en-US" sz="1400" dirty="0"/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Each SQS queue provides durable buffering, retries, DLQs, visibility timeout configuration, and independent scaling.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Workers poll SQS and process messages; failures are retried automatically until </a:t>
            </a:r>
            <a:r>
              <a:rPr lang="en-US" sz="1400" dirty="0" err="1"/>
              <a:t>maxReceiveCount</a:t>
            </a:r>
            <a:r>
              <a:rPr lang="en-US" sz="1400" dirty="0"/>
              <a:t> then moved to DLQ.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 FIFO SQS with </a:t>
            </a:r>
            <a:r>
              <a:rPr lang="en-US" sz="1400" dirty="0" err="1"/>
              <a:t>MessageGroupId</a:t>
            </a:r>
            <a:r>
              <a:rPr lang="en-US" sz="1400" dirty="0"/>
              <a:t> = </a:t>
            </a:r>
            <a:r>
              <a:rPr lang="en-US" sz="1400" dirty="0" err="1"/>
              <a:t>postId</a:t>
            </a:r>
            <a:r>
              <a:rPr lang="en-US" sz="1400" dirty="0"/>
              <a:t> if ordering per post is required (and throughput fits FIFO limits).</a:t>
            </a:r>
          </a:p>
        </p:txBody>
      </p:sp>
    </p:spTree>
    <p:extLst>
      <p:ext uri="{BB962C8B-B14F-4D97-AF65-F5344CB8AC3E}">
        <p14:creationId xmlns:p14="http://schemas.microsoft.com/office/powerpoint/2010/main" val="550250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00D38-306E-C958-6954-7665F4AC5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5380B0-AB9C-CAC4-9A4E-C36950B8F9BE}"/>
              </a:ext>
            </a:extLst>
          </p:cNvPr>
          <p:cNvSpPr txBox="1"/>
          <p:nvPr/>
        </p:nvSpPr>
        <p:spPr>
          <a:xfrm>
            <a:off x="859971" y="274321"/>
            <a:ext cx="9900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Sample Solution: API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17DAC-3779-5EC4-22B8-99D6777D0242}"/>
              </a:ext>
            </a:extLst>
          </p:cNvPr>
          <p:cNvSpPr txBox="1"/>
          <p:nvPr/>
        </p:nvSpPr>
        <p:spPr>
          <a:xfrm>
            <a:off x="764524" y="1383870"/>
            <a:ext cx="5159828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A: Serverless (</a:t>
            </a:r>
            <a:r>
              <a:rPr lang="en-US" sz="1600" b="1" dirty="0"/>
              <a:t>Recommended for simple/profile reads</a:t>
            </a:r>
            <a:r>
              <a:rPr lang="en-IN" sz="1600" b="1" dirty="0"/>
              <a:t>)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Flow: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Client -&gt; API Gateway -&gt; Lambda -&gt; DynamoDB (read profile) -&gt; Response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API Gateway receives the HTTP request and invokes a small Lambda that reads the profile from DynamoDB and returns it.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Auto-scales end-to-end (API Gateway + Lambda + DynamoDB). Ideal for unpredictable or bursty traffic.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3A8170-5913-B8B2-7C5E-ECF99F188B4B}"/>
              </a:ext>
            </a:extLst>
          </p:cNvPr>
          <p:cNvSpPr txBox="1"/>
          <p:nvPr/>
        </p:nvSpPr>
        <p:spPr>
          <a:xfrm>
            <a:off x="6401465" y="1383870"/>
            <a:ext cx="4855027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Option B: Container-based </a:t>
            </a:r>
            <a:r>
              <a:rPr lang="en-US" sz="1600" b="1" dirty="0"/>
              <a:t>(Recommended for relational/complex queries)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Flow:</a:t>
            </a:r>
            <a:endParaRPr lang="en-IN" sz="1400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Client -&gt; ALB -&gt; EKS/ECS -&gt; RDS -&gt; Response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ALB routes the request to a containerized profile service running in EKS/ECS.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 service queries RDS (Postgres/MySQL) and returns the profile.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Good for complex relational queries, joins, and transactions. Predictable latency when services are warm.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Scale via pod/Task autoscaling and RDS sizing/replicas; better for steady, high-throughput workloads but requires cluster/DB capacity planning.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1187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3797</TotalTime>
  <Words>2256</Words>
  <Application>Microsoft Office PowerPoint</Application>
  <PresentationFormat>Widescreen</PresentationFormat>
  <Paragraphs>437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AWS API &amp; Event Driven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57</cp:revision>
  <dcterms:created xsi:type="dcterms:W3CDTF">2025-11-27T20:35:07Z</dcterms:created>
  <dcterms:modified xsi:type="dcterms:W3CDTF">2025-12-06T22:10:27Z</dcterms:modified>
</cp:coreProperties>
</file>