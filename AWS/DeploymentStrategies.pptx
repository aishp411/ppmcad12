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62" r:id="rId3"/>
    <p:sldId id="322" r:id="rId4"/>
    <p:sldId id="340" r:id="rId5"/>
    <p:sldId id="339" r:id="rId6"/>
    <p:sldId id="264" r:id="rId7"/>
    <p:sldId id="337" r:id="rId8"/>
    <p:sldId id="33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307C2-D910-4122-9388-FE9DC4B9E077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111B5C-0485-4D3A-8470-D55704130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773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458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4A65-1FA7-291B-CE8C-5E6D2048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AFDADB-2DCA-C35F-B7C3-7968810EF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AFEAB-3CEB-BA30-11AC-5EE8D7934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C3666-AA39-F7C0-B759-50412EAB77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0573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9C04A-B84C-5C71-365B-ECE80AA36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C35DC2-628E-C7CC-7993-ACCCCCD97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28E68-5199-608F-3154-D3F72A9EC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B88A6-609D-DC78-9DB9-899EC5E69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161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F87B5-AB3C-6853-3020-8499E51E9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0C760-601E-C01A-83EB-B6F59015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F9CFD-76DF-6EDE-0574-10C8AFFE8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BC349-EC93-3345-E79F-01D534DE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3533E-01D7-E5BF-0584-FFC7CC6F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03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B090-87E1-CCF9-6475-B8847162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9B680-C86A-1B9F-83AD-36EC89E63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04CF-B360-A13E-2209-2F3DA4D4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D3FA-50BB-5ADF-DF76-E02F8907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23D35-A12B-08B7-E41C-40024C9F7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97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A02C4-968D-1AFE-5974-AD015A04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DB0EF-A72D-603A-596F-892520DBA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E268F-0D68-B085-00CD-18E9F845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37CDF-B5F7-857A-E6C5-AB98DF7C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C37E3-A2FC-D19D-1A1C-004D03C1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4774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F4844-A2DB-FC70-F7D9-9EAA0748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AD34C-A81C-6791-BFF7-52891BA9C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06BF7-69DD-D7BF-35E2-3209B44C1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1C55-4FB2-C431-6A44-266A64272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C4614-A653-A51E-8737-80865E97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4FCDBC-251C-83B2-B970-F2BAE4C0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76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0A67-A38A-F132-F66F-8AD9EB830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7CD0A-75F4-92E0-AD22-C46DB2AC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43F6C-3D5D-E867-8F8D-93B1B76C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5A1DA4-6607-1D5D-4C91-C38CD2DD37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CCFBC-5B82-395F-66DB-B91CB8424D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9338F0-E2D5-431E-CF92-079D064AB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E660B8-4C9B-7283-B2BC-4993DC3B2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5BCA5-77A5-F52B-7DF6-DB6A2517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80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BCE92-4D52-DB9D-4183-4CB4FC410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CFFBB-6B8F-595A-11FF-B14CA05B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9E9C03-DF04-FA0F-4F98-F4EAA0B00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A12BEC-790F-BF6E-35D7-E22F1A90E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537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A0185-DC9B-4F35-B193-63B53E81E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8876B6-0581-8C27-94C6-4A70E737C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ED17D-92E7-FF8F-0436-917621026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93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32E36-5D48-6E19-2A80-57AE6ADC4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D5833-2DDA-39DF-1B95-12B60A8F9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93F8A1-3DE6-E79D-F31B-3EB59399D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15CBF-38CB-85CD-88E1-E2483D62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D3BF7-8E2E-76E7-0CDE-172BF6AB1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932BF-5FD9-118C-9422-D177E9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79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FFB4E-3F56-1CCE-7E0A-0F10FFF4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31140-9012-BA27-B2DD-21193138F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E3669-D5B4-D6EE-FD65-1C1499098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86B2D-3478-2904-F778-34B5D9FC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E8670-C314-09D4-8397-F904486CC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F84F0-ED14-9F17-4188-850429CDE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5869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B4A7-2EF5-4A22-DCB3-BDE1BB7C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89C9B-211C-DA9D-ACE2-907197D5C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9D562-5F50-A1E9-A0F3-288E2D26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BC7DB-BC0A-20E2-91FA-5325B8F3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09156-5965-FB52-AF4A-5E7A2D04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FABFD9-D75E-1C78-7078-CF86DDAEB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594D4E-AC9E-415C-FE11-AD708D49F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1B691-C120-7EE8-B061-1E9DF04C2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C1710-EC21-4160-8E3B-32635D81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12294-4701-3F0D-635F-8158E74F3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E275D0-4C49-5220-9340-21B7ACF0E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9D230-D813-A0D2-DE18-887B50D3D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142A6-BE30-D2B9-25F4-383EFB8A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77DFC-8711-4557-8CA1-4C836922276B}" type="datetimeFigureOut">
              <a:rPr lang="en-IN" smtClean="0"/>
              <a:t>07-12-2025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033E5-920A-98B4-A35B-FB316DF00E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C48F-10B5-A34D-9F2B-696595BA3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581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9" name="Google Shape;59;p13"/>
          <p:cNvSpPr txBox="1">
            <a:spLocks noGrp="1"/>
          </p:cNvSpPr>
          <p:nvPr>
            <p:ph type="ctrTitle" idx="4294967295"/>
          </p:nvPr>
        </p:nvSpPr>
        <p:spPr>
          <a:xfrm>
            <a:off x="2188028" y="2068973"/>
            <a:ext cx="8218711" cy="237239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Deployment </a:t>
            </a:r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Strategies</a:t>
            </a:r>
          </a:p>
        </p:txBody>
      </p:sp>
      <p:sp>
        <p:nvSpPr>
          <p:cNvPr id="7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0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1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6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8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Deployment Strategies - Big Picture</a:t>
            </a:r>
            <a:endParaRPr lang="en-US"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854529" y="1384104"/>
            <a:ext cx="10129156" cy="46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Purpose: Release new versions safely with minimal downtime.</a:t>
            </a:r>
          </a:p>
          <a:p>
            <a:pPr>
              <a:lnSpc>
                <a:spcPct val="150000"/>
              </a:lnSpc>
            </a:pPr>
            <a:r>
              <a:rPr lang="en-US" dirty="0"/>
              <a:t>Deployment strategies define </a:t>
            </a:r>
            <a:r>
              <a:rPr lang="en-US" b="1" dirty="0"/>
              <a:t>how new versions of an application are released</a:t>
            </a:r>
            <a:r>
              <a:rPr lang="en-US" dirty="0"/>
              <a:t> without affecting users or by minimizing downtime.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Key impact: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Rollback speed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User experience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Cost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In AWS, these patterns apply across </a:t>
            </a:r>
            <a:r>
              <a:rPr lang="en-US" b="1" dirty="0"/>
              <a:t>EC2, Lambda</a:t>
            </a:r>
            <a:r>
              <a:rPr lang="en-US" dirty="0"/>
              <a:t>, </a:t>
            </a:r>
            <a:r>
              <a:rPr lang="en-US" b="1" dirty="0"/>
              <a:t>ECS/Fargate</a:t>
            </a:r>
            <a:r>
              <a:rPr lang="en-US" dirty="0"/>
              <a:t>, </a:t>
            </a:r>
            <a:r>
              <a:rPr lang="en-US" b="1" dirty="0"/>
              <a:t>EKS</a:t>
            </a:r>
            <a:r>
              <a:rPr lang="en-US" dirty="0"/>
              <a:t> and </a:t>
            </a:r>
            <a:r>
              <a:rPr lang="en-US" b="1" dirty="0"/>
              <a:t>API Gateway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8A3AA-F167-E46B-4064-40796873A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10BFB-421B-9B3D-8F1B-287EFB6CE910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Mutable Deployments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C1910-DB13-D4BF-A923-7AB7AA0730FC}"/>
              </a:ext>
            </a:extLst>
          </p:cNvPr>
          <p:cNvSpPr txBox="1"/>
          <p:nvPr/>
        </p:nvSpPr>
        <p:spPr>
          <a:xfrm>
            <a:off x="609599" y="1102578"/>
            <a:ext cx="601980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</a:t>
            </a:r>
            <a:r>
              <a:rPr lang="en-US" sz="1400" dirty="0"/>
              <a:t> Update existing infrastructure in-place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How it works:</a:t>
            </a: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Modify running applications/containers directly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Apply patches/updates to same instance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Same instance ID remains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Pros: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Fast deployment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Low resource usage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Cons: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Configuration drift over time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Hard to rollback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Inconsistent state across instances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E6B5A-5607-506B-9896-B3ED364F26F8}"/>
              </a:ext>
            </a:extLst>
          </p:cNvPr>
          <p:cNvSpPr txBox="1"/>
          <p:nvPr/>
        </p:nvSpPr>
        <p:spPr>
          <a:xfrm>
            <a:off x="6934199" y="1186542"/>
            <a:ext cx="4539343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Implementation: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SSH into EC2 and update application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CI/CD pipeline updates code on existing instances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Script-based updates on running servers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When to use: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Legacy systems</a:t>
            </a:r>
            <a:r>
              <a:rPr lang="en-US" sz="1400" dirty="0"/>
              <a:t> (this is the old way)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Dev/test environments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Low-risk updates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Note:</a:t>
            </a:r>
            <a:r>
              <a:rPr lang="en-US" sz="1400" dirty="0"/>
              <a:t> While EC2 deployments via CI/CD </a:t>
            </a:r>
            <a:r>
              <a:rPr lang="en-US" sz="1400" b="1" dirty="0"/>
              <a:t>can</a:t>
            </a:r>
            <a:r>
              <a:rPr lang="en-US" sz="1400" dirty="0"/>
              <a:t> be mutable (updating existing instances), this is now considered </a:t>
            </a:r>
            <a:r>
              <a:rPr lang="en-US" sz="1400" b="1" dirty="0"/>
              <a:t>legacy practice</a:t>
            </a:r>
            <a:r>
              <a:rPr lang="en-US" sz="1400" dirty="0"/>
              <a:t> for production. Modern EC2 deployments should use immutable patterns.</a:t>
            </a:r>
          </a:p>
          <a:p>
            <a:pPr>
              <a:spcBef>
                <a:spcPts val="600"/>
              </a:spcBef>
            </a:pP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147212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ACDFA-305B-7ECB-4828-B48FE07A8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74869C-023D-0F34-2524-DABB293EBD4A}"/>
              </a:ext>
            </a:extLst>
          </p:cNvPr>
          <p:cNvSpPr txBox="1"/>
          <p:nvPr/>
        </p:nvSpPr>
        <p:spPr>
          <a:xfrm>
            <a:off x="457201" y="274321"/>
            <a:ext cx="10308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In-Place Deployments</a:t>
            </a:r>
            <a:endParaRPr lang="en-IN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4552FE-DA40-E74F-E4EA-B3BBEEA0A3E1}"/>
              </a:ext>
            </a:extLst>
          </p:cNvPr>
          <p:cNvSpPr txBox="1"/>
          <p:nvPr/>
        </p:nvSpPr>
        <p:spPr>
          <a:xfrm>
            <a:off x="644646" y="1360712"/>
            <a:ext cx="5320724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</a:t>
            </a:r>
            <a:r>
              <a:rPr lang="en-US" sz="1400" dirty="0"/>
              <a:t> Add new version and then Restart application on existing infrastructure without replacing instances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How it works:</a:t>
            </a: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Pull new code/ binary to existing server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Restart application process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Same server continues running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Pros: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Fastest deployment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new resources needed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Minimal infrastructure changes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Cons: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HIGH RISK - difficult rollback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Configuration drift accumulates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Application downtime during restart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All instances affected simultaneously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F91B-A4F9-CFBE-5E31-F35B6D945AFC}"/>
              </a:ext>
            </a:extLst>
          </p:cNvPr>
          <p:cNvSpPr txBox="1"/>
          <p:nvPr/>
        </p:nvSpPr>
        <p:spPr>
          <a:xfrm>
            <a:off x="6096000" y="1295399"/>
            <a:ext cx="5636411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Implementation: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Download new code via git pull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Restart application (</a:t>
            </a:r>
            <a:r>
              <a:rPr lang="en-US" sz="1400" dirty="0" err="1"/>
              <a:t>systemctl</a:t>
            </a:r>
            <a:r>
              <a:rPr lang="en-US" sz="1400" dirty="0"/>
              <a:t> restart app)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Update running containers (docker restart)</a:t>
            </a:r>
          </a:p>
        </p:txBody>
      </p:sp>
    </p:spTree>
    <p:extLst>
      <p:ext uri="{BB962C8B-B14F-4D97-AF65-F5344CB8AC3E}">
        <p14:creationId xmlns:p14="http://schemas.microsoft.com/office/powerpoint/2010/main" val="3474312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EA14F-E077-75FF-A03F-24757D6E5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4E018-9C5B-280E-C970-11A83F6EDD98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Immutable Deployment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5B2EB8-22C6-9BAF-785E-2008163DF9E5}"/>
              </a:ext>
            </a:extLst>
          </p:cNvPr>
          <p:cNvSpPr txBox="1"/>
          <p:nvPr/>
        </p:nvSpPr>
        <p:spPr>
          <a:xfrm>
            <a:off x="609599" y="1102578"/>
            <a:ext cx="6019801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</a:t>
            </a:r>
            <a:r>
              <a:rPr lang="en-US" sz="1400" dirty="0"/>
              <a:t> Replace infrastructure with new version instead of modifying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How it works:</a:t>
            </a:r>
            <a:endParaRPr lang="en-US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Launch new instances/containers with new version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Terminate old ones after validation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Each deployment = fresh infrastructure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New instance IDs created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Pros: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configuration drift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Easy rollback (keep old version)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Guaranteed consistency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b="1" dirty="0"/>
              <a:t>Modern best practice</a:t>
            </a:r>
            <a:endParaRPr lang="en-US" sz="1400" dirty="0"/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Cons: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Slower than mutable (provision new resources)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Temporarily uses 2x resources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0CAD36-7804-7243-E98F-677697E3CF76}"/>
              </a:ext>
            </a:extLst>
          </p:cNvPr>
          <p:cNvSpPr txBox="1"/>
          <p:nvPr/>
        </p:nvSpPr>
        <p:spPr>
          <a:xfrm>
            <a:off x="6629399" y="920652"/>
            <a:ext cx="5388429" cy="5247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200" b="1" dirty="0"/>
              <a:t>Implementations: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b="1" dirty="0"/>
              <a:t>EC2 with AMI (Modern Approach):</a:t>
            </a:r>
            <a:endParaRPr lang="en-US" sz="12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Build new AMI with application v2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Update Auto Scaling Group launch template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ASG gradually replaces instances (instance refresh)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New instances launched, old terminated</a:t>
            </a:r>
          </a:p>
          <a:p>
            <a:pPr>
              <a:spcBef>
                <a:spcPts val="600"/>
              </a:spcBef>
            </a:pPr>
            <a:r>
              <a:rPr lang="en-US" sz="1200" b="1" dirty="0"/>
              <a:t>ECS/EKS:</a:t>
            </a:r>
            <a:endParaRPr lang="en-US" sz="12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Create new task definition (v2) / Deployment with latest image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Deploy new tasks / deployment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Drain and stop old tasks / pods</a:t>
            </a:r>
          </a:p>
          <a:p>
            <a:pPr>
              <a:spcBef>
                <a:spcPts val="600"/>
              </a:spcBef>
            </a:pPr>
            <a:r>
              <a:rPr lang="en-US" sz="1200" b="1" dirty="0"/>
              <a:t>Lambda:</a:t>
            </a:r>
            <a:endParaRPr lang="en-US" sz="12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Publish new version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Update alias to point to new version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Keep old version for rollback</a:t>
            </a:r>
          </a:p>
          <a:p>
            <a:pPr>
              <a:spcBef>
                <a:spcPts val="600"/>
              </a:spcBef>
            </a:pPr>
            <a:endParaRPr lang="en-US" sz="1200" b="1" dirty="0"/>
          </a:p>
          <a:p>
            <a:pPr>
              <a:spcBef>
                <a:spcPts val="600"/>
              </a:spcBef>
            </a:pPr>
            <a:r>
              <a:rPr lang="en-US" sz="1200" b="1" dirty="0"/>
              <a:t>When to use:</a:t>
            </a:r>
            <a:endParaRPr lang="en-US" sz="12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b="1" dirty="0"/>
              <a:t>Production deployments (recommended)</a:t>
            </a:r>
            <a:endParaRPr lang="en-US" sz="12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Containerized apps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Serverless applications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Any modern cloud-native application</a:t>
            </a:r>
          </a:p>
        </p:txBody>
      </p:sp>
    </p:spTree>
    <p:extLst>
      <p:ext uri="{BB962C8B-B14F-4D97-AF65-F5344CB8AC3E}">
        <p14:creationId xmlns:p14="http://schemas.microsoft.com/office/powerpoint/2010/main" val="3432709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1" y="274321"/>
            <a:ext cx="7192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Blue/Green Deployments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1" y="1010705"/>
            <a:ext cx="5320724" cy="527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 </a:t>
            </a:r>
            <a:r>
              <a:rPr lang="en-US" sz="1400" dirty="0"/>
              <a:t>Two identical environments (Blue = current, Green = new)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IN" sz="1400" b="1" dirty="0"/>
              <a:t>How it works:</a:t>
            </a:r>
            <a:endParaRPr lang="en-IN" sz="1400" dirty="0"/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IN" sz="1400" dirty="0"/>
              <a:t>Blue environment serves production traffic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IN" sz="1400" dirty="0"/>
              <a:t>Deploy new version to Green environment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IN" sz="1400" dirty="0"/>
              <a:t>Test Green thoroughly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IN" sz="1400" dirty="0"/>
              <a:t>Switch traffic: Blue -&gt; Green (instant cutover)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IN" sz="1400" dirty="0"/>
              <a:t>Keep Blue for quick rollback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endParaRPr lang="en-IN" sz="1400" dirty="0"/>
          </a:p>
          <a:p>
            <a:pPr>
              <a:spcBef>
                <a:spcPts val="600"/>
              </a:spcBef>
            </a:pPr>
            <a:r>
              <a:rPr lang="en-IN" sz="1400" b="1" dirty="0"/>
              <a:t>Pros:</a:t>
            </a:r>
            <a:endParaRPr lang="en-IN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Zero downtime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Instant rollback (switch back to Blue)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Full testing before cutover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Safe for major changes</a:t>
            </a:r>
          </a:p>
          <a:p>
            <a:pPr>
              <a:spcBef>
                <a:spcPts val="600"/>
              </a:spcBef>
            </a:pPr>
            <a:endParaRPr lang="en-IN" sz="1400" dirty="0"/>
          </a:p>
          <a:p>
            <a:pPr>
              <a:spcBef>
                <a:spcPts val="600"/>
              </a:spcBef>
            </a:pPr>
            <a:r>
              <a:rPr lang="en-IN" sz="1400" b="1" dirty="0"/>
              <a:t>Cons:</a:t>
            </a:r>
            <a:endParaRPr lang="en-IN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2x infrastructure cost during deployment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400" dirty="0"/>
              <a:t>Database migrations need careful handling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C62102-B192-F928-322E-9E6E8FCAFF3C}"/>
              </a:ext>
            </a:extLst>
          </p:cNvPr>
          <p:cNvSpPr txBox="1"/>
          <p:nvPr/>
        </p:nvSpPr>
        <p:spPr>
          <a:xfrm>
            <a:off x="6096000" y="940757"/>
            <a:ext cx="5636411" cy="586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Implementations: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a) ALB with Target Groups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Setup:</a:t>
            </a: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dirty="0"/>
              <a:t>Create Blue Target Group (current instances)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Create Green Target Group (new instances)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ALB listener forwards to one target group at a time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Cutover:</a:t>
            </a: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dirty="0"/>
              <a:t>Modify ALB listener rule to point to Green Target Group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Traffic instantly switches to Green instances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Rollback: Switch listener back to Blue Target Group</a:t>
            </a:r>
          </a:p>
          <a:p>
            <a:pPr>
              <a:spcBef>
                <a:spcPts val="600"/>
              </a:spcBef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IN" sz="1400" b="1" dirty="0"/>
              <a:t>b) EC2 Auto Scaling Groups</a:t>
            </a:r>
          </a:p>
          <a:p>
            <a:pPr>
              <a:spcBef>
                <a:spcPts val="600"/>
              </a:spcBef>
            </a:pPr>
            <a:r>
              <a:rPr lang="en-IN" sz="1400" b="1" dirty="0"/>
              <a:t>Setup:</a:t>
            </a:r>
            <a:endParaRPr lang="en-IN" sz="1400" dirty="0"/>
          </a:p>
          <a:p>
            <a:pPr>
              <a:spcBef>
                <a:spcPts val="600"/>
              </a:spcBef>
            </a:pPr>
            <a:r>
              <a:rPr lang="en-IN" sz="1400" dirty="0"/>
              <a:t>Blue ASG with Launch Template (AMI v1.0)</a:t>
            </a:r>
          </a:p>
          <a:p>
            <a:pPr>
              <a:spcBef>
                <a:spcPts val="600"/>
              </a:spcBef>
            </a:pPr>
            <a:r>
              <a:rPr lang="en-IN" sz="1400" dirty="0"/>
              <a:t>Green ASG with Launch Template (AMI v2.0)</a:t>
            </a:r>
          </a:p>
          <a:p>
            <a:pPr>
              <a:spcBef>
                <a:spcPts val="600"/>
              </a:spcBef>
            </a:pPr>
            <a:r>
              <a:rPr lang="en-IN" sz="1400" dirty="0"/>
              <a:t>Both attached to separate target groups</a:t>
            </a:r>
          </a:p>
          <a:p>
            <a:pPr>
              <a:spcBef>
                <a:spcPts val="600"/>
              </a:spcBef>
            </a:pPr>
            <a:r>
              <a:rPr lang="en-IN" sz="1400" b="1" dirty="0"/>
              <a:t>Cutover:</a:t>
            </a:r>
            <a:endParaRPr lang="en-IN" sz="1400" dirty="0"/>
          </a:p>
          <a:p>
            <a:pPr>
              <a:spcBef>
                <a:spcPts val="600"/>
              </a:spcBef>
            </a:pPr>
            <a:r>
              <a:rPr lang="en-IN" sz="1400" dirty="0"/>
              <a:t>Method 1: Update ALB listener to Green Target Group</a:t>
            </a:r>
          </a:p>
          <a:p>
            <a:pPr>
              <a:spcBef>
                <a:spcPts val="600"/>
              </a:spcBef>
            </a:pPr>
            <a:r>
              <a:rPr lang="en-IN" sz="1400" dirty="0"/>
              <a:t>Method 2: Swap target groups between ASGs</a:t>
            </a:r>
          </a:p>
          <a:p>
            <a:pPr>
              <a:spcBef>
                <a:spcPts val="600"/>
              </a:spcBef>
            </a:pPr>
            <a:r>
              <a:rPr lang="en-IN" sz="1400" dirty="0"/>
              <a:t>Scale down Blue ASG after validation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1B300-19F9-F699-7D1E-658B498F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4FFB69-6FA9-98C7-BC7B-78C6012400BE}"/>
              </a:ext>
            </a:extLst>
          </p:cNvPr>
          <p:cNvSpPr txBox="1"/>
          <p:nvPr/>
        </p:nvSpPr>
        <p:spPr>
          <a:xfrm>
            <a:off x="457201" y="274321"/>
            <a:ext cx="7192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Canary Deployments</a:t>
            </a:r>
            <a:endParaRPr lang="en-IN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9054B-4AFB-F1BA-639B-083FAA5B98E7}"/>
              </a:ext>
            </a:extLst>
          </p:cNvPr>
          <p:cNvSpPr txBox="1"/>
          <p:nvPr/>
        </p:nvSpPr>
        <p:spPr>
          <a:xfrm>
            <a:off x="557561" y="1071801"/>
            <a:ext cx="6627009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 </a:t>
            </a:r>
            <a:r>
              <a:rPr lang="en-US" sz="1400" dirty="0"/>
              <a:t>Release to small % of users -&gt; observe -&gt; gradually increase traffic -&gt; full rollout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Flow:</a:t>
            </a:r>
            <a:r>
              <a:rPr lang="en-US" sz="1400" dirty="0"/>
              <a:t> 5% -&gt; 10% -&gt; 25% -&gt; 50% -&gt; 100% (or rollback if issues detected)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How It Works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Deploy new version alongside old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Route small % of traffic to new version (canary)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Monitor metrics (errors, latency, business KPIs)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If healthy: gradually increase %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sz="1400" dirty="0"/>
              <a:t>If issues: instant rollback (remove canary)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Pros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Early issue detection (limited blast radius)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Real production testing with live traffic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Automated rollback based on metrics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Cons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Old and new versions run simultaneously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Requires robust monitoring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Database must be backward-compatible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90CDF-D0E8-709C-95B0-821FC9A87B12}"/>
              </a:ext>
            </a:extLst>
          </p:cNvPr>
          <p:cNvSpPr txBox="1"/>
          <p:nvPr/>
        </p:nvSpPr>
        <p:spPr>
          <a:xfrm>
            <a:off x="7649741" y="1071801"/>
            <a:ext cx="4128602" cy="5124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400" b="1" dirty="0"/>
              <a:t>Implementations:</a:t>
            </a:r>
          </a:p>
          <a:p>
            <a:pPr>
              <a:spcBef>
                <a:spcPts val="600"/>
              </a:spcBef>
            </a:pPr>
            <a:r>
              <a:rPr lang="en-US" sz="1400" b="1" dirty="0"/>
              <a:t>a.) ALB Weighted Target Groups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Create two target groups: 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Target Group 1 (old version): weight 90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Target Group 2 (new version): weight 10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ALB distributes traffic proportionally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Monitor health checks and application metrics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Adjust weights gradually until 100% on new</a:t>
            </a:r>
          </a:p>
          <a:p>
            <a:pPr>
              <a:spcBef>
                <a:spcPts val="600"/>
              </a:spcBef>
            </a:pPr>
            <a:endParaRPr lang="en-IN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b) Route 53 Weighted Routing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Create two weighted records for same domain: 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Record 1 (old): weight 90 -&gt; points to old environment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Record 2 (new): weight 10 -&gt; points to new environment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DNS returns both based on weight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Adjust weights over time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Delete old record at 100% cutover</a:t>
            </a:r>
          </a:p>
        </p:txBody>
      </p:sp>
    </p:spTree>
    <p:extLst>
      <p:ext uri="{BB962C8B-B14F-4D97-AF65-F5344CB8AC3E}">
        <p14:creationId xmlns:p14="http://schemas.microsoft.com/office/powerpoint/2010/main" val="3340682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1BFD8-E489-44D8-0D7A-261555B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919AC0-2569-F71E-A269-C919AF3A3BDB}"/>
              </a:ext>
            </a:extLst>
          </p:cNvPr>
          <p:cNvSpPr txBox="1"/>
          <p:nvPr/>
        </p:nvSpPr>
        <p:spPr>
          <a:xfrm>
            <a:off x="457201" y="274321"/>
            <a:ext cx="10308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US" sz="3600" b="1" dirty="0"/>
              <a:t>Rolling Deployments</a:t>
            </a:r>
            <a:endParaRPr lang="en-IN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191CC6-D90C-EDC6-0512-04F15DA3C69C}"/>
              </a:ext>
            </a:extLst>
          </p:cNvPr>
          <p:cNvSpPr txBox="1"/>
          <p:nvPr/>
        </p:nvSpPr>
        <p:spPr>
          <a:xfrm>
            <a:off x="644646" y="1360712"/>
            <a:ext cx="5320724" cy="527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Concept:</a:t>
            </a:r>
            <a:r>
              <a:rPr lang="en-US" sz="1400" dirty="0"/>
              <a:t> Gradually replace old instances/containers with new ones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How it works: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Keep minimum healthy capacity (e.g., 75%)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Stop 25% of old instances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Start 25% of new instances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Wait for health checks to pass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Repeat until all replaced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Pros: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downtime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Controlled pace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 extra infrastructure needed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Easy to automate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Cons: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Old and new versions coexist temporarily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Not safe for breaking changes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CBA51C-774D-008B-4A2F-F5330E62258F}"/>
              </a:ext>
            </a:extLst>
          </p:cNvPr>
          <p:cNvSpPr txBox="1"/>
          <p:nvPr/>
        </p:nvSpPr>
        <p:spPr>
          <a:xfrm>
            <a:off x="6096000" y="1295399"/>
            <a:ext cx="5636411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Implementations:</a:t>
            </a:r>
            <a:endParaRPr lang="en-US" sz="1400" dirty="0"/>
          </a:p>
          <a:p>
            <a:pPr>
              <a:spcBef>
                <a:spcPts val="600"/>
              </a:spcBef>
            </a:pPr>
            <a:r>
              <a:rPr lang="en-US" sz="1400" b="1" dirty="0"/>
              <a:t>a) EC2 Auto Scaling Group: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Update Launch Template/Config with new AMI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Trigger instance refresh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ASG terminates old instances gradually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Launches new instances with new AMI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Respects minimum healthy capacity</a:t>
            </a:r>
          </a:p>
          <a:p>
            <a:pPr>
              <a:spcBef>
                <a:spcPts val="600"/>
              </a:spcBef>
            </a:pPr>
            <a:endParaRPr lang="en-US" sz="1400" b="1" dirty="0"/>
          </a:p>
          <a:p>
            <a:pPr>
              <a:spcBef>
                <a:spcPts val="600"/>
              </a:spcBef>
            </a:pPr>
            <a:r>
              <a:rPr lang="en-US" sz="1400" b="1" dirty="0"/>
              <a:t>b) EKS Rolling Update: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Update Deployment manifest with new image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Kubernetes gradually replaces pods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Configure </a:t>
            </a:r>
            <a:r>
              <a:rPr lang="en-US" sz="1400" dirty="0" err="1"/>
              <a:t>maxSurge</a:t>
            </a:r>
            <a:r>
              <a:rPr lang="en-US" sz="1400" dirty="0"/>
              <a:t> and </a:t>
            </a:r>
            <a:r>
              <a:rPr lang="en-US" sz="1400" dirty="0" err="1"/>
              <a:t>maxUnavailable</a:t>
            </a:r>
            <a:endParaRPr lang="en-US" sz="14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Example: Replace 25% at a time</a:t>
            </a:r>
          </a:p>
        </p:txBody>
      </p:sp>
    </p:spTree>
    <p:extLst>
      <p:ext uri="{BB962C8B-B14F-4D97-AF65-F5344CB8AC3E}">
        <p14:creationId xmlns:p14="http://schemas.microsoft.com/office/powerpoint/2010/main" val="2107568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2997</TotalTime>
  <Words>1013</Words>
  <Application>Microsoft Office PowerPoint</Application>
  <PresentationFormat>Widescreen</PresentationFormat>
  <Paragraphs>208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Deployment Strategies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KubeCraft Technologies</dc:creator>
  <cp:lastModifiedBy>KubeCraft Technologies</cp:lastModifiedBy>
  <cp:revision>71</cp:revision>
  <dcterms:created xsi:type="dcterms:W3CDTF">2025-11-27T20:35:07Z</dcterms:created>
  <dcterms:modified xsi:type="dcterms:W3CDTF">2025-12-07T07:20:46Z</dcterms:modified>
</cp:coreProperties>
</file>