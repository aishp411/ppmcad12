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22" r:id="rId3"/>
    <p:sldId id="341" r:id="rId4"/>
    <p:sldId id="340" r:id="rId5"/>
    <p:sldId id="339" r:id="rId6"/>
    <p:sldId id="264" r:id="rId7"/>
    <p:sldId id="342" r:id="rId8"/>
    <p:sldId id="343" r:id="rId9"/>
    <p:sldId id="344" r:id="rId10"/>
    <p:sldId id="345" r:id="rId11"/>
    <p:sldId id="348" r:id="rId12"/>
    <p:sldId id="346" r:id="rId13"/>
    <p:sldId id="3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4A65-1FA7-291B-CE8C-5E6D2048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FDADB-2DCA-C35F-B7C3-7968810EF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AFEAB-3CEB-BA30-11AC-5EE8D7934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3666-AA39-F7C0-B759-50412EAB7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573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3F8D-542D-0A6D-6316-6419C371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4BB04-7620-28AF-16D0-A7C251C7B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F77FB-8B97-F7B5-2E2A-E56639FDA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C6A12-2461-F07D-42EC-DA6BED9A7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811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9C04A-B84C-5C71-365B-ECE80AA3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35DC2-628E-C7CC-7993-ACCCCCD97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28E68-5199-608F-3154-D3F72A9EC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B88A6-609D-DC78-9DB9-899EC5E69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61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91CF2-7AE1-3EA6-0873-9E280C70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42356-563B-20FB-D9BA-D7ADCC1C3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F30E7-BA9A-548E-EB0E-7EF45BBD1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30988-E3E1-D4F3-B4A3-522D61B3F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20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3DE72-9CD1-810E-5B82-87248045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2E0F8-9206-DA28-A69D-7D56A83B9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9356D-A6F2-76A7-BD32-896F53CAC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1CD68-C6CC-EDDD-74EF-82CE42B79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508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A608-2D4F-84C9-7EA8-8BF737AF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B298F-8412-911A-7A71-E99F7CD2A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2D68-EC62-3F58-8E11-FC442CDB6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96CA5-9D87-15DC-22F9-24744A91E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70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9AB2C-0A7F-117B-BAC2-EFA24C92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FBF38-6A20-AACB-9965-F20C7A826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CFB80-3C72-B3B8-15D9-1BF11238A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7DFDA-AE5E-2AFA-2B84-3DD9D4DBC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707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A73E7-3504-D293-F4B8-68DCEB7F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C1A43-663D-5918-2FE9-93A2F147E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B1BE5-366C-364F-E5BA-ADC8C485E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98268-EB83-7F39-0FB8-678FEAFAB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656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F9CA-53F4-E072-8053-363348F8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CE70F-98FB-1DF3-421F-C70E11AE8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F19F2-ACA7-CB88-69E2-10DB85C63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9B12F-386F-8E00-8A9F-0478315C1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6AF49-7C54-018F-A9BD-B4F4B244C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D94E6-89E1-F57B-DA6E-9C5E1834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80B98-34B3-47FF-6F22-99C83A237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CBDA6-7E90-A095-24F1-B9D3DCF8F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0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8" y="2068973"/>
            <a:ext cx="8218711" cy="2372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Optimization in AWS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A3AA-F167-E46B-4064-40796873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210BFB-421B-9B3D-8F1B-287EFB6CE91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>
                <a:solidFill>
                  <a:srgbClr val="232F3E"/>
                </a:solidFill>
              </a:rPr>
              <a:t>Compute - Reserved Instances</a:t>
            </a:r>
            <a:endParaRPr sz="3600" b="1" dirty="0">
              <a:solidFill>
                <a:srgbClr val="232F3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C1910-DB13-D4BF-A923-7AB7AA0730FC}"/>
              </a:ext>
            </a:extLst>
          </p:cNvPr>
          <p:cNvSpPr txBox="1"/>
          <p:nvPr/>
        </p:nvSpPr>
        <p:spPr>
          <a:xfrm>
            <a:off x="609599" y="1102578"/>
            <a:ext cx="1077685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Commit to specific instance type in specific region for 1-3 years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Discount:</a:t>
            </a:r>
            <a:r>
              <a:rPr lang="en-US" sz="1400" dirty="0"/>
              <a:t> Up to 72% off On-Demand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E6B5A-5607-506B-9896-B3ED364F26F8}"/>
              </a:ext>
            </a:extLst>
          </p:cNvPr>
          <p:cNvSpPr txBox="1"/>
          <p:nvPr/>
        </p:nvSpPr>
        <p:spPr>
          <a:xfrm>
            <a:off x="609599" y="1763652"/>
            <a:ext cx="6117772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Types:</a:t>
            </a:r>
            <a:endParaRPr lang="en-US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/>
              <a:t>Standard RI: </a:t>
            </a:r>
            <a:r>
              <a:rPr lang="en-US" sz="1400" dirty="0"/>
              <a:t>Highest discount (72%)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b="1" dirty="0"/>
              <a:t>Locked Parameters: </a:t>
            </a:r>
            <a:r>
              <a:rPr lang="en-US" sz="1400" dirty="0"/>
              <a:t>Instance type, Instance family, Region, Operating System, Tenancy (default/dedicated)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Convertible RI:</a:t>
            </a:r>
            <a:r>
              <a:rPr lang="en-US" sz="1400" dirty="0"/>
              <a:t> Lower discount (54%)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b="1" dirty="0"/>
              <a:t>Locked Parameters: </a:t>
            </a:r>
            <a:r>
              <a:rPr lang="en-IN" sz="1400" dirty="0"/>
              <a:t>Region, Tenancy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b="1" dirty="0"/>
              <a:t>What you CAN change: </a:t>
            </a:r>
            <a:r>
              <a:rPr lang="en-IN" sz="1400" dirty="0"/>
              <a:t>Instance type, Instance family, Operating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dirty="0"/>
              <a:t>Can exchange for equal or higher value RI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Most companies should choose Convertible unless workload is unchanging</a:t>
            </a:r>
            <a:endParaRPr lang="en-IN" sz="1400" b="1" dirty="0"/>
          </a:p>
          <a:p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When to use RIs: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Predictable, steady-state workloads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Production databases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Always-on applications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Major Service Supporting RIs: </a:t>
            </a:r>
            <a:r>
              <a:rPr lang="en-IN" sz="1400" dirty="0"/>
              <a:t>EC2, RDS, </a:t>
            </a:r>
            <a:r>
              <a:rPr lang="en-IN" sz="1400" dirty="0" err="1"/>
              <a:t>ElastiCache</a:t>
            </a:r>
            <a:r>
              <a:rPr lang="en-IN" sz="1400" dirty="0"/>
              <a:t>, Redshift, OpenSearch, </a:t>
            </a:r>
            <a:r>
              <a:rPr lang="en-IN" sz="1400" dirty="0" err="1"/>
              <a:t>DocumentDB</a:t>
            </a:r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AAD4B-AE56-B0F2-D3A2-E67DEF933064}"/>
              </a:ext>
            </a:extLst>
          </p:cNvPr>
          <p:cNvSpPr txBox="1"/>
          <p:nvPr/>
        </p:nvSpPr>
        <p:spPr>
          <a:xfrm>
            <a:off x="6727371" y="1940625"/>
            <a:ext cx="5148943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Examples: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1.) EC2 Reserved Instances: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Scenario: </a:t>
            </a:r>
            <a:r>
              <a:rPr lang="en-US" sz="1400" dirty="0"/>
              <a:t>Running 10 x m5.large instances 24/7 in us-east-1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On-Demand Cost: </a:t>
            </a:r>
            <a:r>
              <a:rPr lang="en-US" sz="1400" dirty="0"/>
              <a:t>$0.096/hour × 10 × 730 hours = $700/month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1-Year Standard RI: </a:t>
            </a:r>
            <a:r>
              <a:rPr lang="en-US" sz="1400" dirty="0"/>
              <a:t>$0.062/hour × 10 × 730 = $453/month</a:t>
            </a:r>
          </a:p>
          <a:p>
            <a:pPr lvl="1">
              <a:spcBef>
                <a:spcPts val="600"/>
              </a:spcBef>
            </a:pPr>
            <a:r>
              <a:rPr lang="en-US" sz="1400" dirty="0"/>
              <a:t>Savings: $247/month (35%)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3-Year Standard RI: </a:t>
            </a:r>
            <a:r>
              <a:rPr lang="en-US" sz="1400" dirty="0"/>
              <a:t>$0.045/hour × 10 × 730 = $329/month</a:t>
            </a:r>
          </a:p>
          <a:p>
            <a:pPr lvl="1">
              <a:spcBef>
                <a:spcPts val="600"/>
              </a:spcBef>
            </a:pPr>
            <a:r>
              <a:rPr lang="en-US" sz="1400" dirty="0"/>
              <a:t>Savings: $371/month (53%)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2.) RDS Reserved Instances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Scenario:</a:t>
            </a:r>
            <a:r>
              <a:rPr lang="en-US" sz="1400" dirty="0"/>
              <a:t> db.r5.xlarge MySQL running 24/7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On-Demand:</a:t>
            </a:r>
            <a:r>
              <a:rPr lang="en-US" sz="1400" dirty="0"/>
              <a:t> $0.48/hour × 730 = $350/month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1-Year RI (Partial Upfront):</a:t>
            </a:r>
            <a:r>
              <a:rPr lang="en-US" sz="1400" dirty="0"/>
              <a:t> $0.288/hour × 730 = $210/month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Savings:</a:t>
            </a:r>
            <a:r>
              <a:rPr lang="en-US" sz="1400" dirty="0"/>
              <a:t> $140/month (40%)</a:t>
            </a:r>
          </a:p>
        </p:txBody>
      </p:sp>
    </p:spTree>
    <p:extLst>
      <p:ext uri="{BB962C8B-B14F-4D97-AF65-F5344CB8AC3E}">
        <p14:creationId xmlns:p14="http://schemas.microsoft.com/office/powerpoint/2010/main" val="3147212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9864D-E44C-B363-246C-1B0EED34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59FC4-15A4-C802-A316-5DA9C1E5D56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Compute </a:t>
            </a:r>
            <a:r>
              <a:rPr lang="en-US" sz="3600" b="1" dirty="0">
                <a:solidFill>
                  <a:srgbClr val="232F3E"/>
                </a:solidFill>
              </a:rPr>
              <a:t>- Savings Plan</a:t>
            </a:r>
            <a:endParaRPr sz="3600" b="1" dirty="0">
              <a:solidFill>
                <a:srgbClr val="232F3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70175-0A9B-EB56-E27C-A3E4316CD741}"/>
              </a:ext>
            </a:extLst>
          </p:cNvPr>
          <p:cNvSpPr txBox="1"/>
          <p:nvPr/>
        </p:nvSpPr>
        <p:spPr>
          <a:xfrm>
            <a:off x="609599" y="1102578"/>
            <a:ext cx="1077685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Flexible commitment to $ amount per hour (e.g., $10/hour) for 1-3 years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Discount:</a:t>
            </a:r>
            <a:r>
              <a:rPr lang="en-US" sz="1400" dirty="0"/>
              <a:t> Up to 72% (same as RIs)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4A085-15E1-3F4D-8F02-4839318C88A8}"/>
              </a:ext>
            </a:extLst>
          </p:cNvPr>
          <p:cNvSpPr txBox="1"/>
          <p:nvPr/>
        </p:nvSpPr>
        <p:spPr>
          <a:xfrm>
            <a:off x="609599" y="1941684"/>
            <a:ext cx="527957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Types: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1. Compute Savings Plans</a:t>
            </a:r>
            <a:r>
              <a:rPr lang="en-US" sz="1400" dirty="0"/>
              <a:t> (Most flexible)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Apply to EC2, Lambda, Fargate (EKS, ECS)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Any instance family, size, region, OS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Automatic application to cheapest resources first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2. EC2 Instance Savings Plans</a:t>
            </a:r>
            <a:r>
              <a:rPr lang="en-US" sz="1400" dirty="0"/>
              <a:t> (Less flexible)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Locked to instance family (e.g., m5)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Flexible across size, region, OS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Higher discount than Compute SP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3D2C0-A013-6582-5AE5-E5FFA3E88EC1}"/>
              </a:ext>
            </a:extLst>
          </p:cNvPr>
          <p:cNvSpPr txBox="1"/>
          <p:nvPr/>
        </p:nvSpPr>
        <p:spPr>
          <a:xfrm>
            <a:off x="6302831" y="1702742"/>
            <a:ext cx="5464626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Examples:</a:t>
            </a:r>
            <a:endParaRPr lang="en-US" sz="1400" dirty="0"/>
          </a:p>
          <a:p>
            <a:r>
              <a:rPr lang="en-US" sz="1400" b="1" dirty="0"/>
              <a:t>1.) Compute Savings Plan</a:t>
            </a:r>
          </a:p>
          <a:p>
            <a:pPr lvl="1"/>
            <a:r>
              <a:rPr lang="en-US" sz="1400" b="1" dirty="0"/>
              <a:t>Commitment: </a:t>
            </a:r>
            <a:r>
              <a:rPr lang="en-US" sz="1400" dirty="0"/>
              <a:t>$5/hour for 1 year</a:t>
            </a:r>
          </a:p>
          <a:p>
            <a:pPr lvl="1"/>
            <a:r>
              <a:rPr lang="en-US" sz="1400" b="1" dirty="0"/>
              <a:t>Your usage: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EC2 m5.large in us-east-1: $2/hour (covered)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Lambda executions: $1.50/hour (covered)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Fargate tasks in eu-west-1: $1/hour (covered)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EC2 t3.medium burst: $0.50/hour (covered)</a:t>
            </a:r>
          </a:p>
          <a:p>
            <a:pPr lvl="1"/>
            <a:r>
              <a:rPr lang="en-US" sz="1400" b="1" dirty="0"/>
              <a:t>Total: $5/hour - All gets Savings Plan discount</a:t>
            </a:r>
          </a:p>
          <a:p>
            <a:pPr lvl="1"/>
            <a:r>
              <a:rPr lang="en-US" sz="1400" b="1" dirty="0"/>
              <a:t>If you use $6/hour total: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First $5/hour: Savings Plan rate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Extra $1/hour: On-Demand rate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endParaRPr lang="en-US" sz="1400" dirty="0"/>
          </a:p>
          <a:p>
            <a:r>
              <a:rPr lang="en-US" sz="1400" b="1" dirty="0"/>
              <a:t>2.) EC2 Instance Savings Plan</a:t>
            </a:r>
            <a:endParaRPr lang="en-US" sz="1400" dirty="0"/>
          </a:p>
          <a:p>
            <a:pPr lvl="1"/>
            <a:r>
              <a:rPr lang="en-US" sz="1400" b="1" dirty="0"/>
              <a:t>Commitment: </a:t>
            </a:r>
            <a:r>
              <a:rPr lang="en-US" sz="1400" dirty="0"/>
              <a:t>$3/hour for m5 family</a:t>
            </a:r>
          </a:p>
          <a:p>
            <a:pPr lvl="1"/>
            <a:r>
              <a:rPr lang="en-US" sz="1400" b="1" dirty="0"/>
              <a:t>Can use: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m5.large in us-east-1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m5.xlarge in eu-west-1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meaning Any m5 size, any region</a:t>
            </a:r>
          </a:p>
          <a:p>
            <a:pPr lvl="1"/>
            <a:r>
              <a:rPr lang="en-US" sz="1400" b="1" dirty="0"/>
              <a:t>Cannot use for: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c5 instances (different family)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Lambda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Fargate</a:t>
            </a:r>
          </a:p>
        </p:txBody>
      </p:sp>
    </p:spTree>
    <p:extLst>
      <p:ext uri="{BB962C8B-B14F-4D97-AF65-F5344CB8AC3E}">
        <p14:creationId xmlns:p14="http://schemas.microsoft.com/office/powerpoint/2010/main" val="379277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CDFA-305B-7ECB-4828-B48FE07A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74869C-023D-0F34-2524-DABB293EBD4A}"/>
              </a:ext>
            </a:extLst>
          </p:cNvPr>
          <p:cNvSpPr txBox="1"/>
          <p:nvPr/>
        </p:nvSpPr>
        <p:spPr>
          <a:xfrm>
            <a:off x="457201" y="274321"/>
            <a:ext cx="10308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Decision Framework &amp; Anti Pattern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552FE-DA40-E74F-E4EA-B3BBEEA0A3E1}"/>
              </a:ext>
            </a:extLst>
          </p:cNvPr>
          <p:cNvSpPr txBox="1"/>
          <p:nvPr/>
        </p:nvSpPr>
        <p:spPr>
          <a:xfrm>
            <a:off x="644645" y="1186540"/>
            <a:ext cx="5320724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Decision Framework:</a:t>
            </a:r>
            <a:endParaRPr lang="en-US" sz="1400" b="1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Use Reserved Instances when: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RDS/</a:t>
            </a:r>
            <a:r>
              <a:rPr lang="en-US" sz="1400" dirty="0" err="1"/>
              <a:t>ElastiCache</a:t>
            </a:r>
            <a:r>
              <a:rPr lang="en-US" sz="1400" dirty="0"/>
              <a:t>/Redshift (no Savings Plans available)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Very specific, unchanging workload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Maximum discount needed for exact config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Use Compute Savings Plans when: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Modern architecture (EC2 + Lambda + Fargate)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Workloads change over 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Multi-region deployments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Want flexibility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Use EC2 Instance Savings Plans when: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Committed to specific instance family (m5, c5)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Need slightly higher discount than Compute SP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EC2-only workloads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FF91B-A4F9-CFBE-5E31-F35B6D945AFC}"/>
              </a:ext>
            </a:extLst>
          </p:cNvPr>
          <p:cNvSpPr txBox="1"/>
          <p:nvPr/>
        </p:nvSpPr>
        <p:spPr>
          <a:xfrm>
            <a:off x="5878283" y="1186540"/>
            <a:ext cx="596537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Anti-Patterns:</a:t>
            </a:r>
            <a:endParaRPr lang="en-US" sz="1200" b="1" dirty="0"/>
          </a:p>
          <a:p>
            <a:pPr>
              <a:spcBef>
                <a:spcPts val="600"/>
              </a:spcBef>
            </a:pPr>
            <a:r>
              <a:rPr lang="en-US" sz="1200" b="1" dirty="0"/>
              <a:t>1.) Buying RIs for variable workloads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Wrong Approach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Dev/test environment runs 9am-6pm weekdays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Bought 3-year RI for 24/7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Result</a:t>
            </a:r>
            <a:r>
              <a:rPr lang="en-US" sz="1200" dirty="0"/>
              <a:t>: Paying for unused capacity 70% of the time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Instead: </a:t>
            </a:r>
            <a:r>
              <a:rPr lang="en-US" sz="1200" dirty="0"/>
              <a:t>Use On-Demand for dev/test and implement auto-shutdown post working hours</a:t>
            </a:r>
          </a:p>
          <a:p>
            <a:pPr>
              <a:spcBef>
                <a:spcPts val="600"/>
              </a:spcBef>
            </a:pP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2.) Over-committing without analysis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Wrong Approach: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Bought $10/hour Savings Plan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Actual average usage: $7/hour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Result: </a:t>
            </a:r>
            <a:r>
              <a:rPr lang="en-US" sz="1200" dirty="0"/>
              <a:t>Wasting $3/hour commitment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Instead: U</a:t>
            </a:r>
            <a:r>
              <a:rPr lang="en-US" sz="1200" dirty="0"/>
              <a:t>se Cost Explorer to analyze 30-day average &amp; Commit to 70-80% of baseline usage.</a:t>
            </a:r>
          </a:p>
          <a:p>
            <a:pPr>
              <a:spcBef>
                <a:spcPts val="600"/>
              </a:spcBef>
            </a:pP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3.) Buying wrong RI type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Wrong Approach: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Bought Standard RI for m5.large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Six months later: Need m5.xlarge (different size)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Result:</a:t>
            </a:r>
            <a:r>
              <a:rPr lang="en-US" sz="1200" dirty="0"/>
              <a:t> Can't change, RI wasted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Instead: </a:t>
            </a:r>
            <a:r>
              <a:rPr lang="en-US" sz="1200" dirty="0"/>
              <a:t>Buy Convertible RI (can exchange) Or use Savings Plan (auto-applies to any size)</a:t>
            </a:r>
          </a:p>
        </p:txBody>
      </p:sp>
    </p:spTree>
    <p:extLst>
      <p:ext uri="{BB962C8B-B14F-4D97-AF65-F5344CB8AC3E}">
        <p14:creationId xmlns:p14="http://schemas.microsoft.com/office/powerpoint/2010/main" val="347431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EA14F-E077-75FF-A03F-24757D6E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84E018-9C5B-280E-C970-11A83F6EDD98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Spot Instances for Batch Processing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B2EB8-22C6-9BAF-785E-2008163DF9E5}"/>
              </a:ext>
            </a:extLst>
          </p:cNvPr>
          <p:cNvSpPr txBox="1"/>
          <p:nvPr/>
        </p:nvSpPr>
        <p:spPr>
          <a:xfrm>
            <a:off x="609599" y="1801651"/>
            <a:ext cx="6019801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How Spot Works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Pricing:</a:t>
            </a:r>
            <a:endParaRPr lang="en-US" sz="14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On-Demand m5.large: $0.096/hour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Spot m5.large: $0.029/hour (70% cheaper)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Note:</a:t>
            </a:r>
            <a:r>
              <a:rPr lang="en-US" sz="1400" dirty="0"/>
              <a:t> The spot price of $0.029/hour is an example/average - actual spot prices fluctuate in real-time based on supply and demand in each availability zone.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Interruption:</a:t>
            </a:r>
            <a:endParaRPr lang="en-US" sz="14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AWS reclaims capacity when needed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2-minute warning via EC2 metadata endpoint (169.254,169.254) or via CloudWatch event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Not suitable for critical workloads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How to Purchase: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Select ‘Spot Instances’ in EC2 console or submit a ‘Spot Fleet request’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CAD36-7804-7243-E98F-677697E3CF76}"/>
              </a:ext>
            </a:extLst>
          </p:cNvPr>
          <p:cNvSpPr txBox="1"/>
          <p:nvPr/>
        </p:nvSpPr>
        <p:spPr>
          <a:xfrm>
            <a:off x="6923314" y="1801651"/>
            <a:ext cx="477883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 Scenarios: 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1.) Nightly data processing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 err="1"/>
              <a:t>EventBridge</a:t>
            </a:r>
            <a:r>
              <a:rPr lang="en-IN" sz="1400" dirty="0"/>
              <a:t> triggers Lambda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Lambda creates a NEW Spot Fleet each night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Fleet launches 10 instances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Process data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Terminate fleet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2.) CI/CD Build Agents on Spot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Jenkins Controller: On-Demand (always available)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Build Agents: Spot instances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Jenkins triggers build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Spin up Spot agent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Build completes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Terminate agent If interrupted mid-build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Retry on new Spot/On-Demand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0BEC8-C011-137F-C6C3-C663B5445E61}"/>
              </a:ext>
            </a:extLst>
          </p:cNvPr>
          <p:cNvSpPr txBox="1"/>
          <p:nvPr/>
        </p:nvSpPr>
        <p:spPr>
          <a:xfrm>
            <a:off x="609599" y="1102578"/>
            <a:ext cx="1077685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Spare AWS capacity at very high discount, can be interrupted with 2-min warning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Discount:</a:t>
            </a:r>
            <a:r>
              <a:rPr lang="en-US" sz="1400" dirty="0"/>
              <a:t> Up to 50-90% off On-Demand</a:t>
            </a:r>
          </a:p>
        </p:txBody>
      </p:sp>
    </p:spTree>
    <p:extLst>
      <p:ext uri="{BB962C8B-B14F-4D97-AF65-F5344CB8AC3E}">
        <p14:creationId xmlns:p14="http://schemas.microsoft.com/office/powerpoint/2010/main" val="3432709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Spot Best Practices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1" y="1012923"/>
            <a:ext cx="532072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1. Use Spot for fault-tolerant workloads:</a:t>
            </a: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Used for: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Batch processing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Big data (EMR, Spark)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CI/CD builds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Rendering/transcoding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Should never be used for: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Databases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User-facing web servers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Stateful applications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2. Diversify instance types:</a:t>
            </a:r>
          </a:p>
          <a:p>
            <a:pPr>
              <a:spcBef>
                <a:spcPts val="600"/>
              </a:spcBef>
            </a:pPr>
            <a:r>
              <a:rPr lang="en-IN" sz="1400" b="1" dirty="0"/>
              <a:t>Spot Fleet configuration: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m5.large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m5a.large (AMD variant)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m4.large (older generation)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c5.large (compute-optimized alternative)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AWS chooses cheapest available -&gt; Less interruption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62102-B192-F928-322E-9E6E8FCAFF3C}"/>
              </a:ext>
            </a:extLst>
          </p:cNvPr>
          <p:cNvSpPr txBox="1"/>
          <p:nvPr/>
        </p:nvSpPr>
        <p:spPr>
          <a:xfrm>
            <a:off x="6098388" y="1228367"/>
            <a:ext cx="5636411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3. Handle interruptions gracefully: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# Listen for Spot interruption warning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Example using shell script: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#!/bin/bash</a:t>
            </a:r>
          </a:p>
          <a:p>
            <a:r>
              <a:rPr lang="en-US" sz="1400" dirty="0"/>
              <a:t>while true; do</a:t>
            </a:r>
          </a:p>
          <a:p>
            <a:r>
              <a:rPr lang="en-US" sz="1400" dirty="0"/>
              <a:t>    # Check for spot termination notice</a:t>
            </a:r>
          </a:p>
          <a:p>
            <a:r>
              <a:rPr lang="en-US" sz="1400" dirty="0"/>
              <a:t>    HTTP_CODE=$(curl -s -o /</a:t>
            </a:r>
            <a:r>
              <a:rPr lang="en-US" sz="1400" dirty="0" err="1"/>
              <a:t>tmp</a:t>
            </a:r>
            <a:r>
              <a:rPr lang="en-US" sz="1400" dirty="0"/>
              <a:t>/spot-termination -w "%{</a:t>
            </a:r>
            <a:r>
              <a:rPr lang="en-US" sz="1400" dirty="0" err="1"/>
              <a:t>http_code</a:t>
            </a:r>
            <a:r>
              <a:rPr lang="en-US" sz="1400" dirty="0"/>
              <a:t>}" http://169.254.169.254/latest/meta-data/spot/termination-time)</a:t>
            </a:r>
          </a:p>
          <a:p>
            <a:r>
              <a:rPr lang="en-US" sz="1400" dirty="0"/>
              <a:t>   </a:t>
            </a:r>
          </a:p>
          <a:p>
            <a:r>
              <a:rPr lang="en-US" sz="1400" dirty="0"/>
              <a:t>   if [ "$HTTP_CODE" == "200" ]; then</a:t>
            </a:r>
          </a:p>
          <a:p>
            <a:r>
              <a:rPr lang="en-US" sz="1400" dirty="0"/>
              <a:t>        echo "$(date): Spot interruption detected! Terminating in 2 minutes..."</a:t>
            </a:r>
          </a:p>
          <a:p>
            <a:r>
              <a:rPr lang="en-US" sz="1400" dirty="0"/>
              <a:t>        # Call your application's graceful shutdown</a:t>
            </a:r>
          </a:p>
          <a:p>
            <a:r>
              <a:rPr lang="en-US" sz="1400" dirty="0"/>
              <a:t>        # Option A: Kill application gracefully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pkill</a:t>
            </a:r>
            <a:r>
              <a:rPr lang="en-US" sz="1400" dirty="0"/>
              <a:t> -SIGTERM -f "your-app-process-name"</a:t>
            </a:r>
          </a:p>
          <a:p>
            <a:r>
              <a:rPr lang="en-US" sz="1400" dirty="0"/>
              <a:t>        # Option B: Call application API/script</a:t>
            </a:r>
          </a:p>
          <a:p>
            <a:r>
              <a:rPr lang="en-US" sz="1400" dirty="0"/>
              <a:t>        # /path/to/your-app/graceful_shutdown.sh</a:t>
            </a:r>
          </a:p>
          <a:p>
            <a:r>
              <a:rPr lang="en-US" sz="1400" dirty="0"/>
              <a:t>        # Option C: Trigger Python function</a:t>
            </a:r>
          </a:p>
          <a:p>
            <a:r>
              <a:rPr lang="en-US" sz="1400" dirty="0"/>
              <a:t>        # python3 /path/to/shutdown_handler.py</a:t>
            </a:r>
          </a:p>
          <a:p>
            <a:r>
              <a:rPr lang="en-US" sz="1400" dirty="0"/>
              <a:t>        break</a:t>
            </a:r>
          </a:p>
          <a:p>
            <a:r>
              <a:rPr lang="en-US" sz="1400" dirty="0"/>
              <a:t>    fi</a:t>
            </a:r>
          </a:p>
          <a:p>
            <a:r>
              <a:rPr lang="en-US" sz="1400" dirty="0"/>
              <a:t>    # Check every 5 seconds</a:t>
            </a:r>
          </a:p>
          <a:p>
            <a:r>
              <a:rPr lang="en-US" sz="1400" dirty="0"/>
              <a:t>    sleep 5</a:t>
            </a:r>
          </a:p>
          <a:p>
            <a:r>
              <a:rPr lang="en-US" sz="1400" dirty="0"/>
              <a:t>done</a:t>
            </a:r>
            <a:endParaRPr lang="en-IN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0177F-65A0-562F-14F7-541EA296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C0049C-0DD1-86B6-DFB5-1406D12F8413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Compute Optimizer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6CE50-359B-F00D-464E-9E0726ABC07E}"/>
              </a:ext>
            </a:extLst>
          </p:cNvPr>
          <p:cNvSpPr txBox="1"/>
          <p:nvPr/>
        </p:nvSpPr>
        <p:spPr>
          <a:xfrm>
            <a:off x="609598" y="2748708"/>
            <a:ext cx="5660574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Examples: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1.) EC2 </a:t>
            </a:r>
            <a:r>
              <a:rPr lang="en-US" sz="1400" b="1" dirty="0" err="1"/>
              <a:t>RightsizingScenario</a:t>
            </a:r>
            <a:r>
              <a:rPr lang="en-US" sz="1400" b="1" dirty="0"/>
              <a:t>: 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Current: </a:t>
            </a:r>
            <a:r>
              <a:rPr lang="en-US" sz="1400" dirty="0"/>
              <a:t>m5.2xlarge (8 vCPU, 32 GB RAM)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CPU Usage: 5-10% average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Memory: 8 GB used (25%)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Compute Optimizer Recommendation: </a:t>
            </a:r>
            <a:r>
              <a:rPr lang="en-US" sz="1400" dirty="0"/>
              <a:t>Downsize to m5.large (2 vCPU, 8 GB RAM)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Cost Impact: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Current: $0.384/hour × 730 = $280/month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Recommended: $0.096/hour × 730 = $70/month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Savings: $210/month (75% savings)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Performance Impact: </a:t>
            </a:r>
            <a:r>
              <a:rPr lang="en-US" sz="1400" dirty="0"/>
              <a:t>None (still over-provisioned for actual usage)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DD23F-8D24-B2FA-7FFD-93AAE8C2101B}"/>
              </a:ext>
            </a:extLst>
          </p:cNvPr>
          <p:cNvSpPr txBox="1"/>
          <p:nvPr/>
        </p:nvSpPr>
        <p:spPr>
          <a:xfrm>
            <a:off x="6694714" y="3167421"/>
            <a:ext cx="510540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2.) Scenario: Under-provisioned Lambda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Current Lambda Config: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Memory: 512 MB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Average duration: 8 seconds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Cost: $0.0000083/invocation × 1M invocations = $8.30/month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Compute Optimizer Recommendation: </a:t>
            </a:r>
            <a:r>
              <a:rPr lang="en-US" sz="1400" dirty="0"/>
              <a:t>Increase to 1024 MB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Result: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Memory: 1024 MB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Average duration: 4 seconds (faster CPU with more memory)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Cost</a:t>
            </a:r>
            <a:r>
              <a:rPr lang="en-US" sz="1400" dirty="0"/>
              <a:t>: $0.0000083/invocation × 1M invocations = $8.30/month</a:t>
            </a:r>
          </a:p>
          <a:p>
            <a:pPr>
              <a:spcBef>
                <a:spcPts val="600"/>
              </a:spcBef>
            </a:pPr>
            <a:r>
              <a:rPr lang="en-US" sz="1400" b="1" i="1" dirty="0"/>
              <a:t>Same cost, 2x faster execution!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D630E-565B-1F65-1E78-C768F79E297C}"/>
              </a:ext>
            </a:extLst>
          </p:cNvPr>
          <p:cNvSpPr txBox="1"/>
          <p:nvPr/>
        </p:nvSpPr>
        <p:spPr>
          <a:xfrm>
            <a:off x="609598" y="1148270"/>
            <a:ext cx="1119051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ML-powered recommendations for rightsizing following services: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EC2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Auto Scaling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Lambda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EBS Volumes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Aurora and RDS Database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ECS Service on Fargate</a:t>
            </a:r>
          </a:p>
        </p:txBody>
      </p:sp>
    </p:spTree>
    <p:extLst>
      <p:ext uri="{BB962C8B-B14F-4D97-AF65-F5344CB8AC3E}">
        <p14:creationId xmlns:p14="http://schemas.microsoft.com/office/powerpoint/2010/main" val="2350131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3E64-CD56-9C1E-870C-65FAFCEC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C3527-0A70-88E6-D934-6B6518C90D4B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Cost Explorer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7DE91-0A30-B316-92F0-AB37DBD21ECA}"/>
              </a:ext>
            </a:extLst>
          </p:cNvPr>
          <p:cNvSpPr txBox="1"/>
          <p:nvPr/>
        </p:nvSpPr>
        <p:spPr>
          <a:xfrm>
            <a:off x="609598" y="1712094"/>
            <a:ext cx="525780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Examples: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1.) Identify S3 objects storage cost region specific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1: Access Cost Explorer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Go to </a:t>
            </a:r>
            <a:r>
              <a:rPr lang="en-US" sz="1400" b="1" dirty="0"/>
              <a:t>AWS Cost Management</a:t>
            </a:r>
            <a:r>
              <a:rPr lang="en-US" sz="1400" dirty="0"/>
              <a:t> -&gt; </a:t>
            </a:r>
            <a:r>
              <a:rPr lang="en-US" sz="1400" b="1" dirty="0"/>
              <a:t>Cost Explorer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b="1" dirty="0"/>
              <a:t>Step 2: Configure S3 Storage Analysis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Date range: </a:t>
            </a:r>
            <a:r>
              <a:rPr lang="en-US" sz="1400" b="1" dirty="0"/>
              <a:t>Last 3 months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Granularity:</a:t>
            </a:r>
            <a:r>
              <a:rPr lang="en-US" sz="1400" dirty="0"/>
              <a:t> Monthly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Group by:</a:t>
            </a:r>
            <a:r>
              <a:rPr lang="en-US" sz="1400" dirty="0"/>
              <a:t> </a:t>
            </a:r>
            <a:r>
              <a:rPr lang="en-US" sz="1400" b="1" dirty="0"/>
              <a:t>Usage Type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Filters:</a:t>
            </a:r>
            <a:r>
              <a:rPr lang="en-US" sz="1400" dirty="0"/>
              <a:t> </a:t>
            </a:r>
          </a:p>
          <a:p>
            <a:pPr lvl="2">
              <a:lnSpc>
                <a:spcPct val="150000"/>
              </a:lnSpc>
            </a:pPr>
            <a:r>
              <a:rPr lang="en-US" sz="1400" b="1" dirty="0"/>
              <a:t>Service:</a:t>
            </a:r>
            <a:r>
              <a:rPr lang="en-US" sz="1400" dirty="0"/>
              <a:t> Select </a:t>
            </a:r>
            <a:r>
              <a:rPr lang="en-US" sz="1400" b="1" dirty="0"/>
              <a:t>S3 (Simple Storage Service)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Click </a:t>
            </a:r>
            <a:r>
              <a:rPr lang="en-US" sz="1400" b="1" dirty="0"/>
              <a:t>Apply</a:t>
            </a:r>
            <a:endParaRPr lang="en-US" sz="1400" dirty="0"/>
          </a:p>
          <a:p>
            <a:r>
              <a:rPr lang="en-US" sz="1400" b="1" dirty="0"/>
              <a:t>Step 3: Analyze Results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79EFB-BB79-1209-6E16-E41CE72557A5}"/>
              </a:ext>
            </a:extLst>
          </p:cNvPr>
          <p:cNvSpPr txBox="1"/>
          <p:nvPr/>
        </p:nvSpPr>
        <p:spPr>
          <a:xfrm>
            <a:off x="6041570" y="2092474"/>
            <a:ext cx="5627916" cy="361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2.) Data Transfer Costs Analysis - Identifying Cross-Region/Internet Traffic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1: Access Cost Explorer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Go to </a:t>
            </a:r>
            <a:r>
              <a:rPr lang="en-US" sz="1400" b="1" dirty="0"/>
              <a:t>Cost Management</a:t>
            </a:r>
            <a:r>
              <a:rPr lang="en-US" sz="1400" dirty="0"/>
              <a:t> -&gt; </a:t>
            </a:r>
            <a:r>
              <a:rPr lang="en-US" sz="1400" b="1" dirty="0"/>
              <a:t>Cost Explorer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2: Filter for Data Transfer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Date range: </a:t>
            </a:r>
            <a:r>
              <a:rPr lang="en-US" sz="1400" b="1" dirty="0"/>
              <a:t>Last 1 month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Granularity:</a:t>
            </a:r>
            <a:r>
              <a:rPr lang="en-US" sz="1400" dirty="0"/>
              <a:t> Monthly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Group by:</a:t>
            </a:r>
            <a:r>
              <a:rPr lang="en-US" sz="1400" dirty="0"/>
              <a:t> </a:t>
            </a:r>
            <a:r>
              <a:rPr lang="en-US" sz="1400" b="1" dirty="0"/>
              <a:t>Usage Type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Filters:</a:t>
            </a:r>
            <a:r>
              <a:rPr lang="en-US" sz="1400" dirty="0"/>
              <a:t> </a:t>
            </a:r>
          </a:p>
          <a:p>
            <a:pPr lvl="2">
              <a:lnSpc>
                <a:spcPct val="150000"/>
              </a:lnSpc>
            </a:pPr>
            <a:r>
              <a:rPr lang="en-US" sz="1400" b="1" dirty="0"/>
              <a:t>Service:</a:t>
            </a:r>
            <a:r>
              <a:rPr lang="en-US" sz="1400" dirty="0"/>
              <a:t> Select </a:t>
            </a:r>
            <a:r>
              <a:rPr lang="en-US" sz="1400" b="1" dirty="0"/>
              <a:t>EC2-Other</a:t>
            </a:r>
            <a:r>
              <a:rPr lang="en-US" sz="1400" dirty="0"/>
              <a:t> (this includes data transfer)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Apply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3: Analyze Data Transfer Patterns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89C46-949C-C4B7-D550-8E1300FA89FA}"/>
              </a:ext>
            </a:extLst>
          </p:cNvPr>
          <p:cNvSpPr txBox="1"/>
          <p:nvPr/>
        </p:nvSpPr>
        <p:spPr>
          <a:xfrm>
            <a:off x="609598" y="1030940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Analyze spending patterns, forecast costs, identify savings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52117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E7CDD-990B-7E82-D663-313DEDEB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AC256-900F-3068-3FA2-9BD8BE69F013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Budgets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D5E5E-0AD1-9EFB-7BEA-8D63E616D13A}"/>
              </a:ext>
            </a:extLst>
          </p:cNvPr>
          <p:cNvSpPr txBox="1"/>
          <p:nvPr/>
        </p:nvSpPr>
        <p:spPr>
          <a:xfrm>
            <a:off x="609598" y="1626110"/>
            <a:ext cx="5257802" cy="475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Examples: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1.) Name: Production Monthly Budget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Amount: </a:t>
            </a:r>
            <a:r>
              <a:rPr lang="en-US" sz="1400" dirty="0"/>
              <a:t>$5,000/month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Alerts: 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80% ($4,000): </a:t>
            </a:r>
            <a:r>
              <a:rPr lang="en-US" sz="1400" dirty="0"/>
              <a:t>Email to team 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90% ($4,500):</a:t>
            </a:r>
            <a:r>
              <a:rPr lang="en-US" sz="1400" dirty="0"/>
              <a:t> Email + SNS topic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100% ($5,000):</a:t>
            </a:r>
            <a:r>
              <a:rPr lang="en-US" sz="1400" dirty="0"/>
              <a:t> Email + SNS + Lambda (auto-action)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sz="1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Lambda action at 100%: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Stop all dev/test EC2 instances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Send Slack notification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 ticket for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77A39-DF80-9416-C8CE-94818170CA05}"/>
              </a:ext>
            </a:extLst>
          </p:cNvPr>
          <p:cNvSpPr txBox="1"/>
          <p:nvPr/>
        </p:nvSpPr>
        <p:spPr>
          <a:xfrm>
            <a:off x="6096000" y="1936150"/>
            <a:ext cx="5627916" cy="398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2.) Name: Budget per team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Tag: “Team=Engineering” - $3,000/month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Tag: “Team=Data” -&gt; $2,000/month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Tag: “Team=ML” -&gt; $4,000/month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sz="1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Actions when e.g. Engineering team’s budget exceeds: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Alert: “Engineering team at 95% of budget”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Action: Review EC2 instances with “Team=Engineering” tag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Find: 20 instances left running over weekend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Fix: Implement auto-stop schedule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0D0AE-692D-EE53-FF25-2AFF0D91A04B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Set cost/usage thresholds, get alerts before overspending</a:t>
            </a:r>
          </a:p>
        </p:txBody>
      </p:sp>
    </p:spTree>
    <p:extLst>
      <p:ext uri="{BB962C8B-B14F-4D97-AF65-F5344CB8AC3E}">
        <p14:creationId xmlns:p14="http://schemas.microsoft.com/office/powerpoint/2010/main" val="1574021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68C8-62F7-3B35-DFC4-0D1336AD3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3B89B7-B52D-6ED0-E8A2-235E64B5E741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5178A-1603-7792-8BFF-F46FD399B72E}"/>
              </a:ext>
            </a:extLst>
          </p:cNvPr>
          <p:cNvSpPr txBox="1"/>
          <p:nvPr/>
        </p:nvSpPr>
        <p:spPr>
          <a:xfrm>
            <a:off x="609598" y="1573300"/>
            <a:ext cx="3526973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Strategy 1: Vertical Rightsizing (Change Instance Size) - Downsize over-provisioned instance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Current: </a:t>
            </a:r>
            <a:r>
              <a:rPr lang="en-US" sz="1400" dirty="0"/>
              <a:t>m5.4xlarge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16 vCPU, 64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CPU: 10% average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Memory: 20 GB used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$0.768/hour = $560/month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Rightsized:</a:t>
            </a:r>
            <a:r>
              <a:rPr lang="en-US" sz="1400" dirty="0"/>
              <a:t> m5.xlarge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4 vCPU, 16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Still over-provisioned for actual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$0.192/hour = $140/month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Savings</a:t>
            </a:r>
            <a:r>
              <a:rPr lang="en-US" sz="1400" dirty="0"/>
              <a:t>: $420/month (75%)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80931D-1B48-89BC-1BB1-AC0C67C7E433}"/>
              </a:ext>
            </a:extLst>
          </p:cNvPr>
          <p:cNvSpPr txBox="1"/>
          <p:nvPr/>
        </p:nvSpPr>
        <p:spPr>
          <a:xfrm>
            <a:off x="7973785" y="1529756"/>
            <a:ext cx="3608617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Strategy 3: Burstable Instances (t3/t4g) - Web server with variable load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Current:</a:t>
            </a:r>
            <a:r>
              <a:rPr lang="en-US" sz="1400" dirty="0"/>
              <a:t> m5.large (general purpose)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2 vCPU, 8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Average CPU: 15%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Peak CPU: 60% (2 hours/day)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$0.096/hour = $70/month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Rightsized:</a:t>
            </a:r>
            <a:r>
              <a:rPr lang="en-US" sz="1400" dirty="0"/>
              <a:t> t3.medium (burstable)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2 vCPU, 4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Baseline: 20% CPU, bursts to 100%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Accumulates credits during low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$0.0416/hour = $30/month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Savings</a:t>
            </a:r>
            <a:r>
              <a:rPr lang="en-US" sz="1400" dirty="0"/>
              <a:t>: $40/month (57%)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Perfect for workloads with idle periods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C7508-DA19-0BEB-D78E-CF74EBF5827A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EC2 Rightsizing Strategies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DF0531-007D-69D5-512D-435E46B96ECA}"/>
              </a:ext>
            </a:extLst>
          </p:cNvPr>
          <p:cNvSpPr txBox="1"/>
          <p:nvPr/>
        </p:nvSpPr>
        <p:spPr>
          <a:xfrm>
            <a:off x="4305298" y="1529756"/>
            <a:ext cx="318951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Strategy 2: Horizontal Rightsizing (Change Instance Type) - Memory-optimized vs. Compute-optimized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Current:</a:t>
            </a:r>
            <a:r>
              <a:rPr lang="en-IN" sz="1400" dirty="0"/>
              <a:t> r5.large (memory-optimized)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2 vCPU, 16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Application uses 4 GB RAM, 2 vCPU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Cost: $0.126/hour = $92/month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Rightsized:</a:t>
            </a:r>
            <a:r>
              <a:rPr lang="en-IN" sz="1400" dirty="0"/>
              <a:t> c5.large (compute-optimized)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2 vCPU, 4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Better CPU performance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Cost: $0.085/hour = $62/month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Savings</a:t>
            </a:r>
            <a:r>
              <a:rPr lang="en-IN" sz="1400" dirty="0"/>
              <a:t>: $30/month (33%)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Bonus</a:t>
            </a:r>
            <a:r>
              <a:rPr lang="en-IN" sz="1400" dirty="0"/>
              <a:t>: Better performance for CPU-bound workload</a:t>
            </a:r>
          </a:p>
        </p:txBody>
      </p:sp>
    </p:spTree>
    <p:extLst>
      <p:ext uri="{BB962C8B-B14F-4D97-AF65-F5344CB8AC3E}">
        <p14:creationId xmlns:p14="http://schemas.microsoft.com/office/powerpoint/2010/main" val="3207490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EFDA-5E1C-8243-A358-B4C19093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2DDA7D-372D-673B-FAA0-891EAFA96C6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8F5C1-3E1F-AE20-4C91-8551C6DAB193}"/>
              </a:ext>
            </a:extLst>
          </p:cNvPr>
          <p:cNvSpPr txBox="1"/>
          <p:nvPr/>
        </p:nvSpPr>
        <p:spPr>
          <a:xfrm>
            <a:off x="696685" y="1930910"/>
            <a:ext cx="4463145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AWS Example 1: Unused/Unattached volumes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Findings: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50 unattached EBS volumes (dev/test cleanup forgotten)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Average size: 100 GB gp3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$8/month each = $400/month total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Action: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Snapshot important volumes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Delete unattached volumes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Savings:</a:t>
            </a:r>
            <a:r>
              <a:rPr lang="en-US" sz="1400" dirty="0"/>
              <a:t> $400/month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23AC0-F17E-5EBA-D20F-DEA3FD1FA916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EBS Volume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0EAE38-45E5-BEBE-6356-486777E4CC00}"/>
              </a:ext>
            </a:extLst>
          </p:cNvPr>
          <p:cNvSpPr txBox="1"/>
          <p:nvPr/>
        </p:nvSpPr>
        <p:spPr>
          <a:xfrm>
            <a:off x="6466115" y="1930910"/>
            <a:ext cx="4463145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AWS Example 2: gp2 -&gt; gp3 migration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Findings: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Current: 10 x 500 GB gp2 volumes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Cost: $0.10/GB-month × 500 GB × 10 = $500/month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Action: 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Modify volume type to gp3 with no downtime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Cost: $0.08/GB-month × 500 GB × 10 = $400/month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Same performance (3000 IOPS, 125 MB/s)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Savings: </a:t>
            </a:r>
            <a:r>
              <a:rPr lang="en-IN" sz="1400" dirty="0"/>
              <a:t>$100/month (20%)</a:t>
            </a:r>
          </a:p>
        </p:txBody>
      </p:sp>
    </p:spTree>
    <p:extLst>
      <p:ext uri="{BB962C8B-B14F-4D97-AF65-F5344CB8AC3E}">
        <p14:creationId xmlns:p14="http://schemas.microsoft.com/office/powerpoint/2010/main" val="472026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1B74-07EF-75F5-8E87-14153E1C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E674E7-52AF-4DD3-DFDB-26E849D9BA9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D999B-EFC1-A27D-719B-4C15EBD52912}"/>
              </a:ext>
            </a:extLst>
          </p:cNvPr>
          <p:cNvSpPr txBox="1"/>
          <p:nvPr/>
        </p:nvSpPr>
        <p:spPr>
          <a:xfrm>
            <a:off x="609598" y="1626110"/>
            <a:ext cx="446314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AWS Example 1: S3 Intelligent-Tiering</a:t>
            </a:r>
          </a:p>
          <a:p>
            <a:endParaRPr lang="en-US" sz="1400" b="1" dirty="0"/>
          </a:p>
          <a:p>
            <a:r>
              <a:rPr lang="en-US" sz="1400" b="1" dirty="0"/>
              <a:t>Use case:</a:t>
            </a:r>
            <a:r>
              <a:rPr lang="en-US" sz="1400" dirty="0"/>
              <a:t> Log files, uncertain access patterns</a:t>
            </a:r>
          </a:p>
          <a:p>
            <a:endParaRPr lang="en-US" sz="1400" dirty="0"/>
          </a:p>
          <a:p>
            <a:r>
              <a:rPr lang="en-US" sz="1400" b="1" dirty="0"/>
              <a:t>Current: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S3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 TB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Cost: $0.023/GB = $235/month</a:t>
            </a:r>
          </a:p>
          <a:p>
            <a:endParaRPr lang="en-US" sz="1400" dirty="0"/>
          </a:p>
          <a:p>
            <a:r>
              <a:rPr lang="en-US" sz="1400" b="1" dirty="0"/>
              <a:t>Move to S3 Intelligent-Tiering: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Frequent access tier: $0.023/GB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Infrequent access tier: $0.0125/GB (auto-moved after 30 days)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Archive tier: $0.004/GB (auto-moved after 90 days)</a:t>
            </a:r>
          </a:p>
          <a:p>
            <a:endParaRPr lang="en-US" sz="1400" dirty="0"/>
          </a:p>
          <a:p>
            <a:r>
              <a:rPr lang="en-US" sz="1400" b="1" dirty="0"/>
              <a:t>Result after 6 months: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 TB in frequent tier: $46/month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3 TB in infrequent tier: $38/month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5 TB in archive tier: $20/month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Total: $104/month</a:t>
            </a:r>
          </a:p>
          <a:p>
            <a:endParaRPr lang="en-US" sz="1400" dirty="0"/>
          </a:p>
          <a:p>
            <a:r>
              <a:rPr lang="en-US" sz="1400" b="1" dirty="0"/>
              <a:t>Savings: $131/month (56%)</a:t>
            </a: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BDA25-B009-109B-D340-2B868BC0320C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S3 Storage Classes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1283AA-CE24-25DB-A367-C41DE66B471D}"/>
              </a:ext>
            </a:extLst>
          </p:cNvPr>
          <p:cNvSpPr txBox="1"/>
          <p:nvPr/>
        </p:nvSpPr>
        <p:spPr>
          <a:xfrm>
            <a:off x="6629400" y="1626110"/>
            <a:ext cx="446314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AWS Example 2: S3 Lifecycle Policies</a:t>
            </a:r>
          </a:p>
          <a:p>
            <a:endParaRPr lang="en-US" sz="1400" dirty="0"/>
          </a:p>
          <a:p>
            <a:r>
              <a:rPr lang="en-US" sz="1400" b="1" dirty="0"/>
              <a:t>Use case:</a:t>
            </a:r>
            <a:r>
              <a:rPr lang="en-US" sz="1400" dirty="0"/>
              <a:t> Backup retention</a:t>
            </a:r>
          </a:p>
          <a:p>
            <a:endParaRPr lang="en-US" sz="1400" dirty="0"/>
          </a:p>
          <a:p>
            <a:r>
              <a:rPr lang="en-US" sz="1400" b="1" dirty="0"/>
              <a:t>Apply Lifecycle Policy: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Current version -&gt; S3 Standard (first 30 days)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30 days -&gt; S3 Standard-IA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90 days -&gt; S3 Glacier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365 days -&gt; S3 Glacier Deep Archive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2555 days -&gt; Delete</a:t>
            </a:r>
          </a:p>
          <a:p>
            <a:endParaRPr lang="en-US" sz="1400" dirty="0"/>
          </a:p>
          <a:p>
            <a:r>
              <a:rPr lang="en-US" sz="1400" b="1" dirty="0"/>
              <a:t>Cost for 1 TB backup: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Standard (30 days): $23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Standard-IA (60 days): $12.50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Glacier (275 days): $3.68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Glacier Deep Archive (7 years): $0.99/month average</a:t>
            </a:r>
          </a:p>
          <a:p>
            <a:endParaRPr lang="en-US" sz="1400" dirty="0"/>
          </a:p>
          <a:p>
            <a:r>
              <a:rPr lang="en-US" sz="1400" dirty="0"/>
              <a:t>vs. Keeping in S3 Standard: $23/month for 7 years</a:t>
            </a:r>
          </a:p>
          <a:p>
            <a:r>
              <a:rPr lang="en-US" sz="1400" dirty="0"/>
              <a:t>Savings: 95% over lifecycle</a:t>
            </a:r>
          </a:p>
        </p:txBody>
      </p:sp>
    </p:spTree>
    <p:extLst>
      <p:ext uri="{BB962C8B-B14F-4D97-AF65-F5344CB8AC3E}">
        <p14:creationId xmlns:p14="http://schemas.microsoft.com/office/powerpoint/2010/main" val="1156720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6B6D4-3FD2-5444-ACF7-4A82CF051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F6310-85C8-1496-D596-0B3F20F15B8D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EE40D-F03B-79FF-FB8A-C46A4B8B3D27}"/>
              </a:ext>
            </a:extLst>
          </p:cNvPr>
          <p:cNvSpPr txBox="1"/>
          <p:nvPr/>
        </p:nvSpPr>
        <p:spPr>
          <a:xfrm>
            <a:off x="609598" y="1573300"/>
            <a:ext cx="525780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/>
          </a:p>
          <a:p>
            <a:r>
              <a:rPr lang="en-IN" sz="1400" b="1" dirty="0"/>
              <a:t>AWS Example 1: Snapshot lifecycle</a:t>
            </a:r>
          </a:p>
          <a:p>
            <a:endParaRPr lang="en-IN" sz="1400" b="1" dirty="0"/>
          </a:p>
          <a:p>
            <a:r>
              <a:rPr lang="en-US" sz="1400" b="1" dirty="0"/>
              <a:t>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1000 EBS snapshots accumulated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Average 50 GB each = 50 TB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Cost: $0.05/GB = $2,500/month</a:t>
            </a:r>
          </a:p>
          <a:p>
            <a:endParaRPr lang="en-US" sz="1400" dirty="0"/>
          </a:p>
          <a:p>
            <a:r>
              <a:rPr lang="en-US" sz="1400" b="1" dirty="0"/>
              <a:t>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 Lifecycle Manager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Daily snapshots for 7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Weekly snapshots for 4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Monthly snapshots for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Delete older</a:t>
            </a:r>
          </a:p>
          <a:p>
            <a:endParaRPr lang="en-US" sz="1400" dirty="0"/>
          </a:p>
          <a:p>
            <a:r>
              <a:rPr lang="en-US" sz="1400" b="1" dirty="0"/>
              <a:t>Result: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~100 snapshots retained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5 TB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Cost: $250/month</a:t>
            </a:r>
          </a:p>
          <a:p>
            <a:endParaRPr lang="en-US" sz="1400" dirty="0"/>
          </a:p>
          <a:p>
            <a:r>
              <a:rPr lang="en-US" sz="1400" b="1" dirty="0"/>
              <a:t>Savings: </a:t>
            </a:r>
            <a:r>
              <a:rPr lang="en-US" sz="1400" dirty="0"/>
              <a:t>$2,250/month (90%)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F67AF-DC41-FBE0-54E0-9BCDA4475C88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EBS Snapshot Optimization</a:t>
            </a:r>
          </a:p>
        </p:txBody>
      </p:sp>
    </p:spTree>
    <p:extLst>
      <p:ext uri="{BB962C8B-B14F-4D97-AF65-F5344CB8AC3E}">
        <p14:creationId xmlns:p14="http://schemas.microsoft.com/office/powerpoint/2010/main" val="49286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5503</TotalTime>
  <Words>2512</Words>
  <Application>Microsoft Office PowerPoint</Application>
  <PresentationFormat>Widescreen</PresentationFormat>
  <Paragraphs>409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Wingdings</vt:lpstr>
      <vt:lpstr>Office Theme</vt:lpstr>
      <vt:lpstr>Cost Optimization in 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112</cp:revision>
  <dcterms:created xsi:type="dcterms:W3CDTF">2025-11-27T20:35:07Z</dcterms:created>
  <dcterms:modified xsi:type="dcterms:W3CDTF">2025-12-11T16:00:58Z</dcterms:modified>
</cp:coreProperties>
</file>