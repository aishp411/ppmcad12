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147483634" r:id="rId3"/>
    <p:sldId id="2147483635" r:id="rId4"/>
    <p:sldId id="2147483636" r:id="rId5"/>
    <p:sldId id="2147483637" r:id="rId6"/>
    <p:sldId id="2147483638" r:id="rId7"/>
    <p:sldId id="2147483639" r:id="rId8"/>
    <p:sldId id="2147483640" r:id="rId9"/>
    <p:sldId id="2147483641" r:id="rId10"/>
    <p:sldId id="2147483642" r:id="rId11"/>
    <p:sldId id="2147483643" r:id="rId12"/>
    <p:sldId id="2147483645" r:id="rId13"/>
    <p:sldId id="214748364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DE6AB4-D526-B2EA-5376-6F07F6A496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6C303-2AA6-E0E6-8E11-A3E04968C0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EBBC4-3B43-4898-9895-A691B095332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4E379-C30C-6051-BC07-0AE7E48013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626D15-3155-4942-3677-17E6118197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22681-3D6F-4718-AB00-44E0DF60D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344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ADC30201-1D22-CE6F-6A6E-D8BA712F4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4F2E0C03-D1C1-A898-42F4-74BB02937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776128C8-D7FD-9D22-62B3-E1F707D8F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089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9B9BFBE5-2E87-7FE9-4F76-AE6DD1DD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ACFCCFB4-A503-E791-9E06-374735524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54C9F18B-DE34-8FB0-2913-BDD9DC56D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435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A7BFA25A-4407-B991-9049-95E1E7D0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D9ED0402-5FA2-9D17-2F77-CA71BDB1A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8A4AC92D-3149-F93D-24FB-FB94555A3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606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983DDC3B-132A-D3CA-8F57-912E6A09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2CBBD736-03E1-B4A3-4692-678A593C6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936B8FCC-5242-93BD-1BD5-F7715D6E5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7795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AAAABB09-76E2-032A-1278-86441F0E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6A7D2BAF-8539-0E63-A52F-44B0DCF6BD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C6B7972D-29B8-DEE7-3263-79903D8C8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184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50DEC2D4-00D7-2F5D-E3F1-18CE2432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B7EAF86E-2D01-C5BA-8CA8-30CB8035CD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174013F6-9F74-714E-22CD-03C324F1D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3899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2646DC37-4A6A-7CF6-8D8D-E09083E62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26591731-C9BA-65F8-EE7D-027C941B2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19817F8D-CC69-A79C-7BCE-F24BD6246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779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660707FA-6F2D-0E6C-F4EA-305EAA5AD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FF664319-D316-708D-78D5-D90B5516F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EEB8381B-51A0-1F84-1251-7159B5DD6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6167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5576D2EB-2EB3-1407-56EF-6A6E5AB8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D6E5400F-30D1-C7CC-56AC-BD96593F18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7067C682-DAED-915A-8BFA-8627AD9B8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539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32EBB336-22E6-63FE-943A-0CCDE7B8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E38A5F14-3C50-A4CA-A818-730050308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F9BE7209-3F60-6B6A-EC79-A220A2B19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447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2A0879BE-6D3E-D728-39B7-82185198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E6E12D5F-4F12-030E-53EA-56ABA8A85B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4C46723B-CC7B-B7D2-9058-70D35286B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2713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4FD1B949-4A8D-2DD7-238F-5DA31A50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>
            <a:extLst>
              <a:ext uri="{FF2B5EF4-FFF2-40B4-BE49-F238E27FC236}">
                <a16:creationId xmlns:a16="http://schemas.microsoft.com/office/drawing/2014/main" id="{0E8AF75E-2A93-9A0B-650D-8B149E7A1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>
            <a:extLst>
              <a:ext uri="{FF2B5EF4-FFF2-40B4-BE49-F238E27FC236}">
                <a16:creationId xmlns:a16="http://schemas.microsoft.com/office/drawing/2014/main" id="{C5A4F60D-52AE-E332-4258-D9AC72352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424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r>
              <a:rPr lang="en-US" sz="8000" dirty="0">
                <a:solidFill>
                  <a:schemeClr val="bg1"/>
                </a:solidFill>
                <a:latin typeface="EquipExtended-Bold" panose="02000503000000020004" pitchFamily="50" charset="0"/>
              </a:rPr>
              <a:t>Unpacking DevOps, SRE, and Platform Engineering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583EC9F9-6A95-BEE7-B3DD-0443FBDA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3C55A8D-D751-C95E-0FF0-501DCEFD4176}"/>
              </a:ext>
            </a:extLst>
          </p:cNvPr>
          <p:cNvSpPr txBox="1">
            <a:spLocks/>
          </p:cNvSpPr>
          <p:nvPr/>
        </p:nvSpPr>
        <p:spPr>
          <a:xfrm>
            <a:off x="587260" y="667039"/>
            <a:ext cx="10515600" cy="791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quipExtended-Bold" panose="02000503000000020004" pitchFamily="50" charset="0"/>
                <a:ea typeface="+mj-ea"/>
                <a:cs typeface="+mj-cs"/>
              </a:rPr>
              <a:t>Beyond the Labels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88DBD1-F164-3212-BF31-9B8B6C9C1194}"/>
              </a:ext>
            </a:extLst>
          </p:cNvPr>
          <p:cNvSpPr txBox="1">
            <a:spLocks/>
          </p:cNvSpPr>
          <p:nvPr/>
        </p:nvSpPr>
        <p:spPr>
          <a:xfrm>
            <a:off x="975987" y="1833644"/>
            <a:ext cx="10515600" cy="493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EquipExtended-Bold" panose="02000503000000020004" pitchFamily="50" charset="0"/>
                <a:ea typeface="+mn-ea"/>
                <a:cs typeface="+mn-cs"/>
              </a:rPr>
              <a:t>Answering the Three Core Questions of Modern Engineering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EquipExtended-Bold" panose="02000503000000020004" pitchFamily="50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C188A8-2F8C-8FD2-1E35-98E925EC6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226870"/>
              </p:ext>
            </p:extLst>
          </p:nvPr>
        </p:nvGraphicFramePr>
        <p:xfrm>
          <a:off x="838200" y="2730104"/>
          <a:ext cx="10751581" cy="2782378"/>
        </p:xfrm>
        <a:graphic>
          <a:graphicData uri="http://schemas.openxmlformats.org/drawingml/2006/table">
            <a:tbl>
              <a:tblPr firstRow="1" firstCol="1" lastRow="1" lastCol="1" bandRow="1" bandCol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8195173">
                  <a:extLst>
                    <a:ext uri="{9D8B030D-6E8A-4147-A177-3AD203B41FA5}">
                      <a16:colId xmlns:a16="http://schemas.microsoft.com/office/drawing/2014/main" val="3559759135"/>
                    </a:ext>
                  </a:extLst>
                </a:gridCol>
                <a:gridCol w="2556408">
                  <a:extLst>
                    <a:ext uri="{9D8B030D-6E8A-4147-A177-3AD203B41FA5}">
                      <a16:colId xmlns:a16="http://schemas.microsoft.com/office/drawing/2014/main" val="1905122205"/>
                    </a:ext>
                  </a:extLst>
                </a:gridCol>
              </a:tblGrid>
              <a:tr h="896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1. How can we accelerate delivery of new features without sacrificing quality or security?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+mn-lt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chemeClr val="tx1"/>
                          </a:solidFill>
                          <a:latin typeface="+mn-lt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DevOps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619474"/>
                  </a:ext>
                </a:extLst>
              </a:tr>
              <a:tr h="896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+mn-lt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2. How do we keep our production services reliable, resilient, and always available?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+mn-lt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chemeClr val="tx1"/>
                          </a:solidFill>
                          <a:latin typeface="+mn-lt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SRE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+mn-lt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590769"/>
                  </a:ext>
                </a:extLst>
              </a:tr>
              <a:tr h="989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+mn-lt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3. How do we reduce infra/tooling duplication and give teams a consistent, self-service platform?                                                                                                                  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Platform Engineering</a:t>
                      </a:r>
                      <a:endParaRPr lang="en-IN" sz="2000" dirty="0">
                        <a:solidFill>
                          <a:schemeClr val="tx1"/>
                        </a:solidFill>
                        <a:latin typeface="+mn-lt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864429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70C46B0F-D427-E45D-CF1A-61C7A45BF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87" y="306765"/>
            <a:ext cx="10515600" cy="1325563"/>
          </a:xfrm>
        </p:spPr>
        <p:txBody>
          <a:bodyPr/>
          <a:lstStyle/>
          <a:p>
            <a:r>
              <a:rPr lang="en-IN" dirty="0"/>
              <a:t>Beyond the Labels</a:t>
            </a:r>
          </a:p>
        </p:txBody>
      </p:sp>
    </p:spTree>
    <p:extLst>
      <p:ext uri="{BB962C8B-B14F-4D97-AF65-F5344CB8AC3E}">
        <p14:creationId xmlns:p14="http://schemas.microsoft.com/office/powerpoint/2010/main" val="338599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8DB4EB88-16F5-7DD9-382A-E695FE1F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>
            <a:extLst>
              <a:ext uri="{FF2B5EF4-FFF2-40B4-BE49-F238E27FC236}">
                <a16:creationId xmlns:a16="http://schemas.microsoft.com/office/drawing/2014/main" id="{FF3A22D9-AD05-4F07-6502-3763F7941392}"/>
              </a:ext>
            </a:extLst>
          </p:cNvPr>
          <p:cNvSpPr txBox="1">
            <a:spLocks/>
          </p:cNvSpPr>
          <p:nvPr/>
        </p:nvSpPr>
        <p:spPr>
          <a:xfrm>
            <a:off x="621632" y="416645"/>
            <a:ext cx="10515600" cy="748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DevOps: Definition &amp; Timeline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5AE37B2-AAE3-6B01-FFF5-67E8D9B18AB1}"/>
              </a:ext>
            </a:extLst>
          </p:cNvPr>
          <p:cNvSpPr txBox="1">
            <a:spLocks/>
          </p:cNvSpPr>
          <p:nvPr/>
        </p:nvSpPr>
        <p:spPr>
          <a:xfrm>
            <a:off x="1164772" y="1419701"/>
            <a:ext cx="9972460" cy="129844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DevOps is a cultural and methodological movement that breaks down silos between Development and Operations, fostering shared ownership, rapid feedback, and automation.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Its primary goal is to streamline the software delivery pipeline so teams can release features quickly, reliably, and securely.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9F8456-F786-0CC9-580F-655E0A5FA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15" b="90000" l="696" r="96345">
                        <a14:foregroundMark x1="1131" y1="25926" x2="41688" y2="81111"/>
                        <a14:foregroundMark x1="41688" y1="81111" x2="84943" y2="61111"/>
                        <a14:foregroundMark x1="61967" y1="62593" x2="63185" y2="56296"/>
                        <a14:foregroundMark x1="56832" y1="35926" x2="59182" y2="33704"/>
                        <a14:foregroundMark x1="6005" y1="38519" x2="11314" y2="35185"/>
                        <a14:foregroundMark x1="23673" y1="31111" x2="28982" y2="37037"/>
                        <a14:foregroundMark x1="40209" y1="35926" x2="45779" y2="35185"/>
                        <a14:foregroundMark x1="45779" y1="35185" x2="38207" y2="32593"/>
                        <a14:foregroundMark x1="38207" y1="32593" x2="39948" y2="32963"/>
                        <a14:foregroundMark x1="72237" y1="35556" x2="75457" y2="32963"/>
                        <a14:foregroundMark x1="87032" y1="37037" x2="91036" y2="32222"/>
                        <a14:foregroundMark x1="59791" y1="53704" x2="61532" y2="56296"/>
                        <a14:foregroundMark x1="62924" y1="47407" x2="59356" y2="61111"/>
                        <a14:foregroundMark x1="62402" y1="48519" x2="64143" y2="43704"/>
                        <a14:foregroundMark x1="90513" y1="45556" x2="95474" y2="31852"/>
                        <a14:foregroundMark x1="95474" y1="31852" x2="96345" y2="67037"/>
                        <a14:foregroundMark x1="96345" y1="67037" x2="94865" y2="59259"/>
                        <a14:backgroundMark x1="58265" y1="11583" x2="94778" y2="12593"/>
                        <a14:backgroundMark x1="41576" y1="11121" x2="57191" y2="11553"/>
                        <a14:backgroundMark x1="25961" y1="10689" x2="40989" y2="11105"/>
                        <a14:backgroundMark x1="14447" y1="10370" x2="23387" y2="10617"/>
                        <a14:backgroundMark x1="7224" y1="10000" x2="7485" y2="6667"/>
                        <a14:backgroundMark x1="23847" y1="11481" x2="27154" y2="6667"/>
                        <a14:backgroundMark x1="7137" y1="9259" x2="12881" y2="12222"/>
                        <a14:backgroundMark x1="55788" y1="9259" x2="60400" y2="13704"/>
                        <a14:backgroundMark x1="40296" y1="8148" x2="42559" y2="9259"/>
                        <a14:backgroundMark x1="56397" y1="5556" x2="55875" y2="4815"/>
                        <a14:backgroundMark x1="55701" y1="4074" x2="60487" y2="9259"/>
                        <a14:backgroundMark x1="60487" y1="9259" x2="60052" y2="92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784" y="3620791"/>
            <a:ext cx="9755148" cy="22923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8C6AABA-0A30-8BC7-880C-2D2FFE3C68C4}"/>
              </a:ext>
            </a:extLst>
          </p:cNvPr>
          <p:cNvSpPr txBox="1"/>
          <p:nvPr/>
        </p:nvSpPr>
        <p:spPr>
          <a:xfrm>
            <a:off x="1241344" y="3160167"/>
            <a:ext cx="4638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Timelines and Milestones:</a:t>
            </a:r>
          </a:p>
        </p:txBody>
      </p:sp>
    </p:spTree>
    <p:extLst>
      <p:ext uri="{BB962C8B-B14F-4D97-AF65-F5344CB8AC3E}">
        <p14:creationId xmlns:p14="http://schemas.microsoft.com/office/powerpoint/2010/main" val="266130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C3986D11-F5EA-AB6A-CD3D-23EB3BB0E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C058C0A-57E0-1867-597B-1C6B86FFAA0B}"/>
              </a:ext>
            </a:extLst>
          </p:cNvPr>
          <p:cNvSpPr txBox="1">
            <a:spLocks/>
          </p:cNvSpPr>
          <p:nvPr/>
        </p:nvSpPr>
        <p:spPr>
          <a:xfrm>
            <a:off x="621632" y="416645"/>
            <a:ext cx="10515600" cy="748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DevOps: Key Practices &amp; Tools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66A66CE-6704-4431-75DC-BD0D452BDB27}"/>
              </a:ext>
            </a:extLst>
          </p:cNvPr>
          <p:cNvSpPr txBox="1">
            <a:spLocks/>
          </p:cNvSpPr>
          <p:nvPr/>
        </p:nvSpPr>
        <p:spPr>
          <a:xfrm>
            <a:off x="1066800" y="1606350"/>
            <a:ext cx="10417628" cy="483500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Key Practices of DevOps: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CI/CD Pipeline: Automates building, testing, scanning, and deploying code.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Infrastructure as Code (IaC): Define and manage infra through code for consistency and repeatability.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Quality Feedback Loops: Fast feedback in pipelines (e.g., automated tests, scans, code quality checks).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Core Tools: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Containers &amp; Orchestration: Docker, Kubernetes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CI/CD: Jenkins, GitLab CI/CD, GitHub Actions, Azure DevOps, CircleCI, and more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IaC: Terraform, Ansible, Chef, Puppet</a:t>
            </a:r>
          </a:p>
        </p:txBody>
      </p:sp>
    </p:spTree>
    <p:extLst>
      <p:ext uri="{BB962C8B-B14F-4D97-AF65-F5344CB8AC3E}">
        <p14:creationId xmlns:p14="http://schemas.microsoft.com/office/powerpoint/2010/main" val="3804083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C02010FB-09E3-F60F-6E99-CDC5ED0C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60702B4-4F5C-C74C-8A68-4FC9597C4506}"/>
              </a:ext>
            </a:extLst>
          </p:cNvPr>
          <p:cNvSpPr txBox="1">
            <a:spLocks/>
          </p:cNvSpPr>
          <p:nvPr/>
        </p:nvSpPr>
        <p:spPr>
          <a:xfrm>
            <a:off x="621632" y="489058"/>
            <a:ext cx="10515600" cy="748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DevOps frameworks &amp; metric anchors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21FBD07-85E6-6766-7F78-1F92FAF3CD38}"/>
              </a:ext>
            </a:extLst>
          </p:cNvPr>
          <p:cNvSpPr txBox="1">
            <a:spLocks/>
          </p:cNvSpPr>
          <p:nvPr/>
        </p:nvSpPr>
        <p:spPr>
          <a:xfrm>
            <a:off x="1254691" y="1692028"/>
            <a:ext cx="10417628" cy="110419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“How do you know if DevOps is really working in your organization?”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Tools alone don’t tell you. We need guiding principles and industry-validated metrics.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AF97E-CEA2-23DC-2FE5-CA9A8655C20C}"/>
              </a:ext>
            </a:extLst>
          </p:cNvPr>
          <p:cNvSpPr txBox="1">
            <a:spLocks/>
          </p:cNvSpPr>
          <p:nvPr/>
        </p:nvSpPr>
        <p:spPr>
          <a:xfrm>
            <a:off x="7015480" y="3429000"/>
            <a:ext cx="4656839" cy="173697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Metrics: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📊 DORA (DevOps Research &amp; Assessment)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DORA metrics let you know whether DevOps practices are delivering business outcomes.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B4258E0-7AAD-8479-4EC9-029368A626B6}"/>
              </a:ext>
            </a:extLst>
          </p:cNvPr>
          <p:cNvSpPr txBox="1">
            <a:spLocks/>
          </p:cNvSpPr>
          <p:nvPr/>
        </p:nvSpPr>
        <p:spPr>
          <a:xfrm>
            <a:off x="916963" y="3429000"/>
            <a:ext cx="4962469" cy="2057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Framework: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🧭 CAMS (Culture, Automation, Measurement, Sharing) Principles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Think of CAMS as the compass that guides how DevOps should be done</a:t>
            </a:r>
          </a:p>
        </p:txBody>
      </p:sp>
    </p:spTree>
    <p:extLst>
      <p:ext uri="{BB962C8B-B14F-4D97-AF65-F5344CB8AC3E}">
        <p14:creationId xmlns:p14="http://schemas.microsoft.com/office/powerpoint/2010/main" val="245664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94593ED2-A2A3-16D2-99AF-0117DA7F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55B078B-86CD-521F-F803-DC031F0AF03D}"/>
              </a:ext>
            </a:extLst>
          </p:cNvPr>
          <p:cNvSpPr txBox="1">
            <a:spLocks/>
          </p:cNvSpPr>
          <p:nvPr/>
        </p:nvSpPr>
        <p:spPr>
          <a:xfrm>
            <a:off x="621632" y="416645"/>
            <a:ext cx="10515600" cy="748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SRE: Definition &amp; Timeline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44D0208-7145-CCCF-FE0A-E618D832B3BB}"/>
              </a:ext>
            </a:extLst>
          </p:cNvPr>
          <p:cNvSpPr txBox="1">
            <a:spLocks/>
          </p:cNvSpPr>
          <p:nvPr/>
        </p:nvSpPr>
        <p:spPr>
          <a:xfrm>
            <a:off x="964505" y="1419701"/>
            <a:ext cx="10715866" cy="160896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Site Reliability Engineering (SRE), coined at Google in 2003, applies software engineering to operations with the goal of building scalable and highly reliable systems.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SRE focuses on improving reliability through automation, observability, and engineering practices such as Service Level Indicators (SLIs), Service Level Objectives (SLOs), and Error Budgets.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B5991-AC95-3EA1-FDD1-3009B7FDB9D7}"/>
              </a:ext>
            </a:extLst>
          </p:cNvPr>
          <p:cNvSpPr txBox="1"/>
          <p:nvPr/>
        </p:nvSpPr>
        <p:spPr>
          <a:xfrm>
            <a:off x="964505" y="3428999"/>
            <a:ext cx="4638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Timelines and Milestones: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3AB96-0D10-56D2-0E3D-8B9C91CA4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918" b="89623" l="5623" r="94810">
                        <a14:foregroundMark x1="5623" y1="29874" x2="11246" y2="29874"/>
                        <a14:foregroundMark x1="7612" y1="44340" x2="14965" y2="56289"/>
                        <a14:foregroundMark x1="29412" y1="32704" x2="35294" y2="35220"/>
                        <a14:foregroundMark x1="28633" y1="54403" x2="32785" y2="69497"/>
                        <a14:foregroundMark x1="48183" y1="31761" x2="56574" y2="40881"/>
                        <a14:foregroundMark x1="46886" y1="74214" x2="52855" y2="81761"/>
                        <a14:foregroundMark x1="52855" y1="81761" x2="53114" y2="81761"/>
                        <a14:foregroundMark x1="65571" y1="31761" x2="75433" y2="36478"/>
                        <a14:foregroundMark x1="83131" y1="30503" x2="94810" y2="62264"/>
                        <a14:foregroundMark x1="94810" y1="62264" x2="94810" y2="62264"/>
                        <a14:foregroundMark x1="43772" y1="44969" x2="48702" y2="54717"/>
                        <a14:foregroundMark x1="65311" y1="38365" x2="71021" y2="56918"/>
                        <a14:backgroundMark x1="11628" y1="16246" x2="11803" y2="16015"/>
                        <a14:backgroundMark x1="11792" y1="15957" x2="11332" y2="17296"/>
                        <a14:backgroundMark x1="12976" y1="15723" x2="12671" y2="13963"/>
                        <a14:backgroundMark x1="48039" y1="12159" x2="46713" y2="8805"/>
                        <a14:backgroundMark x1="67993" y1="14780" x2="68378" y2="12264"/>
                        <a14:backgroundMark x1="68570" y1="11950" x2="68724" y2="11653"/>
                        <a14:backgroundMark x1="68080" y1="12893" x2="68407" y2="12264"/>
                        <a14:backgroundMark x1="87111" y1="12893" x2="87630" y2="12264"/>
                        <a14:backgroundMark x1="68333" y1="10377" x2="68744" y2="11514"/>
                        <a14:backgroundMark x1="67993" y1="9434" x2="68333" y2="10377"/>
                        <a14:backgroundMark x1="51496" y1="12861" x2="54325" y2="19811"/>
                        <a14:backgroundMark x1="50606" y1="15723" x2="50937" y2="12920"/>
                        <a14:backgroundMark x1="50865" y1="15409" x2="50934" y2="12932"/>
                        <a14:backgroundMark x1="49889" y1="9137" x2="48616" y2="7862"/>
                        <a14:backgroundMark x1="69983" y1="11363" x2="70242" y2="10692"/>
                        <a14:backgroundMark x1="70675" y1="9357" x2="70675" y2="7862"/>
                        <a14:backgroundMark x1="70675" y1="14780" x2="70675" y2="13668"/>
                        <a14:backgroundMark x1="69860" y1="9765" x2="69810" y2="8805"/>
                        <a14:backgroundMark x1="69975" y1="11962" x2="69953" y2="11537"/>
                        <a14:backgroundMark x1="70076" y1="13882" x2="70050" y2="13386"/>
                        <a14:backgroundMark x1="70242" y1="11513" x2="70242" y2="10692"/>
                        <a14:backgroundMark x1="70470" y1="10377" x2="70516" y2="10562"/>
                        <a14:backgroundMark x1="70287" y1="9632" x2="70470" y2="10377"/>
                        <a14:backgroundMark x1="69464" y1="6289" x2="69992" y2="8434"/>
                        <a14:backgroundMark x1="9516" y1="12264" x2="31488" y2="5975"/>
                        <a14:backgroundMark x1="31488" y1="5975" x2="28287" y2="8805"/>
                        <a14:backgroundMark x1="30104" y1="12264" x2="32612" y2="18239"/>
                        <a14:backgroundMark x1="51384" y1="7233" x2="51125" y2="9434"/>
                        <a14:backgroundMark x1="69983" y1="12264" x2="67474" y2="8491"/>
                        <a14:backgroundMark x1="87889" y1="14780" x2="87889" y2="9748"/>
                        <a14:backgroundMark x1="49481" y1="12893" x2="52163" y2="9748"/>
                        <a14:backgroundMark x1="70242" y1="12893" x2="71713" y2="6289"/>
                        <a14:backgroundMark x1="88754" y1="11321" x2="88754" y2="11321"/>
                        <a14:backgroundMark x1="89100" y1="12264" x2="87889" y2="9434"/>
                        <a14:backgroundMark x1="89100" y1="9434" x2="89619" y2="4717"/>
                        <a14:backgroundMark x1="89100" y1="10692" x2="90052" y2="12264"/>
                        <a14:backgroundMark x1="69550" y1="12893" x2="73010" y2="9434"/>
                        <a14:backgroundMark x1="88754" y1="10377" x2="88062" y2="12893"/>
                        <a14:backgroundMark x1="69810" y1="11950" x2="70415" y2="9748"/>
                        <a14:backgroundMark x1="69031" y1="10377" x2="72232" y2="12264"/>
                        <a14:backgroundMark x1="9516" y1="11321" x2="10467" y2="12264"/>
                        <a14:backgroundMark x1="88754" y1="8491" x2="89533" y2="97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7602" y="3798331"/>
            <a:ext cx="9423660" cy="250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43F3F63A-004A-3AD5-631E-679FCD0A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6AB484A-0A63-EDCD-2A50-6B524B7820AB}"/>
              </a:ext>
            </a:extLst>
          </p:cNvPr>
          <p:cNvSpPr txBox="1">
            <a:spLocks/>
          </p:cNvSpPr>
          <p:nvPr/>
        </p:nvSpPr>
        <p:spPr>
          <a:xfrm>
            <a:off x="621632" y="416645"/>
            <a:ext cx="10515600" cy="748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SRE: Key Practices &amp; core Tools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29E7ED5-76F1-02F1-CBEE-82BD0448E03E}"/>
              </a:ext>
            </a:extLst>
          </p:cNvPr>
          <p:cNvSpPr txBox="1">
            <a:spLocks/>
          </p:cNvSpPr>
          <p:nvPr/>
        </p:nvSpPr>
        <p:spPr>
          <a:xfrm>
            <a:off x="621632" y="1194120"/>
            <a:ext cx="10972800" cy="511899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Key Practices of SRE: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Automation at Scale: Automating capacity management, scaling, and recovery of production services.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Disaster Recovery with IaC: Using IaC to enable one-command disaster recovery and reproducible environments.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Error Budgets &amp; SLOs: Balancing feature velocity and system stability through SLOs and data-driven Error Budgets.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Observability &amp; Proactive Monitoring: Building robust monitoring, logging, and tracing to detect and resolve issues early.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Core Tools: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Monitoring &amp; Observability: Prometheus, Grafana, Datadog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Incident Management: PagerDuty,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Opsgenie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, incident.io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Chaos &amp; Resilience Testing: Chaos Monkey, Gremlin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Infrastructure Management (IaC): Terraform, Ansible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Scripting &amp; Automation: Python, Shell, PowerShell, Go</a:t>
            </a:r>
          </a:p>
        </p:txBody>
      </p:sp>
    </p:spTree>
    <p:extLst>
      <p:ext uri="{BB962C8B-B14F-4D97-AF65-F5344CB8AC3E}">
        <p14:creationId xmlns:p14="http://schemas.microsoft.com/office/powerpoint/2010/main" val="67934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E9E96827-FAAA-B66A-2CD0-1E12E71B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CE06250-690A-58FA-6706-8A1EE589DA05}"/>
              </a:ext>
            </a:extLst>
          </p:cNvPr>
          <p:cNvSpPr txBox="1">
            <a:spLocks/>
          </p:cNvSpPr>
          <p:nvPr/>
        </p:nvSpPr>
        <p:spPr>
          <a:xfrm>
            <a:off x="621632" y="416645"/>
            <a:ext cx="10515600" cy="748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Concrete SRE Playbook &amp; Reliability Anchors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C8993CF-492C-49B6-7C52-A5E11EEE0A73}"/>
              </a:ext>
            </a:extLst>
          </p:cNvPr>
          <p:cNvSpPr txBox="1">
            <a:spLocks/>
          </p:cNvSpPr>
          <p:nvPr/>
        </p:nvSpPr>
        <p:spPr>
          <a:xfrm>
            <a:off x="1482098" y="1353825"/>
            <a:ext cx="10417628" cy="110419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“Once you’re shipping fast, how do you keep it reliable in production?”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That’s where the SRE playbook and reliability anchors come in.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13568-EA45-BA5B-E8F7-3C59B995FB13}"/>
              </a:ext>
            </a:extLst>
          </p:cNvPr>
          <p:cNvSpPr txBox="1">
            <a:spLocks/>
          </p:cNvSpPr>
          <p:nvPr/>
        </p:nvSpPr>
        <p:spPr>
          <a:xfrm>
            <a:off x="6496121" y="2647072"/>
            <a:ext cx="5373666" cy="38524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Practices in Action: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⚙️ Incident Response: Clear roles (incident commander), runbooks, blameless reviews.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⚙️ Toil Reduction: Automate repetitive ops tasks.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⚙️ One-Click DR: Automated DR failover for mission critical apps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⚙️ Chaos &amp; Resilience Engineering: Planned failure injection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These are the daily practices that operationalize reliability in production.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72012FD-1D4D-0803-19DC-FC9994AE1A6C}"/>
              </a:ext>
            </a:extLst>
          </p:cNvPr>
          <p:cNvSpPr txBox="1">
            <a:spLocks/>
          </p:cNvSpPr>
          <p:nvPr/>
        </p:nvSpPr>
        <p:spPr>
          <a:xfrm>
            <a:off x="820380" y="2647072"/>
            <a:ext cx="5275620" cy="371083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Framework &amp; Anchors: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🧭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Golden Signals: Latency, Traffic, Errors, Saturation (practical observability baseline).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🧭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SLI → SLO → SLA: Define indicators, set objectives, reserve agreements for customer contracts.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🧭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Error Budget Policy: Alerts when burn rate crosses thresholds → release pace adapts.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Think of these as the guardrails that keep reliability measurable and enforceable.</a:t>
            </a:r>
          </a:p>
        </p:txBody>
      </p:sp>
    </p:spTree>
    <p:extLst>
      <p:ext uri="{BB962C8B-B14F-4D97-AF65-F5344CB8AC3E}">
        <p14:creationId xmlns:p14="http://schemas.microsoft.com/office/powerpoint/2010/main" val="2687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D8BE297C-E4AE-AE0C-7C67-A249B469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628443E-27A3-E247-239D-FBD9C70542C4}"/>
              </a:ext>
            </a:extLst>
          </p:cNvPr>
          <p:cNvSpPr txBox="1">
            <a:spLocks/>
          </p:cNvSpPr>
          <p:nvPr/>
        </p:nvSpPr>
        <p:spPr>
          <a:xfrm>
            <a:off x="634158" y="492248"/>
            <a:ext cx="10515600" cy="748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Platform Engineering: Definition &amp; Timeline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4B2CB66-9A3C-0E0A-19E4-C8B2958640C6}"/>
              </a:ext>
            </a:extLst>
          </p:cNvPr>
          <p:cNvSpPr txBox="1">
            <a:spLocks/>
          </p:cNvSpPr>
          <p:nvPr/>
        </p:nvSpPr>
        <p:spPr>
          <a:xfrm>
            <a:off x="964504" y="1419700"/>
            <a:ext cx="10835013" cy="187464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Platform Engineering is an emerging discipline focused on building Internal Developer Platforms (IDPs) that abstract infrastructure complexity and provide developers with consistent, self-service workflows.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Platform engineers design curated “paved roads” - standardized CI/CD pipelines, runtimes, and environments so teams can ship software quickly without reinventing infrastructure. The goal is to reduce developer cognitive load, increase consistency, and scale DevOps practices across the organization.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627E6-7B67-3EC1-63CF-935442B6E806}"/>
              </a:ext>
            </a:extLst>
          </p:cNvPr>
          <p:cNvSpPr txBox="1"/>
          <p:nvPr/>
        </p:nvSpPr>
        <p:spPr>
          <a:xfrm>
            <a:off x="964504" y="3563656"/>
            <a:ext cx="4638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Timelines and Milestones: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C1467-9A86-9E93-6DB4-708C81626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2115" r="97797">
                        <a14:foregroundMark x1="9427" y1="25556" x2="9427" y2="25556"/>
                        <a14:foregroundMark x1="7577" y1="14815" x2="12775" y2="48148"/>
                        <a14:foregroundMark x1="2115" y1="16667" x2="5198" y2="43333"/>
                        <a14:foregroundMark x1="24670" y1="13333" x2="35419" y2="60000"/>
                        <a14:foregroundMark x1="35419" y1="60000" x2="35419" y2="60000"/>
                        <a14:foregroundMark x1="44670" y1="16667" x2="56828" y2="58889"/>
                        <a14:foregroundMark x1="68018" y1="12593" x2="77445" y2="53704"/>
                        <a14:foregroundMark x1="88194" y1="15556" x2="97797" y2="67037"/>
                        <a14:foregroundMark x1="87225" y1="16296" x2="92247" y2="34444"/>
                        <a14:foregroundMark x1="85463" y1="17407" x2="94802" y2="17407"/>
                        <a14:foregroundMark x1="28634" y1="18519" x2="31982" y2="18519"/>
                        <a14:foregroundMark x1="49075" y1="16296" x2="53568" y2="1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1140" y="4202299"/>
            <a:ext cx="8875829" cy="211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8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30DA0BE5-A003-A2C4-F244-2618860E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2F5B9F7-3C28-0303-A5E6-20740CECC6C6}"/>
              </a:ext>
            </a:extLst>
          </p:cNvPr>
          <p:cNvSpPr txBox="1">
            <a:spLocks/>
          </p:cNvSpPr>
          <p:nvPr/>
        </p:nvSpPr>
        <p:spPr>
          <a:xfrm>
            <a:off x="621632" y="416645"/>
            <a:ext cx="10515600" cy="748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Platform Engineering : Key Practices &amp; core Tools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E035ED-624C-8A0F-0902-30C3D418BA0E}"/>
              </a:ext>
            </a:extLst>
          </p:cNvPr>
          <p:cNvSpPr txBox="1">
            <a:spLocks/>
          </p:cNvSpPr>
          <p:nvPr/>
        </p:nvSpPr>
        <p:spPr>
          <a:xfrm>
            <a:off x="521424" y="1385848"/>
            <a:ext cx="11461512" cy="515273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Key Practices of Platform Engineering: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Build Internal Developer Platforms (IDPs): Curated “paved roads” that give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devs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standard workflows for CI/CD, environments, and deployments.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Enable Self-Service: Developers can provision infrastructure, databases, and environments without tickets.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Abstract Complexity: Hide infra details behind APIs and portals to reduce cognitive load.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Standardize &amp; Integrate: Provide consistent pipelines, monitoring, and security guardrails across teams.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Embed Governance &amp; Security: Ensure compliance, access control, and policies are baked into the platform.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Core Tools: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Developer Portals (Frontend): Spotify Backstage (industry leader), Port, AWS Amplify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Platform Orchestration (Backend):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Humanitec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(provisioning logic &amp; workflows),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Crossplane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Infrastructure &amp;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GitOps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: Terraform,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ArgoCD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GitOps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),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Crossplane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Shared Foundations: Kubernetes (orchestration), Prometheus (monitoring), GitLab CI/GitHub Actions (CI/CD),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HashiCorp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Vault (secrets)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🚀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Policy &amp; Security: OPA/Gatekeeper, Kyverno (policy enforcement)</a:t>
            </a:r>
          </a:p>
        </p:txBody>
      </p:sp>
    </p:spTree>
    <p:extLst>
      <p:ext uri="{BB962C8B-B14F-4D97-AF65-F5344CB8AC3E}">
        <p14:creationId xmlns:p14="http://schemas.microsoft.com/office/powerpoint/2010/main" val="256852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A40CE11F-8429-C393-F4EA-DEC52C45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A70FF6E-17F7-982B-3149-DC4D26AA1D6C}"/>
              </a:ext>
            </a:extLst>
          </p:cNvPr>
          <p:cNvSpPr txBox="1">
            <a:spLocks/>
          </p:cNvSpPr>
          <p:nvPr/>
        </p:nvSpPr>
        <p:spPr>
          <a:xfrm>
            <a:off x="619791" y="540277"/>
            <a:ext cx="11154316" cy="7264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Platform Engineering as a Product: KPIs &amp; Architecture Anchors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F3FD0F5-CB51-BBE4-5C2C-3AB7466107D5}"/>
              </a:ext>
            </a:extLst>
          </p:cNvPr>
          <p:cNvSpPr txBox="1">
            <a:spLocks/>
          </p:cNvSpPr>
          <p:nvPr/>
        </p:nvSpPr>
        <p:spPr>
          <a:xfrm>
            <a:off x="436911" y="1419754"/>
            <a:ext cx="3697601" cy="47903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Product Mindset (Principle)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🧭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Treat platform as a product consumed by developers.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🧭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Requires cross-functional team: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Platform Product Manager (prioritization &amp; roadmap)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Platform/SRE Engineers (build &amp; run reliably)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UI Developer and UX Designer (optimize developer portal experience)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Not just infra builders, but product thinkers.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C04B0-3660-D4ED-4397-7649BA1C47B2}"/>
              </a:ext>
            </a:extLst>
          </p:cNvPr>
          <p:cNvSpPr txBox="1">
            <a:spLocks/>
          </p:cNvSpPr>
          <p:nvPr/>
        </p:nvSpPr>
        <p:spPr>
          <a:xfrm>
            <a:off x="8383639" y="1397203"/>
            <a:ext cx="3583571" cy="529124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Architecture Anchors (Practices)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⚙️ Governance &amp; Policy-as-Code: OPA/Gatekeeper, Kyverno.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⚙️ Secrets &amp; Compliance: Vault, integrated compliance checkers.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⚙️ IDP Architecture Patterns: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Portal → Backstage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Backplane/Orchestration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Humanitec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Crossplane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GitOps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ArgoCD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IaC Modules → Terraform, Pulumi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Together, these form the internal developer platform stack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975BAA6-091F-A731-C32D-9B793B6D9D58}"/>
              </a:ext>
            </a:extLst>
          </p:cNvPr>
          <p:cNvSpPr txBox="1">
            <a:spLocks/>
          </p:cNvSpPr>
          <p:nvPr/>
        </p:nvSpPr>
        <p:spPr>
          <a:xfrm>
            <a:off x="4359889" y="1419754"/>
            <a:ext cx="3697601" cy="47903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Platform KPIs (Measurement)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📊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Time to First Commit/Deploy → how fast a new dev can onboard.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📊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Platform Adoption Rate → % of services/apps using the platform.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📊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Self-Service Success Rate → % of requests completed without human intervention.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📊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Mean Time to Provision Infra → speed of environment creation.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📊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Cost per Environment → efficiency &amp; ROI.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Ebrima" panose="02000000000000000000" pitchFamily="2" charset="0"/>
                <a:cs typeface="Ebrima" panose="02000000000000000000" pitchFamily="2" charset="0"/>
              </a:rPr>
              <a:t>👉 Think of these as the guardrails that keep reliability measurable and enforceable.</a:t>
            </a:r>
          </a:p>
        </p:txBody>
      </p:sp>
    </p:spTree>
    <p:extLst>
      <p:ext uri="{BB962C8B-B14F-4D97-AF65-F5344CB8AC3E}">
        <p14:creationId xmlns:p14="http://schemas.microsoft.com/office/powerpoint/2010/main" val="345700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CD4651DB-9342-372E-54CB-A25CF7E5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8FA03AC-E08C-64D1-43B0-591ECD9219A4}"/>
              </a:ext>
            </a:extLst>
          </p:cNvPr>
          <p:cNvSpPr txBox="1">
            <a:spLocks/>
          </p:cNvSpPr>
          <p:nvPr/>
        </p:nvSpPr>
        <p:spPr>
          <a:xfrm>
            <a:off x="619791" y="540277"/>
            <a:ext cx="11154316" cy="726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1-Page Cheat Sheet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B0E634C2-F129-8EDC-3233-6859D12356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6264670"/>
              </p:ext>
            </p:extLst>
          </p:nvPr>
        </p:nvGraphicFramePr>
        <p:xfrm>
          <a:off x="816547" y="1411951"/>
          <a:ext cx="10957560" cy="4963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390">
                  <a:extLst>
                    <a:ext uri="{9D8B030D-6E8A-4147-A177-3AD203B41FA5}">
                      <a16:colId xmlns:a16="http://schemas.microsoft.com/office/drawing/2014/main" val="1889866023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944150986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2413707870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439759810"/>
                    </a:ext>
                  </a:extLst>
                </a:gridCol>
              </a:tblGrid>
              <a:tr h="3749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Aspect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DevOps 🚀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SRE 🛡️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Platform Engineering 🏗️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63316"/>
                  </a:ext>
                </a:extLst>
              </a:tr>
              <a:tr h="5713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</a:rPr>
                        <a:t>Core Question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How can we ship faster?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How do we keep it reliable?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How do we reduce complexity for everyone?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704887"/>
                  </a:ext>
                </a:extLst>
              </a:tr>
              <a:tr h="5713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</a:rPr>
                        <a:t>Definition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Culture + automation for faster software delivery (CI/CD).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Treating ops as software to ensure reliability &amp; resilience.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Building Internal Developer Platforms (IDPs) &amp; golden paths for consistency.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194059"/>
                  </a:ext>
                </a:extLst>
              </a:tr>
              <a:tr h="7677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</a:rPr>
                        <a:t>Key Functions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1200" dirty="0">
                          <a:solidFill>
                            <a:schemeClr val="tx1"/>
                          </a:solidFill>
                          <a:effectLst/>
                        </a:rPr>
                        <a:t>CI/CD pipelines, </a:t>
                      </a:r>
                      <a:r>
                        <a:rPr lang="fr-FR" sz="1200" dirty="0" err="1">
                          <a:solidFill>
                            <a:schemeClr val="tx1"/>
                          </a:solidFill>
                          <a:effectLst/>
                        </a:rPr>
                        <a:t>containerization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  <a:effectLst/>
                        </a:rPr>
                        <a:t>, infra automation.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Monitoring, incident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effectLst/>
                        </a:rPr>
                        <a:t>mgmt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, auto-scaling, DR automation, chaos testing.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Standardization, self-service infra, developer portals, reducing cognitive load.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181314"/>
                  </a:ext>
                </a:extLst>
              </a:tr>
              <a:tr h="7677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</a:rPr>
                        <a:t>Major Tools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Docker, Kubernetes, Jenkins, GitLab CI, Terraform, Ansible.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200" dirty="0">
                          <a:solidFill>
                            <a:schemeClr val="tx1"/>
                          </a:solidFill>
                          <a:effectLst/>
                        </a:rPr>
                        <a:t>Prometheus, Grafana, Datadog, PagerDuty, Terraform (DR), Chaos Monkey.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Backstage,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  <a:effectLst/>
                        </a:rPr>
                        <a:t>Humanitec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, Terraform,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  <a:effectLst/>
                        </a:rPr>
                        <a:t>Crossplane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, Jenkins,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  <a:effectLst/>
                        </a:rPr>
                        <a:t>ArgoCD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992367"/>
                  </a:ext>
                </a:extLst>
              </a:tr>
              <a:tr h="5713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</a:rPr>
                        <a:t>Big Tech Examples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Amazon (Apollo system), Netflix (rapid releases).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Google (SRE pioneers), Netflix (Chaos Engineering).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Spotify (Backstage), Netflix/Uber (paved roads).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234631"/>
                  </a:ext>
                </a:extLst>
              </a:tr>
              <a:tr h="7677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</a:rPr>
                        <a:t>When to Hire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Releases are slow, manual, and risky. Every deployment is a big event.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We’re constantly firefighting. On-call is burned out and we lack reliability data.”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Every project team reinvents the wheel. Onboarding takes forever, no consistency.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079539"/>
                  </a:ext>
                </a:extLst>
              </a:tr>
              <a:tr h="5713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</a:rPr>
                        <a:t>Biggest Pain Point Solved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Slow/manual deployments.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  <a:effectLst/>
                        </a:rPr>
                        <a:t>Outages, burnout, reliability gaps.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Tool sprawl, duplication, cognitive load.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014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08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B1769261-0D1A-5D69-BCF9-D0067BE3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ACA8051-D837-7339-E10F-D62A13DC5109}"/>
              </a:ext>
            </a:extLst>
          </p:cNvPr>
          <p:cNvSpPr txBox="1">
            <a:spLocks/>
          </p:cNvSpPr>
          <p:nvPr/>
        </p:nvSpPr>
        <p:spPr>
          <a:xfrm>
            <a:off x="961268" y="3103763"/>
            <a:ext cx="6527104" cy="6504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85251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1458</Words>
  <Application>Microsoft Office PowerPoint</Application>
  <PresentationFormat>Widescreen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EquipExtended-Bold</vt:lpstr>
      <vt:lpstr>Office Theme</vt:lpstr>
      <vt:lpstr>Unpacking DevOps, SRE, and Platform Engineering</vt:lpstr>
      <vt:lpstr>Beyond the Labels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186</cp:revision>
  <dcterms:created xsi:type="dcterms:W3CDTF">2025-11-27T20:35:07Z</dcterms:created>
  <dcterms:modified xsi:type="dcterms:W3CDTF">2025-12-15T13:50:50Z</dcterms:modified>
</cp:coreProperties>
</file>