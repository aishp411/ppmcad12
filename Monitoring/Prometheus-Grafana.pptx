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308" r:id="rId4"/>
    <p:sldId id="347" r:id="rId5"/>
    <p:sldId id="316" r:id="rId6"/>
    <p:sldId id="318" r:id="rId7"/>
    <p:sldId id="345" r:id="rId8"/>
    <p:sldId id="349" r:id="rId9"/>
    <p:sldId id="351" r:id="rId10"/>
    <p:sldId id="350" r:id="rId11"/>
    <p:sldId id="352" r:id="rId12"/>
  </p:sldIdLst>
  <p:sldSz cx="9144000" cy="5143500" type="screen16x9"/>
  <p:notesSz cx="6858000" cy="9144000"/>
  <p:embeddedFontLst>
    <p:embeddedFont>
      <p:font typeface="Old Standard TT" panose="020B0604020202020204" charset="0"/>
      <p:regular r:id="rId14"/>
      <p:bold r:id="rId15"/>
      <p: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940" y="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c6f90357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c6f90357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c6f90357f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c6f90357f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>
          <a:extLst>
            <a:ext uri="{FF2B5EF4-FFF2-40B4-BE49-F238E27FC236}">
              <a16:creationId xmlns:a16="http://schemas.microsoft.com/office/drawing/2014/main" id="{A011F7D1-4174-65E0-AE0C-62E2DEF68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1ad97d778f_0_162:notes">
            <a:extLst>
              <a:ext uri="{FF2B5EF4-FFF2-40B4-BE49-F238E27FC236}">
                <a16:creationId xmlns:a16="http://schemas.microsoft.com/office/drawing/2014/main" id="{60F6476B-1613-28C1-1F50-2BF47FA734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31ad97d778f_0_162:notes">
            <a:extLst>
              <a:ext uri="{FF2B5EF4-FFF2-40B4-BE49-F238E27FC236}">
                <a16:creationId xmlns:a16="http://schemas.microsoft.com/office/drawing/2014/main" id="{EE29D1AE-F6FC-3E99-D68B-742C32FE5B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537928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>
          <a:extLst>
            <a:ext uri="{FF2B5EF4-FFF2-40B4-BE49-F238E27FC236}">
              <a16:creationId xmlns:a16="http://schemas.microsoft.com/office/drawing/2014/main" id="{DA35F89D-D70E-0202-9B51-A548CE942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1ad97d778f_0_162:notes">
            <a:extLst>
              <a:ext uri="{FF2B5EF4-FFF2-40B4-BE49-F238E27FC236}">
                <a16:creationId xmlns:a16="http://schemas.microsoft.com/office/drawing/2014/main" id="{F340E65D-F60D-46F7-D792-1D613B2C43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31ad97d778f_0_162:notes">
            <a:extLst>
              <a:ext uri="{FF2B5EF4-FFF2-40B4-BE49-F238E27FC236}">
                <a16:creationId xmlns:a16="http://schemas.microsoft.com/office/drawing/2014/main" id="{4BA137FF-5F5E-9E3F-7064-25AE8B44F0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779108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>
          <a:extLst>
            <a:ext uri="{FF2B5EF4-FFF2-40B4-BE49-F238E27FC236}">
              <a16:creationId xmlns:a16="http://schemas.microsoft.com/office/drawing/2014/main" id="{289B85F8-49D9-906F-87D6-2617E539B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1ad97d778f_0_162:notes">
            <a:extLst>
              <a:ext uri="{FF2B5EF4-FFF2-40B4-BE49-F238E27FC236}">
                <a16:creationId xmlns:a16="http://schemas.microsoft.com/office/drawing/2014/main" id="{5BA1F0D9-0CF3-BC3F-1136-0C4CED374C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31ad97d778f_0_162:notes">
            <a:extLst>
              <a:ext uri="{FF2B5EF4-FFF2-40B4-BE49-F238E27FC236}">
                <a16:creationId xmlns:a16="http://schemas.microsoft.com/office/drawing/2014/main" id="{573C5764-98FF-EAB7-E44E-E2C97A46AAD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901472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>
          <a:extLst>
            <a:ext uri="{FF2B5EF4-FFF2-40B4-BE49-F238E27FC236}">
              <a16:creationId xmlns:a16="http://schemas.microsoft.com/office/drawing/2014/main" id="{6FF111C4-3D2D-0A49-C53E-278B1D3E7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1ad97d778f_0_162:notes">
            <a:extLst>
              <a:ext uri="{FF2B5EF4-FFF2-40B4-BE49-F238E27FC236}">
                <a16:creationId xmlns:a16="http://schemas.microsoft.com/office/drawing/2014/main" id="{864FDDCD-41D2-5439-8D75-688EDB1AE0C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31ad97d778f_0_162:notes">
            <a:extLst>
              <a:ext uri="{FF2B5EF4-FFF2-40B4-BE49-F238E27FC236}">
                <a16:creationId xmlns:a16="http://schemas.microsoft.com/office/drawing/2014/main" id="{9D6B2CE6-1523-7515-4D39-ACE6433952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894452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>
          <a:extLst>
            <a:ext uri="{FF2B5EF4-FFF2-40B4-BE49-F238E27FC236}">
              <a16:creationId xmlns:a16="http://schemas.microsoft.com/office/drawing/2014/main" id="{EB7EED13-CA4F-CC0C-AF13-E882C41F04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1ad97d778f_0_162:notes">
            <a:extLst>
              <a:ext uri="{FF2B5EF4-FFF2-40B4-BE49-F238E27FC236}">
                <a16:creationId xmlns:a16="http://schemas.microsoft.com/office/drawing/2014/main" id="{A2B437A1-5253-B219-309C-EB245C51CD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31ad97d778f_0_162:notes">
            <a:extLst>
              <a:ext uri="{FF2B5EF4-FFF2-40B4-BE49-F238E27FC236}">
                <a16:creationId xmlns:a16="http://schemas.microsoft.com/office/drawing/2014/main" id="{9D18FAA5-29B2-6FF5-D001-EB62EA1079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399251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>
          <a:extLst>
            <a:ext uri="{FF2B5EF4-FFF2-40B4-BE49-F238E27FC236}">
              <a16:creationId xmlns:a16="http://schemas.microsoft.com/office/drawing/2014/main" id="{C0DE5CF7-4AE6-DBC0-4A9E-5E2078807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1ad97d778f_0_162:notes">
            <a:extLst>
              <a:ext uri="{FF2B5EF4-FFF2-40B4-BE49-F238E27FC236}">
                <a16:creationId xmlns:a16="http://schemas.microsoft.com/office/drawing/2014/main" id="{88F9A29B-F56C-3451-D6E4-59901F3F81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31ad97d778f_0_162:notes">
            <a:extLst>
              <a:ext uri="{FF2B5EF4-FFF2-40B4-BE49-F238E27FC236}">
                <a16:creationId xmlns:a16="http://schemas.microsoft.com/office/drawing/2014/main" id="{22D42F81-9FCE-482D-FDCA-F42F06056A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935273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>
          <a:extLst>
            <a:ext uri="{FF2B5EF4-FFF2-40B4-BE49-F238E27FC236}">
              <a16:creationId xmlns:a16="http://schemas.microsoft.com/office/drawing/2014/main" id="{A2582D10-5C02-41DD-793F-813D20248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1ad97d778f_0_162:notes">
            <a:extLst>
              <a:ext uri="{FF2B5EF4-FFF2-40B4-BE49-F238E27FC236}">
                <a16:creationId xmlns:a16="http://schemas.microsoft.com/office/drawing/2014/main" id="{E89EB5F0-47B9-BE2C-4ADD-DCAE187477E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31ad97d778f_0_162:notes">
            <a:extLst>
              <a:ext uri="{FF2B5EF4-FFF2-40B4-BE49-F238E27FC236}">
                <a16:creationId xmlns:a16="http://schemas.microsoft.com/office/drawing/2014/main" id="{CE4FFE9D-1A21-FD51-774D-4848A980D70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972575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>
          <a:extLst>
            <a:ext uri="{FF2B5EF4-FFF2-40B4-BE49-F238E27FC236}">
              <a16:creationId xmlns:a16="http://schemas.microsoft.com/office/drawing/2014/main" id="{6364B820-7AB9-FEE4-5D82-CE04BA0CEC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1ad97d778f_0_162:notes">
            <a:extLst>
              <a:ext uri="{FF2B5EF4-FFF2-40B4-BE49-F238E27FC236}">
                <a16:creationId xmlns:a16="http://schemas.microsoft.com/office/drawing/2014/main" id="{57ADD164-D2B6-3360-49BB-43FA5B728C0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31ad97d778f_0_162:notes">
            <a:extLst>
              <a:ext uri="{FF2B5EF4-FFF2-40B4-BE49-F238E27FC236}">
                <a16:creationId xmlns:a16="http://schemas.microsoft.com/office/drawing/2014/main" id="{A038F34E-255F-C02D-8458-704F6AD46D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777794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>
          <a:extLst>
            <a:ext uri="{FF2B5EF4-FFF2-40B4-BE49-F238E27FC236}">
              <a16:creationId xmlns:a16="http://schemas.microsoft.com/office/drawing/2014/main" id="{AAF65F5F-A3CD-5C98-CF56-7D509F4C9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1ad97d778f_0_162:notes">
            <a:extLst>
              <a:ext uri="{FF2B5EF4-FFF2-40B4-BE49-F238E27FC236}">
                <a16:creationId xmlns:a16="http://schemas.microsoft.com/office/drawing/2014/main" id="{F6D425AE-5977-DF7B-A059-9654964A4D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31ad97d778f_0_162:notes">
            <a:extLst>
              <a:ext uri="{FF2B5EF4-FFF2-40B4-BE49-F238E27FC236}">
                <a16:creationId xmlns:a16="http://schemas.microsoft.com/office/drawing/2014/main" id="{29A3A73D-108B-480C-6BDA-DAD185074F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775454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100"/>
            <a:ext cx="9144000" cy="1711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3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1"/>
          </p:nvPr>
        </p:nvSpPr>
        <p:spPr>
          <a:xfrm>
            <a:off x="311700" y="1171675"/>
            <a:ext cx="3999900" cy="33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2"/>
          </p:nvPr>
        </p:nvSpPr>
        <p:spPr>
          <a:xfrm>
            <a:off x="4832400" y="1171675"/>
            <a:ext cx="3999900" cy="33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lt2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6864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2" name="Google Shape;42;p9"/>
          <p:cNvSpPr txBox="1">
            <a:spLocks noGrp="1"/>
          </p:cNvSpPr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8" name="Google Shape;48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039650"/>
            <a:ext cx="8520600" cy="210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>
            <a:spLocks noGrp="1"/>
          </p:cNvSpPr>
          <p:nvPr>
            <p:ph type="body" idx="1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paperback">
    <p:bg>
      <p:bgPr>
        <a:solidFill>
          <a:schemeClr val="accen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Char char="●"/>
              <a:defRPr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>
            <a:spLocks noGrp="1"/>
          </p:cNvSpPr>
          <p:nvPr>
            <p:ph type="ctrTitle"/>
          </p:nvPr>
        </p:nvSpPr>
        <p:spPr>
          <a:xfrm>
            <a:off x="512700" y="1918607"/>
            <a:ext cx="8118600" cy="146957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Prometheus and Grafana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>
            <a:spLocks noGrp="1"/>
          </p:cNvSpPr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66" name="Google Shape;66;p14"/>
          <p:cNvSpPr txBox="1">
            <a:spLocks noGrp="1"/>
          </p:cNvSpPr>
          <p:nvPr>
            <p:ph type="body" idx="2"/>
          </p:nvPr>
        </p:nvSpPr>
        <p:spPr>
          <a:xfrm>
            <a:off x="4926225" y="408214"/>
            <a:ext cx="3837000" cy="388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-IN" sz="1400" dirty="0"/>
              <a:t>Prometheus</a:t>
            </a: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-IN" sz="1400" dirty="0"/>
              <a:t>Grafana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>
          <a:extLst>
            <a:ext uri="{FF2B5EF4-FFF2-40B4-BE49-F238E27FC236}">
              <a16:creationId xmlns:a16="http://schemas.microsoft.com/office/drawing/2014/main" id="{645C040E-7A56-08CB-FBFE-326C58DC75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58">
            <a:extLst>
              <a:ext uri="{FF2B5EF4-FFF2-40B4-BE49-F238E27FC236}">
                <a16:creationId xmlns:a16="http://schemas.microsoft.com/office/drawing/2014/main" id="{B0F15600-5341-3130-6F03-203D8156D40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100005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dirty="0"/>
              <a:t>Prometheus - Open-Source Monitoring for Cloud Native Environments</a:t>
            </a:r>
          </a:p>
        </p:txBody>
      </p:sp>
      <p:sp>
        <p:nvSpPr>
          <p:cNvPr id="335" name="Google Shape;335;p58">
            <a:extLst>
              <a:ext uri="{FF2B5EF4-FFF2-40B4-BE49-F238E27FC236}">
                <a16:creationId xmlns:a16="http://schemas.microsoft.com/office/drawing/2014/main" id="{A5D6F713-4FFF-34D7-5DD7-CC3F74871F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1" y="1559379"/>
            <a:ext cx="8293457" cy="326571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>
              <a:buNone/>
            </a:pPr>
            <a:r>
              <a:rPr lang="en-US" sz="1200" b="1" dirty="0">
                <a:latin typeface="+mj-lt"/>
              </a:rPr>
              <a:t>What is Prometheus?</a:t>
            </a:r>
          </a:p>
          <a:p>
            <a:pPr marL="139700" indent="0">
              <a:buNone/>
            </a:pPr>
            <a:r>
              <a:rPr lang="en-US" sz="1200" dirty="0">
                <a:latin typeface="+mj-lt"/>
              </a:rPr>
              <a:t>Prometheus is a tool that watches over the systems and collects important information, like CPU usage, memory usage, or number of errors, so we can know what is happening and fix problems quickly</a:t>
            </a:r>
          </a:p>
          <a:p>
            <a:pPr marL="139700" indent="0">
              <a:buNone/>
            </a:pPr>
            <a:endParaRPr lang="en-US" sz="1200" dirty="0">
              <a:latin typeface="+mj-lt"/>
            </a:endParaRPr>
          </a:p>
          <a:p>
            <a:pPr marL="139700" indent="0">
              <a:buNone/>
            </a:pPr>
            <a:r>
              <a:rPr lang="en-US" sz="1200" dirty="0">
                <a:latin typeface="+mj-lt"/>
              </a:rPr>
              <a:t>Prometheus collects, stores, and lets you query data about your systems in real-time.</a:t>
            </a:r>
          </a:p>
          <a:p>
            <a:pPr marL="139700" indent="0">
              <a:buNone/>
            </a:pPr>
            <a:endParaRPr lang="en-US" sz="1200" b="1" dirty="0">
              <a:latin typeface="+mj-lt"/>
            </a:endParaRPr>
          </a:p>
          <a:p>
            <a:pPr marL="139700" indent="0">
              <a:buNone/>
            </a:pPr>
            <a:r>
              <a:rPr lang="en-US" sz="1200" b="1" dirty="0">
                <a:latin typeface="+mj-lt"/>
              </a:rPr>
              <a:t>Features: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latin typeface="+mj-lt"/>
              </a:rPr>
              <a:t>Open-source systems monitoring and alerting toolkit originally built at SoundCloud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latin typeface="+mj-lt"/>
              </a:rPr>
              <a:t>Joined the Cloud Native Computing Foundation (CNCF) in 2016 as the second hosted project after Kubernetes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latin typeface="+mj-lt"/>
              </a:rPr>
              <a:t>Designed specifically for dynamic container environments</a:t>
            </a:r>
          </a:p>
          <a:p>
            <a:pPr marL="457200" lvl="3" indent="-317500">
              <a:spcBef>
                <a:spcPts val="0"/>
              </a:spcBef>
              <a:buSzPts val="1400"/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</a:rPr>
              <a:t>Collects and stores metrics as time series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latin typeface="+mj-lt"/>
              </a:rPr>
              <a:t>Features a powerful query language for data analysis and alerting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latin typeface="+mj-lt"/>
              </a:rPr>
              <a:t>Highly adopted in cloud-native ecosystems, especially with Kubernetes</a:t>
            </a:r>
          </a:p>
        </p:txBody>
      </p:sp>
    </p:spTree>
    <p:extLst>
      <p:ext uri="{BB962C8B-B14F-4D97-AF65-F5344CB8AC3E}">
        <p14:creationId xmlns:p14="http://schemas.microsoft.com/office/powerpoint/2010/main" val="38699707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>
          <a:extLst>
            <a:ext uri="{FF2B5EF4-FFF2-40B4-BE49-F238E27FC236}">
              <a16:creationId xmlns:a16="http://schemas.microsoft.com/office/drawing/2014/main" id="{FB097AB6-34B2-A322-E9E7-6364687B0B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58">
            <a:extLst>
              <a:ext uri="{FF2B5EF4-FFF2-40B4-BE49-F238E27FC236}">
                <a16:creationId xmlns:a16="http://schemas.microsoft.com/office/drawing/2014/main" id="{0CA780A6-395C-BA8B-E4E1-3A38422F01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dirty="0"/>
              <a:t>High Level Workflow in Prometheus</a:t>
            </a:r>
          </a:p>
        </p:txBody>
      </p:sp>
      <p:sp>
        <p:nvSpPr>
          <p:cNvPr id="335" name="Google Shape;335;p58">
            <a:extLst>
              <a:ext uri="{FF2B5EF4-FFF2-40B4-BE49-F238E27FC236}">
                <a16:creationId xmlns:a16="http://schemas.microsoft.com/office/drawing/2014/main" id="{A300798E-C208-6206-B4A3-385062DF78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1" y="1171675"/>
            <a:ext cx="8293457" cy="308191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>
              <a:buNone/>
            </a:pPr>
            <a:r>
              <a:rPr lang="en-US" sz="1200" dirty="0">
                <a:latin typeface="+mj-lt"/>
              </a:rPr>
              <a:t>[ Application or Systems ]            [ Exporter ]           [ Prometheus ]           [ Alert or Dashboard ]</a:t>
            </a:r>
          </a:p>
          <a:p>
            <a:pPr marL="139700" indent="0">
              <a:buNone/>
            </a:pPr>
            <a:endParaRPr lang="en-US" sz="1200" dirty="0">
              <a:latin typeface="+mj-lt"/>
            </a:endParaRPr>
          </a:p>
          <a:p>
            <a:pPr marL="139700" indent="0">
              <a:buNone/>
            </a:pPr>
            <a:endParaRPr lang="en-US" sz="1200" dirty="0">
              <a:latin typeface="+mj-lt"/>
            </a:endParaRPr>
          </a:p>
          <a:p>
            <a:r>
              <a:rPr lang="en-US" sz="1200" dirty="0">
                <a:latin typeface="+mj-lt"/>
              </a:rPr>
              <a:t>Applications or System: The running applications (e.g., a web server, a java application etc.) or servers / kubernetes nodes on which the application runs</a:t>
            </a:r>
          </a:p>
          <a:p>
            <a:endParaRPr lang="en-US" sz="1200" dirty="0">
              <a:latin typeface="+mj-lt"/>
            </a:endParaRPr>
          </a:p>
          <a:p>
            <a:r>
              <a:rPr lang="en-US" sz="1200" dirty="0">
                <a:latin typeface="+mj-lt"/>
              </a:rPr>
              <a:t>Exporter: A tiny helper that gives Prometheus the app's data in the format it understands.</a:t>
            </a:r>
          </a:p>
          <a:p>
            <a:endParaRPr lang="en-US" sz="1200" dirty="0">
              <a:latin typeface="+mj-lt"/>
            </a:endParaRPr>
          </a:p>
          <a:p>
            <a:r>
              <a:rPr lang="en-US" sz="1200" dirty="0">
                <a:latin typeface="+mj-lt"/>
              </a:rPr>
              <a:t>Prometheus: It regularly pulls the data and stores it.</a:t>
            </a:r>
          </a:p>
          <a:p>
            <a:endParaRPr lang="en-US" sz="1200" dirty="0">
              <a:latin typeface="+mj-lt"/>
            </a:endParaRPr>
          </a:p>
          <a:p>
            <a:r>
              <a:rPr lang="en-US" sz="1200" dirty="0">
                <a:latin typeface="+mj-lt"/>
              </a:rPr>
              <a:t>Alerting: Prometheus can send alerts if something goes wrong.</a:t>
            </a:r>
          </a:p>
          <a:p>
            <a:endParaRPr lang="en-US" sz="1200" dirty="0">
              <a:latin typeface="+mj-lt"/>
            </a:endParaRPr>
          </a:p>
          <a:p>
            <a:r>
              <a:rPr lang="en-US" sz="1200" dirty="0">
                <a:latin typeface="+mj-lt"/>
              </a:rPr>
              <a:t>Visualization: Use Grafana or Prometheus’s built-in graphs to see the data.</a:t>
            </a:r>
          </a:p>
          <a:p>
            <a:pPr marL="139700" indent="0">
              <a:buNone/>
            </a:pPr>
            <a:endParaRPr lang="en-IN" sz="1200" dirty="0">
              <a:latin typeface="Arial"/>
              <a:cs typeface="Arial"/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BA684C6F-80BD-BFA9-51C7-B06756A5E6D4}"/>
              </a:ext>
            </a:extLst>
          </p:cNvPr>
          <p:cNvCxnSpPr>
            <a:cxnSpLocks/>
          </p:cNvCxnSpPr>
          <p:nvPr/>
        </p:nvCxnSpPr>
        <p:spPr>
          <a:xfrm>
            <a:off x="2383973" y="1371600"/>
            <a:ext cx="302079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3EE6E66-8918-C5A2-175B-A7605E2DD073}"/>
              </a:ext>
            </a:extLst>
          </p:cNvPr>
          <p:cNvCxnSpPr>
            <a:cxnSpLocks/>
          </p:cNvCxnSpPr>
          <p:nvPr/>
        </p:nvCxnSpPr>
        <p:spPr>
          <a:xfrm>
            <a:off x="3630390" y="1377043"/>
            <a:ext cx="302079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2911525-4DAC-4FFA-B20F-2FE871108CBC}"/>
              </a:ext>
            </a:extLst>
          </p:cNvPr>
          <p:cNvCxnSpPr>
            <a:cxnSpLocks/>
          </p:cNvCxnSpPr>
          <p:nvPr/>
        </p:nvCxnSpPr>
        <p:spPr>
          <a:xfrm>
            <a:off x="5056414" y="1390650"/>
            <a:ext cx="302079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18176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>
          <a:extLst>
            <a:ext uri="{FF2B5EF4-FFF2-40B4-BE49-F238E27FC236}">
              <a16:creationId xmlns:a16="http://schemas.microsoft.com/office/drawing/2014/main" id="{21A66F28-A0DA-7CFF-52B4-58DCD9EEC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58">
            <a:extLst>
              <a:ext uri="{FF2B5EF4-FFF2-40B4-BE49-F238E27FC236}">
                <a16:creationId xmlns:a16="http://schemas.microsoft.com/office/drawing/2014/main" id="{24ACA4AA-8F90-D053-12BB-D2A835F7EA9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dirty="0"/>
              <a:t>Installation Steps</a:t>
            </a:r>
          </a:p>
        </p:txBody>
      </p:sp>
      <p:sp>
        <p:nvSpPr>
          <p:cNvPr id="335" name="Google Shape;335;p58">
            <a:extLst>
              <a:ext uri="{FF2B5EF4-FFF2-40B4-BE49-F238E27FC236}">
                <a16:creationId xmlns:a16="http://schemas.microsoft.com/office/drawing/2014/main" id="{8FE9FD67-0450-51E9-6D74-942895C28F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1" y="1171675"/>
            <a:ext cx="8293457" cy="72243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>
              <a:buNone/>
            </a:pPr>
            <a:r>
              <a:rPr lang="en-US" sz="1600" dirty="0">
                <a:latin typeface="Arial"/>
                <a:cs typeface="Arial"/>
              </a:rPr>
              <a:t>Navigate to </a:t>
            </a:r>
            <a:r>
              <a:rPr lang="en-US" sz="1600" dirty="0" err="1">
                <a:latin typeface="Arial"/>
                <a:cs typeface="Arial"/>
              </a:rPr>
              <a:t>promethues</a:t>
            </a:r>
            <a:r>
              <a:rPr lang="en-US" sz="1600" dirty="0">
                <a:latin typeface="Arial"/>
                <a:cs typeface="Arial"/>
              </a:rPr>
              <a:t>\Installation-Guide.txt in the shared git repo</a:t>
            </a:r>
            <a:endParaRPr lang="en-IN" sz="16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41956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>
          <a:extLst>
            <a:ext uri="{FF2B5EF4-FFF2-40B4-BE49-F238E27FC236}">
              <a16:creationId xmlns:a16="http://schemas.microsoft.com/office/drawing/2014/main" id="{0EC22DD9-EC08-9183-FB88-5E11C5EA4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58">
            <a:extLst>
              <a:ext uri="{FF2B5EF4-FFF2-40B4-BE49-F238E27FC236}">
                <a16:creationId xmlns:a16="http://schemas.microsoft.com/office/drawing/2014/main" id="{26FBCF7F-1194-448D-8A63-EFE056DACFB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318407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dirty="0"/>
              <a:t>Kubernetes Monitoring with Prometheus</a:t>
            </a:r>
          </a:p>
        </p:txBody>
      </p:sp>
      <p:sp>
        <p:nvSpPr>
          <p:cNvPr id="335" name="Google Shape;335;p58">
            <a:extLst>
              <a:ext uri="{FF2B5EF4-FFF2-40B4-BE49-F238E27FC236}">
                <a16:creationId xmlns:a16="http://schemas.microsoft.com/office/drawing/2014/main" id="{D2833FCD-1226-B639-14AD-A5B6532902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036863"/>
            <a:ext cx="8520600" cy="396784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>
              <a:buNone/>
            </a:pPr>
            <a:r>
              <a:rPr lang="en-US" sz="1100" b="1" dirty="0">
                <a:latin typeface="Arial"/>
                <a:cs typeface="Arial"/>
              </a:rPr>
              <a:t>Prometheus can automatically discover and monitor Kubernetes components using “</a:t>
            </a:r>
            <a:r>
              <a:rPr lang="en-US" sz="1100" b="1" dirty="0" err="1">
                <a:latin typeface="Arial"/>
                <a:cs typeface="Arial"/>
              </a:rPr>
              <a:t>kubernetes_sd_configs</a:t>
            </a:r>
            <a:r>
              <a:rPr lang="en-US" sz="1100" b="1" dirty="0">
                <a:latin typeface="Arial"/>
                <a:cs typeface="Arial"/>
              </a:rPr>
              <a:t>” configuration:</a:t>
            </a:r>
          </a:p>
          <a:p>
            <a:pPr marL="139700" indent="0">
              <a:buNone/>
            </a:pPr>
            <a:endParaRPr lang="en-US" sz="1100" b="1" dirty="0">
              <a:latin typeface="Arial"/>
              <a:cs typeface="Arial"/>
            </a:endParaRPr>
          </a:p>
          <a:p>
            <a:pPr marL="139700" indent="0">
              <a:buNone/>
            </a:pPr>
            <a:r>
              <a:rPr lang="en-US" sz="1050" b="1" dirty="0">
                <a:latin typeface="Arial"/>
                <a:cs typeface="Arial"/>
              </a:rPr>
              <a:t>1.) API Server: </a:t>
            </a:r>
            <a:r>
              <a:rPr lang="en-US" sz="1050" dirty="0">
                <a:latin typeface="Arial"/>
                <a:cs typeface="Arial"/>
              </a:rPr>
              <a:t>Control plane metrics </a:t>
            </a:r>
          </a:p>
          <a:p>
            <a:pPr marL="139700" indent="0">
              <a:buNone/>
            </a:pPr>
            <a:r>
              <a:rPr lang="en-US" sz="1000" dirty="0" err="1">
                <a:latin typeface="Arial"/>
                <a:cs typeface="Arial"/>
              </a:rPr>
              <a:t>e.g</a:t>
            </a:r>
            <a:r>
              <a:rPr lang="en-US" sz="1000" dirty="0">
                <a:latin typeface="Arial"/>
                <a:cs typeface="Arial"/>
              </a:rPr>
              <a:t>: API server request: </a:t>
            </a:r>
            <a:r>
              <a:rPr lang="en-US" sz="1000" dirty="0" err="1">
                <a:latin typeface="Arial"/>
                <a:cs typeface="Arial"/>
              </a:rPr>
              <a:t>ratesum</a:t>
            </a:r>
            <a:r>
              <a:rPr lang="en-US" sz="1000" dirty="0">
                <a:latin typeface="Arial"/>
                <a:cs typeface="Arial"/>
              </a:rPr>
              <a:t>(rate(</a:t>
            </a:r>
            <a:r>
              <a:rPr lang="en-US" sz="1000" dirty="0" err="1">
                <a:latin typeface="Arial"/>
                <a:cs typeface="Arial"/>
              </a:rPr>
              <a:t>apiserver_request_total</a:t>
            </a:r>
            <a:r>
              <a:rPr lang="en-US" sz="1000" dirty="0">
                <a:latin typeface="Arial"/>
                <a:cs typeface="Arial"/>
              </a:rPr>
              <a:t>[5m])) by (code, resource)</a:t>
            </a:r>
          </a:p>
          <a:p>
            <a:pPr marL="139700" indent="0">
              <a:buNone/>
            </a:pPr>
            <a:endParaRPr lang="en-US" sz="1050" b="1" dirty="0">
              <a:latin typeface="Arial"/>
              <a:cs typeface="Arial"/>
            </a:endParaRPr>
          </a:p>
          <a:p>
            <a:pPr marL="139700" indent="0">
              <a:buNone/>
            </a:pPr>
            <a:r>
              <a:rPr lang="en-US" sz="1050" b="1" dirty="0">
                <a:latin typeface="Arial"/>
                <a:cs typeface="Arial"/>
              </a:rPr>
              <a:t>2.) Nodes: </a:t>
            </a:r>
            <a:r>
              <a:rPr lang="en-US" sz="1050" dirty="0">
                <a:latin typeface="Arial"/>
                <a:cs typeface="Arial"/>
              </a:rPr>
              <a:t>Hardware and OS metrics via node-exporter</a:t>
            </a:r>
          </a:p>
          <a:p>
            <a:pPr marL="139700" indent="0">
              <a:buNone/>
            </a:pPr>
            <a:r>
              <a:rPr lang="en-US" sz="1050" dirty="0">
                <a:latin typeface="Arial"/>
                <a:cs typeface="Arial"/>
              </a:rPr>
              <a:t>e.g.: CPU usage by node: 100 - (avg by (instance) (rate(</a:t>
            </a:r>
            <a:r>
              <a:rPr lang="en-US" sz="1050" dirty="0" err="1">
                <a:latin typeface="Arial"/>
                <a:cs typeface="Arial"/>
              </a:rPr>
              <a:t>node_cpu_seconds_total</a:t>
            </a:r>
            <a:r>
              <a:rPr lang="en-US" sz="1050" dirty="0">
                <a:latin typeface="Arial"/>
                <a:cs typeface="Arial"/>
              </a:rPr>
              <a:t>{mode="idle"}[5m])) * 100)</a:t>
            </a:r>
          </a:p>
          <a:p>
            <a:pPr marL="139700" indent="0">
              <a:buNone/>
            </a:pPr>
            <a:endParaRPr lang="en-US" sz="1050" b="1" dirty="0">
              <a:latin typeface="Arial"/>
              <a:cs typeface="Arial"/>
            </a:endParaRPr>
          </a:p>
          <a:p>
            <a:pPr marL="139700" indent="0">
              <a:buNone/>
            </a:pPr>
            <a:r>
              <a:rPr lang="en-US" sz="1050" b="1" dirty="0">
                <a:latin typeface="Arial"/>
                <a:cs typeface="Arial"/>
              </a:rPr>
              <a:t>3.) Pods: </a:t>
            </a:r>
            <a:r>
              <a:rPr lang="en-US" sz="1050" dirty="0">
                <a:latin typeface="Arial"/>
                <a:cs typeface="Arial"/>
              </a:rPr>
              <a:t>Application metrics via annotations (reference to use client library: https://prometheus.github.io/client_python/)</a:t>
            </a:r>
          </a:p>
          <a:p>
            <a:r>
              <a:rPr lang="en-US" sz="1050" dirty="0">
                <a:latin typeface="Arial"/>
                <a:cs typeface="Arial"/>
              </a:rPr>
              <a:t>prometheus.io/scrape: "true"</a:t>
            </a:r>
          </a:p>
          <a:p>
            <a:r>
              <a:rPr lang="en-US" sz="1050" dirty="0">
                <a:latin typeface="Arial"/>
                <a:cs typeface="Arial"/>
              </a:rPr>
              <a:t>prometheus.io/path: "/metrics"</a:t>
            </a:r>
          </a:p>
          <a:p>
            <a:r>
              <a:rPr lang="en-US" sz="1050" dirty="0">
                <a:latin typeface="Arial"/>
                <a:cs typeface="Arial"/>
              </a:rPr>
              <a:t>prometheus.io/port: "8080"</a:t>
            </a:r>
          </a:p>
          <a:p>
            <a:pPr marL="139700" indent="0">
              <a:buNone/>
            </a:pPr>
            <a:r>
              <a:rPr lang="en-US" sz="1050" dirty="0" err="1">
                <a:latin typeface="Arial"/>
                <a:cs typeface="Arial"/>
              </a:rPr>
              <a:t>e.g</a:t>
            </a:r>
            <a:r>
              <a:rPr lang="en-US" sz="1050" dirty="0">
                <a:latin typeface="Arial"/>
                <a:cs typeface="Arial"/>
              </a:rPr>
              <a:t>: HTTP request rate for annotated pods: sum(rate(</a:t>
            </a:r>
            <a:r>
              <a:rPr lang="en-US" sz="1050" dirty="0" err="1">
                <a:latin typeface="Arial"/>
                <a:cs typeface="Arial"/>
              </a:rPr>
              <a:t>http_requests_total</a:t>
            </a:r>
            <a:r>
              <a:rPr lang="en-US" sz="1050" dirty="0">
                <a:latin typeface="Arial"/>
                <a:cs typeface="Arial"/>
              </a:rPr>
              <a:t>{</a:t>
            </a:r>
            <a:r>
              <a:rPr lang="en-US" sz="1050" dirty="0" err="1">
                <a:latin typeface="Arial"/>
                <a:cs typeface="Arial"/>
              </a:rPr>
              <a:t>kubernetes_pod_name</a:t>
            </a:r>
            <a:r>
              <a:rPr lang="en-US" sz="1050" dirty="0">
                <a:latin typeface="Arial"/>
                <a:cs typeface="Arial"/>
              </a:rPr>
              <a:t>=~"my-app-.+"}[5m])) by (pod, path)</a:t>
            </a:r>
          </a:p>
          <a:p>
            <a:pPr marL="139700" indent="0">
              <a:buNone/>
            </a:pPr>
            <a:endParaRPr lang="en-US" sz="1050" b="1" dirty="0">
              <a:latin typeface="Arial"/>
              <a:cs typeface="Arial"/>
            </a:endParaRPr>
          </a:p>
          <a:p>
            <a:pPr marL="139700" indent="0">
              <a:buNone/>
            </a:pPr>
            <a:r>
              <a:rPr lang="en-US" sz="1050" b="1" dirty="0">
                <a:latin typeface="Arial"/>
                <a:cs typeface="Arial"/>
              </a:rPr>
              <a:t>4.) </a:t>
            </a:r>
            <a:r>
              <a:rPr lang="en-US" sz="1050" b="1" dirty="0" err="1">
                <a:latin typeface="Arial"/>
                <a:cs typeface="Arial"/>
              </a:rPr>
              <a:t>cAdvisor</a:t>
            </a:r>
            <a:r>
              <a:rPr lang="en-US" sz="1050" b="1" dirty="0">
                <a:latin typeface="Arial"/>
                <a:cs typeface="Arial"/>
              </a:rPr>
              <a:t>: </a:t>
            </a:r>
            <a:r>
              <a:rPr lang="en-US" sz="1050" dirty="0">
                <a:latin typeface="Arial"/>
                <a:cs typeface="Arial"/>
              </a:rPr>
              <a:t>Container metrics built into kubelet</a:t>
            </a:r>
          </a:p>
          <a:p>
            <a:pPr marL="139700" indent="0">
              <a:buNone/>
            </a:pPr>
            <a:r>
              <a:rPr lang="en-US" sz="1050" dirty="0">
                <a:latin typeface="Arial"/>
                <a:cs typeface="Arial"/>
              </a:rPr>
              <a:t>e.g.: Container CPU usage: sum(rate(</a:t>
            </a:r>
            <a:r>
              <a:rPr lang="en-US" sz="1050" dirty="0" err="1">
                <a:latin typeface="Arial"/>
                <a:cs typeface="Arial"/>
              </a:rPr>
              <a:t>container_cpu_usage_seconds_total</a:t>
            </a:r>
            <a:r>
              <a:rPr lang="en-US" sz="1050" dirty="0">
                <a:latin typeface="Arial"/>
                <a:cs typeface="Arial"/>
              </a:rPr>
              <a:t>{container!="POD", container!=""}[5m])) by (pod, container)</a:t>
            </a:r>
          </a:p>
          <a:p>
            <a:pPr marL="139700" indent="0">
              <a:buNone/>
            </a:pPr>
            <a:endParaRPr lang="en-US" sz="1050" b="1" dirty="0">
              <a:latin typeface="Arial"/>
              <a:cs typeface="Arial"/>
            </a:endParaRPr>
          </a:p>
          <a:p>
            <a:pPr marL="139700" indent="0">
              <a:buNone/>
            </a:pPr>
            <a:r>
              <a:rPr lang="en-US" sz="1050" b="1" dirty="0">
                <a:latin typeface="Arial"/>
                <a:cs typeface="Arial"/>
              </a:rPr>
              <a:t>5.) Object state: </a:t>
            </a:r>
            <a:r>
              <a:rPr lang="en-US" sz="1050" dirty="0">
                <a:latin typeface="Arial"/>
                <a:cs typeface="Arial"/>
              </a:rPr>
              <a:t>Metrices using </a:t>
            </a:r>
            <a:r>
              <a:rPr lang="en-US" sz="1050" dirty="0" err="1">
                <a:latin typeface="Arial"/>
                <a:cs typeface="Arial"/>
              </a:rPr>
              <a:t>kube</a:t>
            </a:r>
            <a:r>
              <a:rPr lang="en-US" sz="1050" dirty="0">
                <a:latin typeface="Arial"/>
                <a:cs typeface="Arial"/>
              </a:rPr>
              <a:t>-state-metrics exporter</a:t>
            </a:r>
          </a:p>
          <a:p>
            <a:pPr marL="139700" indent="0">
              <a:buNone/>
            </a:pPr>
            <a:r>
              <a:rPr lang="en-US" sz="1050" dirty="0" err="1">
                <a:latin typeface="Arial"/>
                <a:cs typeface="Arial"/>
              </a:rPr>
              <a:t>e.g</a:t>
            </a:r>
            <a:r>
              <a:rPr lang="en-US" sz="1050" dirty="0">
                <a:latin typeface="Arial"/>
                <a:cs typeface="Arial"/>
              </a:rPr>
              <a:t>: Count of pods by status phase: sum(</a:t>
            </a:r>
            <a:r>
              <a:rPr lang="en-US" sz="1050" dirty="0" err="1">
                <a:latin typeface="Arial"/>
                <a:cs typeface="Arial"/>
              </a:rPr>
              <a:t>kube_pod_status_phase</a:t>
            </a:r>
            <a:r>
              <a:rPr lang="en-US" sz="1050" dirty="0">
                <a:latin typeface="Arial"/>
                <a:cs typeface="Arial"/>
              </a:rPr>
              <a:t>) by (phase)</a:t>
            </a:r>
            <a:endParaRPr lang="en-IN" sz="105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344293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>
          <a:extLst>
            <a:ext uri="{FF2B5EF4-FFF2-40B4-BE49-F238E27FC236}">
              <a16:creationId xmlns:a16="http://schemas.microsoft.com/office/drawing/2014/main" id="{3A8FB5CE-8CD5-D320-73E3-407E765915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58">
            <a:extLst>
              <a:ext uri="{FF2B5EF4-FFF2-40B4-BE49-F238E27FC236}">
                <a16:creationId xmlns:a16="http://schemas.microsoft.com/office/drawing/2014/main" id="{17E16E1F-A69A-CF60-D9E5-7C4021A6D83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dirty="0"/>
              <a:t>Sample </a:t>
            </a:r>
            <a:r>
              <a:rPr lang="en-IN" dirty="0" err="1"/>
              <a:t>PromQL</a:t>
            </a:r>
            <a:r>
              <a:rPr lang="en-IN" dirty="0"/>
              <a:t> Queries for Kubernetes</a:t>
            </a:r>
          </a:p>
        </p:txBody>
      </p:sp>
      <p:sp>
        <p:nvSpPr>
          <p:cNvPr id="335" name="Google Shape;335;p58">
            <a:extLst>
              <a:ext uri="{FF2B5EF4-FFF2-40B4-BE49-F238E27FC236}">
                <a16:creationId xmlns:a16="http://schemas.microsoft.com/office/drawing/2014/main" id="{8A15BFA0-58EA-B997-96F5-EB047DE1E3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1" y="1171675"/>
            <a:ext cx="8293457" cy="365341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>
              <a:buNone/>
            </a:pPr>
            <a:r>
              <a:rPr lang="en-US" sz="1100" b="1" dirty="0">
                <a:latin typeface="Arial"/>
                <a:cs typeface="Arial"/>
              </a:rPr>
              <a:t># Node CPU Usage Percentage</a:t>
            </a:r>
          </a:p>
          <a:p>
            <a:pPr marL="139700" indent="0">
              <a:buNone/>
            </a:pPr>
            <a:r>
              <a:rPr lang="en-US" sz="1100" dirty="0">
                <a:latin typeface="Arial"/>
                <a:cs typeface="Arial"/>
              </a:rPr>
              <a:t>100 - (avg by(instance) (rate(</a:t>
            </a:r>
            <a:r>
              <a:rPr lang="en-US" sz="1100" dirty="0" err="1">
                <a:latin typeface="Arial"/>
                <a:cs typeface="Arial"/>
              </a:rPr>
              <a:t>node_cpu_seconds_total</a:t>
            </a:r>
            <a:r>
              <a:rPr lang="en-US" sz="1100" dirty="0">
                <a:latin typeface="Arial"/>
                <a:cs typeface="Arial"/>
              </a:rPr>
              <a:t>{mode="idle"}[5m])) * 100)</a:t>
            </a:r>
          </a:p>
          <a:p>
            <a:pPr marL="139700" indent="0">
              <a:buNone/>
            </a:pPr>
            <a:endParaRPr lang="en-US" sz="1100" b="1" dirty="0">
              <a:latin typeface="Arial"/>
              <a:cs typeface="Arial"/>
            </a:endParaRPr>
          </a:p>
          <a:p>
            <a:pPr marL="139700" indent="0">
              <a:buNone/>
            </a:pPr>
            <a:r>
              <a:rPr lang="en-US" sz="1100" b="1" dirty="0">
                <a:latin typeface="Arial"/>
                <a:cs typeface="Arial"/>
              </a:rPr>
              <a:t># Pod CPU Usage</a:t>
            </a:r>
          </a:p>
          <a:p>
            <a:pPr marL="139700" indent="0">
              <a:buNone/>
            </a:pPr>
            <a:r>
              <a:rPr lang="en-US" sz="1100" dirty="0">
                <a:latin typeface="Arial"/>
                <a:cs typeface="Arial"/>
              </a:rPr>
              <a:t>sum(rate(</a:t>
            </a:r>
            <a:r>
              <a:rPr lang="en-US" sz="1100" dirty="0" err="1">
                <a:latin typeface="Arial"/>
                <a:cs typeface="Arial"/>
              </a:rPr>
              <a:t>container_cpu_usage_seconds_total</a:t>
            </a:r>
            <a:r>
              <a:rPr lang="en-US" sz="1100" dirty="0">
                <a:latin typeface="Arial"/>
                <a:cs typeface="Arial"/>
              </a:rPr>
              <a:t>{container!=""}[5m])) by (pod)</a:t>
            </a:r>
          </a:p>
          <a:p>
            <a:pPr marL="139700" indent="0">
              <a:buNone/>
            </a:pPr>
            <a:endParaRPr lang="en-US" sz="1100" b="1" dirty="0">
              <a:latin typeface="Arial"/>
              <a:cs typeface="Arial"/>
            </a:endParaRPr>
          </a:p>
          <a:p>
            <a:pPr marL="139700" indent="0">
              <a:buNone/>
            </a:pPr>
            <a:r>
              <a:rPr lang="en-US" sz="1100" b="1" dirty="0">
                <a:latin typeface="Arial"/>
                <a:cs typeface="Arial"/>
              </a:rPr>
              <a:t># Top 5 Pods by CPU Usage</a:t>
            </a:r>
          </a:p>
          <a:p>
            <a:pPr marL="139700" indent="0">
              <a:buNone/>
            </a:pPr>
            <a:r>
              <a:rPr lang="en-US" sz="1100" dirty="0" err="1">
                <a:latin typeface="Arial"/>
                <a:cs typeface="Arial"/>
              </a:rPr>
              <a:t>topk</a:t>
            </a:r>
            <a:r>
              <a:rPr lang="en-US" sz="1100" dirty="0">
                <a:latin typeface="Arial"/>
                <a:cs typeface="Arial"/>
              </a:rPr>
              <a:t>(5, sum(rate(</a:t>
            </a:r>
            <a:r>
              <a:rPr lang="en-US" sz="1100" dirty="0" err="1">
                <a:latin typeface="Arial"/>
                <a:cs typeface="Arial"/>
              </a:rPr>
              <a:t>container_cpu_usage_seconds_total</a:t>
            </a:r>
            <a:r>
              <a:rPr lang="en-US" sz="1100" dirty="0">
                <a:latin typeface="Arial"/>
                <a:cs typeface="Arial"/>
              </a:rPr>
              <a:t>{container!=""}[5m])) by (pod))</a:t>
            </a:r>
          </a:p>
          <a:p>
            <a:pPr marL="139700" indent="0">
              <a:buNone/>
            </a:pPr>
            <a:endParaRPr lang="en-US" sz="1100" b="1" dirty="0">
              <a:latin typeface="Arial"/>
              <a:cs typeface="Arial"/>
            </a:endParaRPr>
          </a:p>
          <a:p>
            <a:pPr marL="139700" indent="0">
              <a:buNone/>
            </a:pPr>
            <a:r>
              <a:rPr lang="en-US" sz="1100" b="1" dirty="0">
                <a:latin typeface="Arial"/>
                <a:cs typeface="Arial"/>
              </a:rPr>
              <a:t># CPU Usage by Namespace</a:t>
            </a:r>
          </a:p>
          <a:p>
            <a:pPr marL="139700" indent="0">
              <a:buNone/>
            </a:pPr>
            <a:r>
              <a:rPr lang="en-US" sz="1100" dirty="0">
                <a:latin typeface="Arial"/>
                <a:cs typeface="Arial"/>
              </a:rPr>
              <a:t>sum(rate(</a:t>
            </a:r>
            <a:r>
              <a:rPr lang="en-US" sz="1100" dirty="0" err="1">
                <a:latin typeface="Arial"/>
                <a:cs typeface="Arial"/>
              </a:rPr>
              <a:t>container_cpu_usage_seconds_total</a:t>
            </a:r>
            <a:r>
              <a:rPr lang="en-US" sz="1100" dirty="0">
                <a:latin typeface="Arial"/>
                <a:cs typeface="Arial"/>
              </a:rPr>
              <a:t>{container!=""}[5m])) by (namespace)</a:t>
            </a:r>
          </a:p>
          <a:p>
            <a:pPr marL="139700" indent="0">
              <a:buNone/>
            </a:pPr>
            <a:endParaRPr lang="en-US" sz="1100" b="1" dirty="0">
              <a:latin typeface="Arial"/>
              <a:cs typeface="Arial"/>
            </a:endParaRPr>
          </a:p>
          <a:p>
            <a:pPr marL="139700" indent="0">
              <a:buNone/>
            </a:pPr>
            <a:r>
              <a:rPr lang="en-US" sz="1100" b="1" dirty="0">
                <a:latin typeface="Arial"/>
                <a:cs typeface="Arial"/>
              </a:rPr>
              <a:t># CPU Throttling</a:t>
            </a:r>
          </a:p>
          <a:p>
            <a:pPr marL="139700" indent="0">
              <a:buNone/>
            </a:pPr>
            <a:r>
              <a:rPr lang="en-US" sz="1100" dirty="0">
                <a:latin typeface="Arial"/>
                <a:cs typeface="Arial"/>
              </a:rPr>
              <a:t>sum(rate(</a:t>
            </a:r>
            <a:r>
              <a:rPr lang="en-US" sz="1100" dirty="0" err="1">
                <a:latin typeface="Arial"/>
                <a:cs typeface="Arial"/>
              </a:rPr>
              <a:t>container_cpu_cfs_throttled_seconds_total</a:t>
            </a:r>
            <a:r>
              <a:rPr lang="en-US" sz="1100" dirty="0">
                <a:latin typeface="Arial"/>
                <a:cs typeface="Arial"/>
              </a:rPr>
              <a:t>[5m])) by (pod)</a:t>
            </a:r>
          </a:p>
          <a:p>
            <a:pPr marL="139700" indent="0">
              <a:buNone/>
            </a:pPr>
            <a:endParaRPr lang="en-US" sz="1100" b="1" dirty="0">
              <a:latin typeface="Arial"/>
              <a:cs typeface="Arial"/>
            </a:endParaRPr>
          </a:p>
          <a:p>
            <a:pPr marL="139700" indent="0">
              <a:buNone/>
            </a:pPr>
            <a:r>
              <a:rPr lang="en-US" sz="1100" b="1" dirty="0">
                <a:latin typeface="Arial"/>
                <a:cs typeface="Arial"/>
              </a:rPr>
              <a:t># Node Memory Usage Percentage</a:t>
            </a:r>
          </a:p>
          <a:p>
            <a:pPr marL="139700" indent="0">
              <a:buNone/>
            </a:pPr>
            <a:r>
              <a:rPr lang="en-US" sz="1100" dirty="0">
                <a:latin typeface="Arial"/>
                <a:cs typeface="Arial"/>
              </a:rPr>
              <a:t>(1 - (</a:t>
            </a:r>
            <a:r>
              <a:rPr lang="en-US" sz="1100" dirty="0" err="1">
                <a:latin typeface="Arial"/>
                <a:cs typeface="Arial"/>
              </a:rPr>
              <a:t>node_memory_MemAvailable_bytes</a:t>
            </a:r>
            <a:r>
              <a:rPr lang="en-US" sz="1100" dirty="0">
                <a:latin typeface="Arial"/>
                <a:cs typeface="Arial"/>
              </a:rPr>
              <a:t> / </a:t>
            </a:r>
            <a:r>
              <a:rPr lang="en-US" sz="1100" dirty="0" err="1">
                <a:latin typeface="Arial"/>
                <a:cs typeface="Arial"/>
              </a:rPr>
              <a:t>node_memory_MemTotal_bytes</a:t>
            </a:r>
            <a:r>
              <a:rPr lang="en-US" sz="1100" dirty="0">
                <a:latin typeface="Arial"/>
                <a:cs typeface="Arial"/>
              </a:rPr>
              <a:t>)) * 100</a:t>
            </a:r>
          </a:p>
        </p:txBody>
      </p:sp>
    </p:spTree>
    <p:extLst>
      <p:ext uri="{BB962C8B-B14F-4D97-AF65-F5344CB8AC3E}">
        <p14:creationId xmlns:p14="http://schemas.microsoft.com/office/powerpoint/2010/main" val="33808886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>
          <a:extLst>
            <a:ext uri="{FF2B5EF4-FFF2-40B4-BE49-F238E27FC236}">
              <a16:creationId xmlns:a16="http://schemas.microsoft.com/office/drawing/2014/main" id="{0A59BF4E-F348-54E6-FD61-05CEA82CD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58">
            <a:extLst>
              <a:ext uri="{FF2B5EF4-FFF2-40B4-BE49-F238E27FC236}">
                <a16:creationId xmlns:a16="http://schemas.microsoft.com/office/drawing/2014/main" id="{D929A3C4-F63F-5E6C-305A-DC89ECAD6CB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dirty="0"/>
              <a:t>Grafana</a:t>
            </a:r>
          </a:p>
        </p:txBody>
      </p:sp>
      <p:sp>
        <p:nvSpPr>
          <p:cNvPr id="335" name="Google Shape;335;p58">
            <a:extLst>
              <a:ext uri="{FF2B5EF4-FFF2-40B4-BE49-F238E27FC236}">
                <a16:creationId xmlns:a16="http://schemas.microsoft.com/office/drawing/2014/main" id="{3AB88141-51D8-203C-EFD7-B3B6F2C2D2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39018"/>
            <a:ext cx="8293457" cy="377588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>
              <a:buNone/>
            </a:pPr>
            <a:r>
              <a:rPr lang="en-US" sz="1100" b="1" dirty="0">
                <a:latin typeface="Arial"/>
                <a:cs typeface="Arial"/>
              </a:rPr>
              <a:t>Grafana </a:t>
            </a:r>
            <a:r>
              <a:rPr lang="en-US" sz="1100" dirty="0">
                <a:latin typeface="Arial"/>
                <a:cs typeface="Arial"/>
              </a:rPr>
              <a:t>is an open-source observability platform used for visualizing metrics, logs, and traces. They also have an enterprise version.</a:t>
            </a:r>
          </a:p>
          <a:p>
            <a:pPr marL="139700" indent="0">
              <a:buNone/>
            </a:pPr>
            <a:endParaRPr lang="en-US" sz="1100" dirty="0">
              <a:latin typeface="Arial"/>
              <a:cs typeface="Arial"/>
            </a:endParaRPr>
          </a:p>
          <a:p>
            <a:pPr marL="139700" indent="0">
              <a:buNone/>
            </a:pPr>
            <a:r>
              <a:rPr lang="en-US" sz="1100" dirty="0">
                <a:latin typeface="Arial"/>
                <a:cs typeface="Arial"/>
              </a:rPr>
              <a:t>It enables users to:</a:t>
            </a:r>
          </a:p>
          <a:p>
            <a:pPr lvl="1">
              <a:spcBef>
                <a:spcPts val="0"/>
              </a:spcBef>
            </a:pPr>
            <a:r>
              <a:rPr lang="en-US" sz="1000" dirty="0">
                <a:latin typeface="Arial"/>
                <a:cs typeface="Arial"/>
              </a:rPr>
              <a:t>Query, visualize, and understand metrics</a:t>
            </a:r>
          </a:p>
          <a:p>
            <a:pPr lvl="1">
              <a:spcBef>
                <a:spcPts val="0"/>
              </a:spcBef>
            </a:pPr>
            <a:r>
              <a:rPr lang="en-US" sz="1000" dirty="0">
                <a:latin typeface="Arial"/>
                <a:cs typeface="Arial"/>
              </a:rPr>
              <a:t>Create custom dashboards</a:t>
            </a:r>
          </a:p>
          <a:p>
            <a:pPr lvl="1">
              <a:spcBef>
                <a:spcPts val="0"/>
              </a:spcBef>
            </a:pPr>
            <a:r>
              <a:rPr lang="en-US" sz="1000" dirty="0">
                <a:latin typeface="Arial"/>
                <a:cs typeface="Arial"/>
              </a:rPr>
              <a:t>Analyze data from multiple sources</a:t>
            </a:r>
          </a:p>
          <a:p>
            <a:pPr marL="139700" indent="0">
              <a:buNone/>
            </a:pPr>
            <a:r>
              <a:rPr lang="en-US" sz="1100" dirty="0">
                <a:latin typeface="Arial"/>
                <a:cs typeface="Arial"/>
              </a:rPr>
              <a:t>With a lot of features like:</a:t>
            </a:r>
          </a:p>
          <a:p>
            <a:pPr lvl="1">
              <a:spcBef>
                <a:spcPts val="0"/>
              </a:spcBef>
            </a:pPr>
            <a:r>
              <a:rPr lang="en-US" sz="1000" dirty="0">
                <a:latin typeface="Arial"/>
                <a:cs typeface="Arial"/>
              </a:rPr>
              <a:t>Multi-platform support</a:t>
            </a:r>
          </a:p>
          <a:p>
            <a:pPr lvl="1">
              <a:spcBef>
                <a:spcPts val="0"/>
              </a:spcBef>
            </a:pPr>
            <a:r>
              <a:rPr lang="en-US" sz="1000" dirty="0">
                <a:latin typeface="Arial"/>
                <a:cs typeface="Arial"/>
              </a:rPr>
              <a:t>Pluggable data source architecture</a:t>
            </a:r>
          </a:p>
          <a:p>
            <a:pPr lvl="1">
              <a:spcBef>
                <a:spcPts val="0"/>
              </a:spcBef>
            </a:pPr>
            <a:r>
              <a:rPr lang="en-US" sz="1000" dirty="0">
                <a:latin typeface="Arial"/>
                <a:cs typeface="Arial"/>
              </a:rPr>
              <a:t>Rich visualization options</a:t>
            </a:r>
          </a:p>
          <a:p>
            <a:pPr lvl="1">
              <a:spcBef>
                <a:spcPts val="0"/>
              </a:spcBef>
            </a:pPr>
            <a:r>
              <a:rPr lang="en-US" sz="1000" dirty="0">
                <a:latin typeface="Arial"/>
                <a:cs typeface="Arial"/>
              </a:rPr>
              <a:t>User authentication and authorization</a:t>
            </a:r>
          </a:p>
          <a:p>
            <a:pPr lvl="1">
              <a:spcBef>
                <a:spcPts val="0"/>
              </a:spcBef>
            </a:pPr>
            <a:r>
              <a:rPr lang="en-US" sz="1000" dirty="0">
                <a:latin typeface="Arial"/>
                <a:cs typeface="Arial"/>
              </a:rPr>
              <a:t>Template variables for dynamic dashboards</a:t>
            </a:r>
          </a:p>
          <a:p>
            <a:pPr marL="139700" indent="0">
              <a:buNone/>
            </a:pPr>
            <a:endParaRPr lang="en-US" sz="1200" dirty="0">
              <a:latin typeface="Arial"/>
              <a:cs typeface="Arial"/>
            </a:endParaRPr>
          </a:p>
          <a:p>
            <a:pPr marL="139700" indent="0">
              <a:buNone/>
            </a:pPr>
            <a:r>
              <a:rPr lang="en-US" sz="1100" dirty="0">
                <a:latin typeface="Arial"/>
                <a:cs typeface="Arial"/>
              </a:rPr>
              <a:t>It can be integrated with Prometheus, AWS CloudWatch, Azure Monitor and many other data sources.</a:t>
            </a:r>
          </a:p>
          <a:p>
            <a:pPr marL="139700" indent="0">
              <a:buNone/>
            </a:pPr>
            <a:endParaRPr lang="en-US" sz="1100" dirty="0">
              <a:latin typeface="Arial"/>
              <a:cs typeface="Arial"/>
            </a:endParaRPr>
          </a:p>
          <a:p>
            <a:pPr marL="139700" indent="0">
              <a:buNone/>
            </a:pPr>
            <a:r>
              <a:rPr lang="en-US" sz="1100" b="1" dirty="0">
                <a:latin typeface="Arial"/>
                <a:cs typeface="Arial"/>
              </a:rPr>
              <a:t>Installation Guide</a:t>
            </a:r>
            <a:r>
              <a:rPr lang="en-US" sz="1100" dirty="0">
                <a:latin typeface="Arial"/>
                <a:cs typeface="Arial"/>
              </a:rPr>
              <a:t>: Grafana\Installation-Guide.txt</a:t>
            </a:r>
          </a:p>
        </p:txBody>
      </p:sp>
    </p:spTree>
    <p:extLst>
      <p:ext uri="{BB962C8B-B14F-4D97-AF65-F5344CB8AC3E}">
        <p14:creationId xmlns:p14="http://schemas.microsoft.com/office/powerpoint/2010/main" val="38668750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>
          <a:extLst>
            <a:ext uri="{FF2B5EF4-FFF2-40B4-BE49-F238E27FC236}">
              <a16:creationId xmlns:a16="http://schemas.microsoft.com/office/drawing/2014/main" id="{C06F0467-2E82-653A-4DB2-48D32BAFB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58">
            <a:extLst>
              <a:ext uri="{FF2B5EF4-FFF2-40B4-BE49-F238E27FC236}">
                <a16:creationId xmlns:a16="http://schemas.microsoft.com/office/drawing/2014/main" id="{06742F82-FBBD-98AE-835F-61C87311594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28600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Integrate Grafana with Prometheus</a:t>
            </a:r>
            <a:endParaRPr lang="en-IN" dirty="0"/>
          </a:p>
        </p:txBody>
      </p:sp>
      <p:sp>
        <p:nvSpPr>
          <p:cNvPr id="335" name="Google Shape;335;p58">
            <a:extLst>
              <a:ext uri="{FF2B5EF4-FFF2-40B4-BE49-F238E27FC236}">
                <a16:creationId xmlns:a16="http://schemas.microsoft.com/office/drawing/2014/main" id="{D8919B37-0380-B911-77B8-EA9C8BE6F8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1" y="1139018"/>
            <a:ext cx="4635856" cy="377588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>
              <a:buNone/>
            </a:pPr>
            <a:r>
              <a:rPr lang="en-US" sz="1100" b="1" dirty="0">
                <a:latin typeface="Arial"/>
                <a:cs typeface="Arial"/>
              </a:rPr>
              <a:t>Add Data Source:</a:t>
            </a:r>
          </a:p>
          <a:p>
            <a:pPr marL="311150" indent="-171450">
              <a:lnSpc>
                <a:spcPct val="150000"/>
              </a:lnSpc>
            </a:pPr>
            <a:r>
              <a:rPr lang="en-US" sz="1100" dirty="0">
                <a:latin typeface="Arial"/>
                <a:cs typeface="Arial"/>
              </a:rPr>
              <a:t>Now since Grafana is up and running, next step is to integrate it with a data source.</a:t>
            </a:r>
          </a:p>
          <a:p>
            <a:pPr marL="311150" indent="-171450">
              <a:lnSpc>
                <a:spcPct val="150000"/>
              </a:lnSpc>
            </a:pPr>
            <a:r>
              <a:rPr lang="en-US" sz="1100" dirty="0">
                <a:latin typeface="Arial"/>
                <a:cs typeface="Arial"/>
              </a:rPr>
              <a:t>To add a new Data Sources, Go to:</a:t>
            </a:r>
          </a:p>
          <a:p>
            <a:pPr marL="311150" indent="-171450">
              <a:lnSpc>
                <a:spcPct val="150000"/>
              </a:lnSpc>
            </a:pPr>
            <a:r>
              <a:rPr lang="en-US" sz="1100" dirty="0">
                <a:latin typeface="Arial"/>
                <a:cs typeface="Arial"/>
              </a:rPr>
              <a:t>connections -&gt; Data Sources -&gt; Add data source</a:t>
            </a:r>
          </a:p>
          <a:p>
            <a:pPr marL="311150" indent="-171450">
              <a:lnSpc>
                <a:spcPct val="150000"/>
              </a:lnSpc>
            </a:pPr>
            <a:r>
              <a:rPr lang="en-US" sz="1100" dirty="0">
                <a:latin typeface="Arial"/>
                <a:cs typeface="Arial"/>
              </a:rPr>
              <a:t>So, lets integrate Prometheus with Grafana:</a:t>
            </a:r>
          </a:p>
          <a:p>
            <a:pPr marL="311150" indent="-171450">
              <a:lnSpc>
                <a:spcPct val="150000"/>
              </a:lnSpc>
            </a:pPr>
            <a:r>
              <a:rPr lang="en-US" sz="1100" dirty="0">
                <a:latin typeface="Arial"/>
                <a:cs typeface="Arial"/>
              </a:rPr>
              <a:t>URL: http://prometheus:9090</a:t>
            </a:r>
          </a:p>
          <a:p>
            <a:pPr marL="311150" indent="-171450">
              <a:lnSpc>
                <a:spcPct val="150000"/>
              </a:lnSpc>
            </a:pPr>
            <a:r>
              <a:rPr lang="en-US" sz="1100" dirty="0">
                <a:latin typeface="Arial"/>
                <a:cs typeface="Arial"/>
              </a:rPr>
              <a:t>Access: Server (default)</a:t>
            </a:r>
          </a:p>
          <a:p>
            <a:pPr marL="311150" indent="-171450">
              <a:lnSpc>
                <a:spcPct val="150000"/>
              </a:lnSpc>
            </a:pPr>
            <a:r>
              <a:rPr lang="en-US" sz="1100" dirty="0">
                <a:latin typeface="Arial"/>
                <a:cs typeface="Arial"/>
              </a:rPr>
              <a:t>Scrape interval: 15s</a:t>
            </a:r>
          </a:p>
        </p:txBody>
      </p:sp>
    </p:spTree>
    <p:extLst>
      <p:ext uri="{BB962C8B-B14F-4D97-AF65-F5344CB8AC3E}">
        <p14:creationId xmlns:p14="http://schemas.microsoft.com/office/powerpoint/2010/main" val="31893759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>
          <a:extLst>
            <a:ext uri="{FF2B5EF4-FFF2-40B4-BE49-F238E27FC236}">
              <a16:creationId xmlns:a16="http://schemas.microsoft.com/office/drawing/2014/main" id="{76556EE6-8FB9-BA4F-9036-2F29C8A97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58">
            <a:extLst>
              <a:ext uri="{FF2B5EF4-FFF2-40B4-BE49-F238E27FC236}">
                <a16:creationId xmlns:a16="http://schemas.microsoft.com/office/drawing/2014/main" id="{3986AF9A-5724-F4E2-7ABC-95F7F32715C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28600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Import the Grafana Dashboard</a:t>
            </a:r>
            <a:endParaRPr lang="en-IN" dirty="0"/>
          </a:p>
        </p:txBody>
      </p:sp>
      <p:sp>
        <p:nvSpPr>
          <p:cNvPr id="335" name="Google Shape;335;p58">
            <a:extLst>
              <a:ext uri="{FF2B5EF4-FFF2-40B4-BE49-F238E27FC236}">
                <a16:creationId xmlns:a16="http://schemas.microsoft.com/office/drawing/2014/main" id="{BA1F7AA2-47E7-5B97-30C6-51E3CAAFB40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910418"/>
            <a:ext cx="8293457" cy="377588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>
              <a:buNone/>
            </a:pPr>
            <a:r>
              <a:rPr lang="en-US" sz="1000" dirty="0">
                <a:latin typeface="Arial"/>
                <a:cs typeface="Arial"/>
              </a:rPr>
              <a:t>A lot of dashboards are already pre-existing and shared by the contributors</a:t>
            </a:r>
          </a:p>
          <a:p>
            <a:pPr marL="139700" indent="0">
              <a:buNone/>
            </a:pPr>
            <a:endParaRPr lang="en-US" sz="1000" dirty="0">
              <a:latin typeface="Arial"/>
              <a:cs typeface="Arial"/>
            </a:endParaRPr>
          </a:p>
          <a:p>
            <a:pPr marL="139700" indent="0">
              <a:buNone/>
            </a:pPr>
            <a:r>
              <a:rPr lang="en-US" sz="1000" dirty="0">
                <a:latin typeface="Arial"/>
                <a:cs typeface="Arial"/>
              </a:rPr>
              <a:t>Steps to Import: Search for an available dashboards for the Open Source Grafana version: https://grafana.com/grafana/dashboards</a:t>
            </a:r>
          </a:p>
          <a:p>
            <a:pPr marL="139700" indent="0">
              <a:buNone/>
            </a:pPr>
            <a:endParaRPr lang="en-US" sz="1000" dirty="0">
              <a:latin typeface="Arial"/>
              <a:cs typeface="Arial"/>
            </a:endParaRPr>
          </a:p>
          <a:p>
            <a:pPr marL="139700" indent="0">
              <a:buNone/>
            </a:pPr>
            <a:r>
              <a:rPr lang="en-US" sz="1000" dirty="0">
                <a:latin typeface="Arial"/>
                <a:cs typeface="Arial"/>
              </a:rPr>
              <a:t>Select any dashboard from here.</a:t>
            </a:r>
          </a:p>
          <a:p>
            <a:pPr marL="139700" indent="0">
              <a:buNone/>
            </a:pPr>
            <a:r>
              <a:rPr lang="en-US" sz="1000" dirty="0">
                <a:latin typeface="Arial"/>
                <a:cs typeface="Arial"/>
              </a:rPr>
              <a:t>e.g.: </a:t>
            </a:r>
          </a:p>
          <a:p>
            <a:pPr marL="139700" indent="0">
              <a:buNone/>
            </a:pPr>
            <a:endParaRPr lang="en-US" sz="1000" dirty="0">
              <a:latin typeface="Arial"/>
              <a:cs typeface="Arial"/>
            </a:endParaRPr>
          </a:p>
          <a:p>
            <a:r>
              <a:rPr lang="en-US" sz="1000" dirty="0">
                <a:latin typeface="Arial"/>
                <a:cs typeface="Arial"/>
              </a:rPr>
              <a:t>Add a node exporter dashboard - https://grafana.com/grafana/dashboards/1860-node-exporter-full/</a:t>
            </a:r>
          </a:p>
          <a:p>
            <a:pPr marL="768350" lvl="1" indent="-171450">
              <a:spcBef>
                <a:spcPts val="0"/>
              </a:spcBef>
            </a:pPr>
            <a:r>
              <a:rPr lang="en-US" sz="1000" dirty="0">
                <a:latin typeface="Arial"/>
                <a:cs typeface="Arial"/>
              </a:rPr>
              <a:t>Open &amp; Click on Copy ID to Clipboard</a:t>
            </a:r>
          </a:p>
          <a:p>
            <a:pPr marL="768350" lvl="1" indent="-171450">
              <a:spcBef>
                <a:spcPts val="0"/>
              </a:spcBef>
            </a:pPr>
            <a:r>
              <a:rPr lang="en-US" sz="1000" dirty="0">
                <a:latin typeface="Arial"/>
                <a:cs typeface="Arial"/>
              </a:rPr>
              <a:t>Goto -&gt; Dashboards -&gt; New -&gt; Import</a:t>
            </a:r>
          </a:p>
          <a:p>
            <a:pPr marL="768350" lvl="1" indent="-171450">
              <a:spcBef>
                <a:spcPts val="0"/>
              </a:spcBef>
            </a:pPr>
            <a:r>
              <a:rPr lang="en-US" sz="1000" dirty="0">
                <a:latin typeface="Arial"/>
                <a:cs typeface="Arial"/>
              </a:rPr>
              <a:t>Go to the section where following is mentioned: Find and import dashboards for common applications at grafana.com/dashboards</a:t>
            </a:r>
          </a:p>
          <a:p>
            <a:pPr marL="768350" lvl="1" indent="-171450">
              <a:spcBef>
                <a:spcPts val="0"/>
              </a:spcBef>
            </a:pPr>
            <a:r>
              <a:rPr lang="en-US" sz="1000" dirty="0">
                <a:latin typeface="Arial"/>
                <a:cs typeface="Arial"/>
              </a:rPr>
              <a:t>Add the Dashboard ID in it &amp; Click on Load</a:t>
            </a:r>
          </a:p>
          <a:p>
            <a:pPr marL="768350" lvl="1" indent="-171450">
              <a:spcBef>
                <a:spcPts val="0"/>
              </a:spcBef>
            </a:pPr>
            <a:r>
              <a:rPr lang="en-US" sz="1000" dirty="0">
                <a:latin typeface="Arial"/>
                <a:cs typeface="Arial"/>
              </a:rPr>
              <a:t>Select the Prometheus Data Source and provide a name</a:t>
            </a:r>
          </a:p>
          <a:p>
            <a:pPr marL="768350" lvl="1" indent="-171450">
              <a:spcBef>
                <a:spcPts val="0"/>
              </a:spcBef>
            </a:pPr>
            <a:r>
              <a:rPr lang="en-US" sz="1000" dirty="0">
                <a:latin typeface="Arial"/>
                <a:cs typeface="Arial"/>
              </a:rPr>
              <a:t>Click on Import</a:t>
            </a:r>
          </a:p>
          <a:p>
            <a:pPr marL="139700" indent="0">
              <a:buNone/>
            </a:pPr>
            <a:endParaRPr lang="en-US" sz="1000" dirty="0">
              <a:latin typeface="Arial"/>
              <a:cs typeface="Arial"/>
            </a:endParaRPr>
          </a:p>
          <a:p>
            <a:r>
              <a:rPr lang="en-US" sz="1000" dirty="0">
                <a:latin typeface="Arial"/>
                <a:cs typeface="Arial"/>
              </a:rPr>
              <a:t>Add a Kubernetes Dashboard - https://grafana.com/grafana/dashboards/8588-1-kubernetes-deployment-statefulset-daemonset-metrics/</a:t>
            </a:r>
          </a:p>
          <a:p>
            <a:pPr marL="768350" lvl="1" indent="-171450">
              <a:spcBef>
                <a:spcPts val="0"/>
              </a:spcBef>
            </a:pPr>
            <a:r>
              <a:rPr lang="en-US" sz="1000" dirty="0">
                <a:latin typeface="Arial"/>
                <a:cs typeface="Arial"/>
              </a:rPr>
              <a:t>Open it</a:t>
            </a:r>
          </a:p>
          <a:p>
            <a:pPr marL="768350" lvl="1" indent="-171450">
              <a:spcBef>
                <a:spcPts val="0"/>
              </a:spcBef>
            </a:pPr>
            <a:r>
              <a:rPr lang="en-US" sz="1000" dirty="0">
                <a:latin typeface="Arial"/>
                <a:cs typeface="Arial"/>
              </a:rPr>
              <a:t>Click on Copy ID to Clipboard</a:t>
            </a:r>
          </a:p>
          <a:p>
            <a:pPr marL="768350" lvl="1" indent="-171450">
              <a:spcBef>
                <a:spcPts val="0"/>
              </a:spcBef>
            </a:pPr>
            <a:r>
              <a:rPr lang="en-US" sz="1000" dirty="0">
                <a:latin typeface="Arial"/>
                <a:cs typeface="Arial"/>
              </a:rPr>
              <a:t>and then perform the same steps as mentioned above</a:t>
            </a:r>
          </a:p>
        </p:txBody>
      </p:sp>
    </p:spTree>
    <p:extLst>
      <p:ext uri="{BB962C8B-B14F-4D97-AF65-F5344CB8AC3E}">
        <p14:creationId xmlns:p14="http://schemas.microsoft.com/office/powerpoint/2010/main" val="29665671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>
          <a:extLst>
            <a:ext uri="{FF2B5EF4-FFF2-40B4-BE49-F238E27FC236}">
              <a16:creationId xmlns:a16="http://schemas.microsoft.com/office/drawing/2014/main" id="{5649F63B-4D00-96E1-FE69-C25726999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58">
            <a:extLst>
              <a:ext uri="{FF2B5EF4-FFF2-40B4-BE49-F238E27FC236}">
                <a16:creationId xmlns:a16="http://schemas.microsoft.com/office/drawing/2014/main" id="{00F9FC41-7CDA-A35C-895D-22CFC41FD81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28600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Create New Dashboards from scratch</a:t>
            </a:r>
            <a:endParaRPr lang="en-IN" dirty="0"/>
          </a:p>
        </p:txBody>
      </p:sp>
      <p:sp>
        <p:nvSpPr>
          <p:cNvPr id="335" name="Google Shape;335;p58">
            <a:extLst>
              <a:ext uri="{FF2B5EF4-FFF2-40B4-BE49-F238E27FC236}">
                <a16:creationId xmlns:a16="http://schemas.microsoft.com/office/drawing/2014/main" id="{CBB77AEB-2CA5-88C1-D431-DE8CC80E00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841800"/>
            <a:ext cx="8293457" cy="430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>
              <a:buNone/>
            </a:pPr>
            <a:r>
              <a:rPr lang="en-US" sz="900" dirty="0">
                <a:latin typeface="Arial"/>
                <a:cs typeface="Arial"/>
              </a:rPr>
              <a:t>Steps to create a dashboard in Grafana:</a:t>
            </a:r>
          </a:p>
          <a:p>
            <a:pPr marL="139700" indent="0">
              <a:buNone/>
            </a:pPr>
            <a:r>
              <a:rPr lang="en-US" sz="900" dirty="0">
                <a:latin typeface="Arial"/>
                <a:cs typeface="Arial"/>
              </a:rPr>
              <a:t>- Go to Dashboards -&gt; New dashboard &amp; Save it by giving a name</a:t>
            </a:r>
          </a:p>
          <a:p>
            <a:pPr marL="139700" indent="0">
              <a:buNone/>
            </a:pPr>
            <a:r>
              <a:rPr lang="en-US" sz="900" dirty="0">
                <a:latin typeface="Arial"/>
                <a:cs typeface="Arial"/>
              </a:rPr>
              <a:t>- Add visualization &amp; Select Prometheus Data Source</a:t>
            </a:r>
          </a:p>
          <a:p>
            <a:pPr marL="139700" indent="0">
              <a:buNone/>
            </a:pPr>
            <a:r>
              <a:rPr lang="en-US" sz="900" dirty="0">
                <a:latin typeface="Arial"/>
                <a:cs typeface="Arial"/>
              </a:rPr>
              <a:t>- Enter </a:t>
            </a:r>
            <a:r>
              <a:rPr lang="en-US" sz="900" dirty="0" err="1">
                <a:latin typeface="Arial"/>
                <a:cs typeface="Arial"/>
              </a:rPr>
              <a:t>Promql</a:t>
            </a:r>
            <a:r>
              <a:rPr lang="en-US" sz="900" dirty="0">
                <a:latin typeface="Arial"/>
                <a:cs typeface="Arial"/>
              </a:rPr>
              <a:t> queries w.r.t your requirement</a:t>
            </a:r>
          </a:p>
          <a:p>
            <a:pPr marL="139700" indent="0">
              <a:buNone/>
            </a:pPr>
            <a:r>
              <a:rPr lang="en-US" sz="900" dirty="0">
                <a:latin typeface="Arial"/>
                <a:cs typeface="Arial"/>
              </a:rPr>
              <a:t>like: </a:t>
            </a:r>
          </a:p>
          <a:p>
            <a:pPr marL="139700" indent="0">
              <a:buNone/>
            </a:pPr>
            <a:r>
              <a:rPr lang="en-US" sz="900" dirty="0">
                <a:latin typeface="Arial"/>
                <a:cs typeface="Arial"/>
              </a:rPr>
              <a:t>Node CPU Usage:</a:t>
            </a:r>
          </a:p>
          <a:p>
            <a:pPr marL="139700" indent="0">
              <a:buNone/>
            </a:pPr>
            <a:r>
              <a:rPr lang="en-US" sz="900" dirty="0">
                <a:latin typeface="Arial"/>
                <a:cs typeface="Arial"/>
              </a:rPr>
              <a:t>sum(rate(</a:t>
            </a:r>
            <a:r>
              <a:rPr lang="en-US" sz="900" dirty="0" err="1">
                <a:latin typeface="Arial"/>
                <a:cs typeface="Arial"/>
              </a:rPr>
              <a:t>node_cpu_seconds_total</a:t>
            </a:r>
            <a:r>
              <a:rPr lang="en-US" sz="900" dirty="0">
                <a:latin typeface="Arial"/>
                <a:cs typeface="Arial"/>
              </a:rPr>
              <a:t>{mode!="idle"}[5m])) by (instance) * 100</a:t>
            </a:r>
          </a:p>
          <a:p>
            <a:pPr marL="139700" indent="0">
              <a:buNone/>
            </a:pPr>
            <a:endParaRPr lang="en-US" sz="900" dirty="0">
              <a:latin typeface="Arial"/>
              <a:cs typeface="Arial"/>
            </a:endParaRPr>
          </a:p>
          <a:p>
            <a:pPr marL="139700" indent="0">
              <a:buNone/>
            </a:pPr>
            <a:r>
              <a:rPr lang="en-US" sz="900" dirty="0">
                <a:latin typeface="Arial"/>
                <a:cs typeface="Arial"/>
              </a:rPr>
              <a:t>Node Memory Usage:</a:t>
            </a:r>
          </a:p>
          <a:p>
            <a:pPr marL="139700" indent="0">
              <a:buNone/>
            </a:pPr>
            <a:r>
              <a:rPr lang="en-US" sz="900" dirty="0">
                <a:latin typeface="Arial"/>
                <a:cs typeface="Arial"/>
              </a:rPr>
              <a:t>(</a:t>
            </a:r>
            <a:r>
              <a:rPr lang="en-US" sz="900" dirty="0" err="1">
                <a:latin typeface="Arial"/>
                <a:cs typeface="Arial"/>
              </a:rPr>
              <a:t>node_memory_MemTotal_bytes</a:t>
            </a:r>
            <a:r>
              <a:rPr lang="en-US" sz="900" dirty="0">
                <a:latin typeface="Arial"/>
                <a:cs typeface="Arial"/>
              </a:rPr>
              <a:t> - </a:t>
            </a:r>
            <a:r>
              <a:rPr lang="en-US" sz="900" dirty="0" err="1">
                <a:latin typeface="Arial"/>
                <a:cs typeface="Arial"/>
              </a:rPr>
              <a:t>node_memory_MemAvailable_bytes</a:t>
            </a:r>
            <a:r>
              <a:rPr lang="en-US" sz="900" dirty="0">
                <a:latin typeface="Arial"/>
                <a:cs typeface="Arial"/>
              </a:rPr>
              <a:t>) / </a:t>
            </a:r>
            <a:r>
              <a:rPr lang="en-US" sz="900" dirty="0" err="1">
                <a:latin typeface="Arial"/>
                <a:cs typeface="Arial"/>
              </a:rPr>
              <a:t>node_memory_MemTotal_bytes</a:t>
            </a:r>
            <a:r>
              <a:rPr lang="en-US" sz="900" dirty="0">
                <a:latin typeface="Arial"/>
                <a:cs typeface="Arial"/>
              </a:rPr>
              <a:t> * 100</a:t>
            </a:r>
          </a:p>
          <a:p>
            <a:pPr marL="139700" indent="0">
              <a:buNone/>
            </a:pPr>
            <a:endParaRPr lang="en-US" sz="900" dirty="0">
              <a:latin typeface="Arial"/>
              <a:cs typeface="Arial"/>
            </a:endParaRPr>
          </a:p>
          <a:p>
            <a:pPr marL="139700" indent="0">
              <a:buNone/>
            </a:pPr>
            <a:r>
              <a:rPr lang="en-US" sz="900" dirty="0">
                <a:latin typeface="Arial"/>
                <a:cs typeface="Arial"/>
              </a:rPr>
              <a:t>Pod CPU Usage:</a:t>
            </a:r>
          </a:p>
          <a:p>
            <a:pPr marL="139700" indent="0">
              <a:buNone/>
            </a:pPr>
            <a:r>
              <a:rPr lang="en-US" sz="900" dirty="0">
                <a:latin typeface="Arial"/>
                <a:cs typeface="Arial"/>
              </a:rPr>
              <a:t>sum(rate(</a:t>
            </a:r>
            <a:r>
              <a:rPr lang="en-US" sz="900" dirty="0" err="1">
                <a:latin typeface="Arial"/>
                <a:cs typeface="Arial"/>
              </a:rPr>
              <a:t>container_cpu_usage_seconds_total</a:t>
            </a:r>
            <a:r>
              <a:rPr lang="en-US" sz="900" dirty="0">
                <a:latin typeface="Arial"/>
                <a:cs typeface="Arial"/>
              </a:rPr>
              <a:t>{container!=""}[5m])) by (pod)</a:t>
            </a:r>
          </a:p>
          <a:p>
            <a:pPr marL="139700" indent="0">
              <a:buNone/>
            </a:pPr>
            <a:endParaRPr lang="en-US" sz="900" dirty="0">
              <a:latin typeface="Arial"/>
              <a:cs typeface="Arial"/>
            </a:endParaRPr>
          </a:p>
          <a:p>
            <a:pPr marL="139700" indent="0">
              <a:buNone/>
            </a:pPr>
            <a:r>
              <a:rPr lang="en-US" sz="900" dirty="0">
                <a:latin typeface="Arial"/>
                <a:cs typeface="Arial"/>
              </a:rPr>
              <a:t>Pod Memory Usage:</a:t>
            </a:r>
          </a:p>
          <a:p>
            <a:pPr marL="139700" indent="0">
              <a:buNone/>
            </a:pPr>
            <a:r>
              <a:rPr lang="en-US" sz="900" dirty="0">
                <a:latin typeface="Arial"/>
                <a:cs typeface="Arial"/>
              </a:rPr>
              <a:t>sum(</a:t>
            </a:r>
            <a:r>
              <a:rPr lang="en-US" sz="900" dirty="0" err="1">
                <a:latin typeface="Arial"/>
                <a:cs typeface="Arial"/>
              </a:rPr>
              <a:t>container_memory_working_set_bytes</a:t>
            </a:r>
            <a:r>
              <a:rPr lang="en-US" sz="900" dirty="0">
                <a:latin typeface="Arial"/>
                <a:cs typeface="Arial"/>
              </a:rPr>
              <a:t>{container!=""}) by (pod)</a:t>
            </a:r>
          </a:p>
          <a:p>
            <a:pPr marL="139700" indent="0">
              <a:buNone/>
            </a:pPr>
            <a:endParaRPr lang="en-US" sz="900" dirty="0">
              <a:latin typeface="Arial"/>
              <a:cs typeface="Arial"/>
            </a:endParaRPr>
          </a:p>
          <a:p>
            <a:pPr marL="139700" indent="0">
              <a:buNone/>
            </a:pPr>
            <a:r>
              <a:rPr lang="en-US" sz="900" dirty="0">
                <a:latin typeface="Arial"/>
                <a:cs typeface="Arial"/>
              </a:rPr>
              <a:t>When creating panels in Grafana:</a:t>
            </a:r>
          </a:p>
          <a:p>
            <a:pPr marL="139700" indent="0">
              <a:buNone/>
            </a:pPr>
            <a:r>
              <a:rPr lang="en-US" sz="900" dirty="0">
                <a:latin typeface="Arial"/>
                <a:cs typeface="Arial"/>
              </a:rPr>
              <a:t>Click "Add panel"</a:t>
            </a:r>
          </a:p>
          <a:p>
            <a:pPr marL="139700" indent="0">
              <a:buNone/>
            </a:pPr>
            <a:r>
              <a:rPr lang="en-US" sz="900" dirty="0">
                <a:latin typeface="Arial"/>
                <a:cs typeface="Arial"/>
              </a:rPr>
              <a:t>Select "Add a new panel"</a:t>
            </a:r>
          </a:p>
          <a:p>
            <a:pPr marL="139700" indent="0">
              <a:buNone/>
            </a:pPr>
            <a:r>
              <a:rPr lang="en-US" sz="900" dirty="0">
                <a:latin typeface="Arial"/>
                <a:cs typeface="Arial"/>
              </a:rPr>
              <a:t>Choose Prometheus as the data source</a:t>
            </a:r>
          </a:p>
          <a:p>
            <a:pPr marL="139700" indent="0">
              <a:buNone/>
            </a:pPr>
            <a:r>
              <a:rPr lang="en-US" sz="900" dirty="0">
                <a:latin typeface="Arial"/>
                <a:cs typeface="Arial"/>
              </a:rPr>
              <a:t>Copy-paste the relevant </a:t>
            </a:r>
            <a:r>
              <a:rPr lang="en-US" sz="900" dirty="0" err="1">
                <a:latin typeface="Arial"/>
                <a:cs typeface="Arial"/>
              </a:rPr>
              <a:t>PromQL</a:t>
            </a:r>
            <a:r>
              <a:rPr lang="en-US" sz="900" dirty="0">
                <a:latin typeface="Arial"/>
                <a:cs typeface="Arial"/>
              </a:rPr>
              <a:t> query</a:t>
            </a:r>
          </a:p>
          <a:p>
            <a:pPr marL="139700" indent="0">
              <a:buNone/>
            </a:pPr>
            <a:r>
              <a:rPr lang="en-US" sz="900" dirty="0">
                <a:latin typeface="Arial"/>
                <a:cs typeface="Arial"/>
              </a:rPr>
              <a:t>Adjust visualization settings as needed</a:t>
            </a:r>
          </a:p>
          <a:p>
            <a:pPr marL="139700" indent="0">
              <a:buNone/>
            </a:pPr>
            <a:r>
              <a:rPr lang="en-US" sz="900" dirty="0">
                <a:latin typeface="Arial"/>
                <a:cs typeface="Arial"/>
              </a:rPr>
              <a:t>Save the panel</a:t>
            </a:r>
          </a:p>
        </p:txBody>
      </p:sp>
    </p:spTree>
    <p:extLst>
      <p:ext uri="{BB962C8B-B14F-4D97-AF65-F5344CB8AC3E}">
        <p14:creationId xmlns:p14="http://schemas.microsoft.com/office/powerpoint/2010/main" val="3379866490"/>
      </p:ext>
    </p:extLst>
  </p:cSld>
  <p:clrMapOvr>
    <a:masterClrMapping/>
  </p:clrMapOvr>
</p:sld>
</file>

<file path=ppt/theme/theme1.xml><?xml version="1.0" encoding="utf-8"?>
<a:theme xmlns:a="http://schemas.openxmlformats.org/drawingml/2006/main" name="Paperback">
  <a:themeElements>
    <a:clrScheme name="Paperback">
      <a:dk1>
        <a:srgbClr val="000000"/>
      </a:dk1>
      <a:lt1>
        <a:srgbClr val="FFFFFF"/>
      </a:lt1>
      <a:dk2>
        <a:srgbClr val="00695C"/>
      </a:dk2>
      <a:lt2>
        <a:srgbClr val="26A69A"/>
      </a:lt2>
      <a:accent1>
        <a:srgbClr val="FFFBF0"/>
      </a:accent1>
      <a:accent2>
        <a:srgbClr val="B7B7B7"/>
      </a:accent2>
      <a:accent3>
        <a:srgbClr val="FB8C00"/>
      </a:accent3>
      <a:accent4>
        <a:srgbClr val="80CBC4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1637</TotalTime>
  <Words>1220</Words>
  <Application>Microsoft Office PowerPoint</Application>
  <PresentationFormat>On-screen Show (16:9)</PresentationFormat>
  <Paragraphs>141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Old Standard TT</vt:lpstr>
      <vt:lpstr>Arial</vt:lpstr>
      <vt:lpstr>Paperback</vt:lpstr>
      <vt:lpstr>Prometheus and Grafana</vt:lpstr>
      <vt:lpstr>Agenda</vt:lpstr>
      <vt:lpstr>Prometheus - Open-Source Monitoring for Cloud Native Environments</vt:lpstr>
      <vt:lpstr>High Level Workflow in Prometheus</vt:lpstr>
      <vt:lpstr>Installation Steps</vt:lpstr>
      <vt:lpstr>Kubernetes Monitoring with Prometheus</vt:lpstr>
      <vt:lpstr>Sample PromQL Queries for Kubernetes</vt:lpstr>
      <vt:lpstr>Grafana</vt:lpstr>
      <vt:lpstr>Integrate Grafana with Prometheus</vt:lpstr>
      <vt:lpstr>Import the Grafana Dashboard</vt:lpstr>
      <vt:lpstr>Create New Dashboards from scratch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KubeCraft Technologies</cp:lastModifiedBy>
  <cp:revision>75</cp:revision>
  <dcterms:modified xsi:type="dcterms:W3CDTF">2025-11-22T04:23:48Z</dcterms:modified>
</cp:coreProperties>
</file>